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81" r:id="rId5"/>
    <p:sldId id="282" r:id="rId6"/>
    <p:sldId id="260" r:id="rId7"/>
    <p:sldId id="277" r:id="rId8"/>
    <p:sldId id="283" r:id="rId9"/>
    <p:sldId id="275" r:id="rId10"/>
    <p:sldId id="284" r:id="rId11"/>
    <p:sldId id="276" r:id="rId12"/>
    <p:sldId id="285" r:id="rId13"/>
    <p:sldId id="286" r:id="rId14"/>
    <p:sldId id="261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262" r:id="rId29"/>
    <p:sldId id="27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A92AF-FCB9-4564-B835-AFCA773051C4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BCE2B-F52B-44AF-B62E-7E63237960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9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7F89-F3FE-20CB-4921-E967C537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D971C-2164-C4C6-462F-2B29F03E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C0DE0-95DF-BC0F-9640-61548CEC6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D706E-6777-8D5A-BC3E-5281B6563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57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8B1E-41B4-116D-4B43-80DBCC42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BBC3A-C0C5-45ED-B0C2-550D65BDA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DE8B9-F366-4EBA-568E-4908C9E48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DC2E7-2C08-BB78-60D9-BD7AEBCDC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88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E7D6-FE44-55C2-1786-8E3B9432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31244-DB1F-7FE6-6206-FAAA1C3C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606C3-E256-0061-76C1-FE7B9B3E5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9CCDF-3712-3631-D749-7B1B6F319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89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F7B77-589E-98B3-3FD2-208C9BA5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587C2-7727-CC48-1DC9-AB468A8D3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B7652-016A-EA66-775A-6B8071CD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E826A-F08A-4C23-E136-80B4C88AE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27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5775-483E-3627-CE09-B0F477EA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81F6F-81C8-31C5-3784-ABD1D68FD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54739-DB4A-8F51-2C2F-D80358D3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CD68-2681-DBDE-A0D0-54992AE41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60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5A1A-D791-645D-11B6-DD187927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92AC8-089A-D294-003D-60C4933C8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B1597-48E6-E198-9276-6FE9E2E5F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317F6-1C37-01C3-177C-5DC9E996D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27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4391-358A-3DDC-C0E7-9811BDFA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241C0-FD01-C8AA-96CE-64BCD0F41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103CB-83E7-6DFC-6D41-E41F4D41B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DDDB7-6891-0D7F-F04E-4FBE1BCAC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54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F0ED-AF96-0C8D-8E47-1DC0734B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D4637-0EA5-53E1-305A-C33D33D76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CF5F7-B2C3-B9FC-377D-A59510ECB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6747-B402-A3D5-FE9D-8A5355E21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23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5B39-1171-DC04-9FD3-09F75B94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680E1-EA95-052B-986D-8E4711413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2A1B7-157B-65EB-980C-931FEC878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29599-44D9-4611-C905-8DD0D8C29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94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00E4-DBB0-0D64-3ED3-ED260288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22DD9-18E3-2014-9437-5E5510A73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0ACE0-A968-AD83-909A-AC68F8321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C9446-4709-00EA-B555-14345AE37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03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57B0-0FBA-CAE5-0EFE-26ABE466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2A260-24E0-3001-FDB3-4F01A26B2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9038C-5A78-81C3-1179-D1A589AE2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4CF19-C782-FADB-2C32-F97D12E80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047A-44FA-1A92-A0F6-1A11A64F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1A8B8-C4D3-98D5-CCFA-0CF9B5756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2F2F3-3946-2034-9819-BAAF02D56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24C9B-D586-341C-F704-93A2B5B1F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8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630A-8980-7866-A352-B02030AA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C1F48-3B61-1972-6554-1C18BE639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090F6-6DCB-82F8-A3A1-6092D5711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FCD01-70F9-5549-7C52-7C620F749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17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8F9C-EE60-E21B-BA38-9F580997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1647C-5D9E-AA66-E351-78588B4B2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28F00-0658-6C31-6E85-118068A4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468E7-E0E4-1EEF-F043-19B4025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59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EA61-2827-9452-CD07-2A032BFC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579F8-9B78-32A3-0415-72A436009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AAF7E-7713-551B-B4D8-030B5BCEB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AA700-7058-5258-12EA-052B85313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64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8AA8-E919-F3F2-260F-CCC8098B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C2B7B-68A9-B37E-6823-8F0AF21E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204F2-FD92-1C4F-5931-CD78EB95F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50947-B656-9898-50CA-4B960ED9E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48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330C-9EBF-F926-BAC9-70485D52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9E1FC-101D-F723-FDFC-6402F1413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E8A60-C5DC-E14A-7C4A-CB03A715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6BD33-EE05-4864-CCE5-6EE6A1BB9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24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2FDB-C7A5-AE37-B2FA-AAD5D272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A940B-E2DE-3965-80D6-A299853F0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84083-76EB-BF22-D052-BBFADE006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ECA8B-8B27-9338-2D0C-270E713A5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646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5AE1-0F58-FBEC-8322-59C41A56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E5259-288A-62C3-9226-B5E31D82C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82ECD-2884-718E-DD4D-B66AA5607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84EFD-0CDD-9B05-62D3-33A602FA2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05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B7C3-73D6-6E81-7F66-A4FE21CB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81C77-0AE0-3537-344D-DEFABBB28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81D6A-4BFD-7CAB-CA4F-835F683EA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DE373-493C-3334-DD0A-CA524A3ED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78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18D5-E78C-4A69-8D31-3987D0FB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C13EA-F990-FED9-D799-A786CE1F4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24680-04D3-DF47-4F82-10ACD2370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747F2-7AA2-20B8-F05D-FE73402B7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96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1B7E-7463-3EC5-F884-8431CC7E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D0169-F4BD-3C6F-57C7-A022696EE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B7039-0BF2-6518-BABC-25179F33E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403F2-A0D1-3078-491B-51F02165B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996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BC9D2-FB21-7260-D205-E6D7E6275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C643D1-1E98-9A7F-AEC1-9A5682234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775CE-3A9F-C698-136B-058F8E98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62124-2F6F-3CB9-784F-6633FED0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AB4A7-C057-9385-1DD1-E7D7A950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19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287F3-773F-33B3-A8D3-9FE312D3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1EFF3-A805-980F-804F-65071CAF1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3D0CE-34CA-B122-8791-BD7EDF23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E1330-AC0D-B3E5-83B2-5C53AB8C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55C3B7-A5E7-E7A3-2C5E-7F457695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57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B9834-4BAD-0E83-5317-43B93BE5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0A7AF1-BBC7-D45F-CE7A-E6E779FA1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0718B1-2D2E-91D8-8303-EB35925B9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36CA8-E606-AECE-3EAC-F6B0A8FA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DD4A8-60FF-A196-EC6D-9FB61C23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25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57DA1-9A03-FF1B-398A-94607F6D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B662E6-EA8C-D044-5D21-61D354E70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F306E7-1055-21BF-A4D3-63A909CF9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C76A8-20B8-5E6F-2289-95A6681F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418AF8-25BA-6E16-6C69-AAFBB64D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D7CEAD-646E-F9AA-7BD5-37175A4A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4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37CCA-F594-1878-33D9-0C8ED184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300081-BEB8-729E-4964-C9E8B591C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5BF51E-12E7-807B-A503-5C9B13587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863B43-38EE-851F-BB77-181E77EBF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DFD1B2-5C4C-8FDE-B937-4913181B4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A113AC-8BB6-9EC7-B789-433E0DEF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5F1BF6-2C76-2D16-79F7-5D9D06798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A4AB44-C543-05C9-B57D-FC0AD579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48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EBEC0-C8C4-58F2-30EB-7FFC80FAD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71740F-3C0F-5CFB-3F2C-9398AFDD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37E537-2678-53EA-DCCE-8D700537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7D3B4E-ADF2-FB95-7C9B-7D231E9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42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28A348-68A1-6B94-429C-30076B649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A9DE0E-4190-BB9C-3382-D354AAE7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9CAFC-AF77-C640-94A5-313AF78B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3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E1474-5DAB-E502-FDA5-6A2243897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F30731-9F52-906C-2F5D-1F552A97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6DA07F-1FC8-337C-A5AC-0EB259D72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ACF052-D993-027E-70EF-6F69DBC4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87CBA4-CEF1-4BF0-0B7D-EADAD7FD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40B06C-0A5C-3CC4-5A51-F3666443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72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977C-3B96-DB44-9FF8-07FECE59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6514D0-755F-2BFA-AC6A-444EC4930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C86947-7DE3-3825-D775-AEA00FF2D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0D37C0-70D5-0FDE-7FED-926B22E54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82A5DF-18A5-131C-99B1-13CF06D7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65555F-9EA4-2A3C-614E-6DA68F48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7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15946-6535-222F-6F81-41CDC003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5907FB-4E9E-A1C0-9F56-B18F85C86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CDD8D-76AD-1361-DBE3-E9384A8A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AB32C1-5775-F572-58A6-8487414B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42AB2-E264-7E29-4629-31E944C8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087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E39250-B39E-1805-FB10-4FACC0AA8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E63923-FEAB-82EE-D580-8DFA19E40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3EB72-E536-18C9-B9EF-CD9ADC5E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B8B4-2198-6436-F453-88B345E3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58AE9-5696-5B2B-5BBF-3C04C583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740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64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0CAE56-4B83-B8B2-D9F8-49AA48A8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9BDE65-8FBA-F373-8932-A2896EE6C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5F7F1-0A28-4571-C871-ACB73DA53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4361-A98B-4C5F-BE78-EF8DD1D481EF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2BC6C8-272B-BF4A-7325-262EAC9AB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683080-D6BF-E083-ECE9-14A5563C1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3AAF0-9689-423C-B9B5-AAFCEFEB2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000251"/>
            <a:ext cx="10668000" cy="889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事务型数据库和分析型数据库的对比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762000" y="3968751"/>
            <a:ext cx="806451" cy="152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565651"/>
            <a:ext cx="106680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zh-CN" altLang="en-US" sz="1867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量潮科技 张果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99" y="3074737"/>
            <a:ext cx="4972051" cy="1778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OLTP vs OLAP </a:t>
            </a: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核心概念对比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19949" y="3403600"/>
            <a:ext cx="4972051" cy="381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9999"/>
              </a:lnSpc>
            </a:pPr>
            <a:r>
              <a:rPr lang="en-US" sz="29999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99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200" dirty="0">
                <a:solidFill>
                  <a:srgbClr val="262626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OLTP </a:t>
            </a:r>
            <a:r>
              <a:rPr lang="zh-CN" altLang="en-US" sz="32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7917" y="1928318"/>
            <a:ext cx="9927231" cy="4362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OLTP</a:t>
            </a:r>
            <a:r>
              <a:rPr lang="zh-CN" alt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（在线事务处理）是一种面向事务的高并发数据库处理方式，通常由事务型数据库实现。它主要用于处理需要高频次、短周期数据操作的企业业务场景，例如银行的存取款、电商订单处理、航空机票预订等。</a:t>
            </a:r>
            <a:endParaRPr lang="en-US" altLang="zh-CN" sz="2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OLTP </a:t>
            </a:r>
            <a:r>
              <a:rPr lang="zh-CN" altLang="en-US" sz="20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系统强调的是数据的实时性和事务的完整性，确保每一个事务都能够准确、快速地完成。例如，当用户在电商平台下单购买商品时，</a:t>
            </a:r>
            <a:r>
              <a:rPr lang="en-US" altLang="zh-CN" sz="20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OLTP </a:t>
            </a:r>
            <a:r>
              <a:rPr lang="zh-CN" altLang="en-US" sz="20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系统需要实时更新库存、记录订单信息、处理支付流程等一系列操作，并且要保证这些操作要么全部成功，要么全部失败，以维护数据的一致性和完整性。</a:t>
            </a:r>
            <a:endParaRPr lang="en-US" altLang="zh-CN" sz="2000" dirty="0">
              <a:solidFill>
                <a:srgbClr val="26262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D638-599B-9B88-03F9-D9657E96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29DF565-F98F-865C-9817-4B81D189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310FB0D-31E0-19E1-2145-8C494F70B969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200" dirty="0">
                <a:solidFill>
                  <a:srgbClr val="262626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OLTP </a:t>
            </a:r>
            <a:r>
              <a:rPr lang="zh-CN" altLang="en-US" sz="3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endParaRPr 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0A92BC1-F8EC-D9FB-540A-1EA060AE7E7F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BAB7320-F658-A4D3-5A78-2C1BA07F18E7}"/>
              </a:ext>
            </a:extLst>
          </p:cNvPr>
          <p:cNvSpPr/>
          <p:nvPr/>
        </p:nvSpPr>
        <p:spPr>
          <a:xfrm>
            <a:off x="1660166" y="2217844"/>
            <a:ext cx="8907900" cy="3269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实时性要求高。（分分钟到账）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数据量不是很大，生产库上的数据量一般不会太大，而且会及时做出相应的数据处理与转移。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对确定性的数据进行存取。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高并发，并且满足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原则。（两人同时操作一张银行卡账户、大型的购物网站秒杀活动）</a:t>
            </a:r>
          </a:p>
        </p:txBody>
      </p:sp>
    </p:spTree>
    <p:extLst>
      <p:ext uri="{BB962C8B-B14F-4D97-AF65-F5344CB8AC3E}">
        <p14:creationId xmlns:p14="http://schemas.microsoft.com/office/powerpoint/2010/main" val="403698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2BB7-E089-5F4B-E1BA-0914DFB3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62F04C8-88F8-927E-7375-F3363EF8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BCA7FFB-17A3-B609-10E9-BB5BC78216FD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200" dirty="0">
                <a:solidFill>
                  <a:srgbClr val="262626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sz="3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E656909-31C6-3950-9611-B5EC3D6FFBDA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004F501-E996-495A-DA51-1E18150363D9}"/>
              </a:ext>
            </a:extLst>
          </p:cNvPr>
          <p:cNvSpPr/>
          <p:nvPr/>
        </p:nvSpPr>
        <p:spPr>
          <a:xfrm>
            <a:off x="550893" y="2957710"/>
            <a:ext cx="11343802" cy="3269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原则是数据库管理系统中事务处理的核心原则，包含以下四个特性：</a:t>
            </a:r>
          </a:p>
          <a:p>
            <a:pPr indent="-4572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原子性（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Atomicity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）：事务中的所有操作要么全部成功，要么全部不执行，确保事务的完整性。</a:t>
            </a:r>
          </a:p>
          <a:p>
            <a:pPr indent="-4572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Consistency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）：事务执行前后，数据库的状态保持一致，确保数据的完整性。</a:t>
            </a:r>
          </a:p>
          <a:p>
            <a:pPr indent="-4572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隔离性（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Isolation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）：并发事务之间相互独立，确保一个事务的执行不受其他事务的影响。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4572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持久性（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Durability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）：一旦事务提交，其结果是永久性的，即使系统崩溃也不会丢失数据。</a:t>
            </a:r>
          </a:p>
          <a:p>
            <a:pPr indent="-4572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endParaRPr lang="zh-CN" altLang="en-US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endParaRPr lang="zh-CN" altLang="en-US" sz="2000" b="0" i="0" dirty="0">
              <a:solidFill>
                <a:srgbClr val="4D4D4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0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57810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​​电商交易系统：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OLTP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867" dirty="0"/>
          </a:p>
        </p:txBody>
      </p:sp>
      <p:sp>
        <p:nvSpPr>
          <p:cNvPr id="7" name="Text 4"/>
          <p:cNvSpPr/>
          <p:nvPr/>
        </p:nvSpPr>
        <p:spPr>
          <a:xfrm>
            <a:off x="762000" y="1539622"/>
            <a:ext cx="2697677" cy="285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核心事务流程</a:t>
            </a:r>
            <a:r>
              <a:rPr lang="zh-CN" altLang="en-US" sz="2133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​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901158" y="2071698"/>
            <a:ext cx="9776085" cy="30294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 fontAlgn="base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1.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订单创建与库存扣减​​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）原子性操作​​：同时完成订单记录插入和库存数量更新，避免超卖风险。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）高并发支撑​​：支持每秒数千次短事务（如“双十一”峰值订单处理）。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实时状态更新​​</a:t>
            </a:r>
          </a:p>
          <a:p>
            <a:pPr lvl="1" algn="l" fontAlgn="base">
              <a:spcBef>
                <a:spcPts val="3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）用户支付后，通过主键快速更新订单状态（如“待支付”→“已支付”）。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l" fontAlgn="base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E92782E-A574-D8D0-CE23-7C4C6ADAEAF6}"/>
              </a:ext>
            </a:extLst>
          </p:cNvPr>
          <p:cNvSpPr/>
          <p:nvPr/>
        </p:nvSpPr>
        <p:spPr>
          <a:xfrm>
            <a:off x="1313388" y="5525169"/>
            <a:ext cx="9776085" cy="848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fontAlgn="base">
              <a:lnSpc>
                <a:spcPct val="150000"/>
              </a:lnSpc>
              <a:spcAft>
                <a:spcPts val="300"/>
              </a:spcAft>
              <a:buNone/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小事务高频写入​​，单事务仅操作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行数据（如插入订单、更新库存），毫秒级响应。</a:t>
            </a:r>
          </a:p>
          <a:p>
            <a:pPr lvl="1" algn="l" fontAlgn="base">
              <a:spcBef>
                <a:spcPts val="300"/>
              </a:spcBef>
              <a:spcAft>
                <a:spcPts val="1200"/>
              </a:spcAft>
            </a:pP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514433D-4E27-DBDC-EA99-88354F3B6076}"/>
              </a:ext>
            </a:extLst>
          </p:cNvPr>
          <p:cNvSpPr/>
          <p:nvPr/>
        </p:nvSpPr>
        <p:spPr>
          <a:xfrm>
            <a:off x="762000" y="4958227"/>
            <a:ext cx="2697677" cy="285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数据特点</a:t>
            </a:r>
            <a:r>
              <a:rPr lang="zh-CN" altLang="en-US" sz="2133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​</a:t>
            </a:r>
            <a:endParaRPr lang="en-US" sz="21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7FC2-188B-153F-D585-36413B6B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F6FD4ED-51ED-4BDE-201F-9B0C8D2C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B0697C-0DD1-A5D9-19B3-B3E4AE666E31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D4F8-CC63-8823-D717-E4148D86F3FD}"/>
              </a:ext>
            </a:extLst>
          </p:cNvPr>
          <p:cNvSpPr txBox="1"/>
          <p:nvPr/>
        </p:nvSpPr>
        <p:spPr>
          <a:xfrm>
            <a:off x="2441523" y="2736502"/>
            <a:ext cx="75794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系统为何难以直接用于大数据分析？</a:t>
            </a:r>
            <a:endParaRPr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高并发写入时如何保证数据一致性？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5124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80FA6-9CBC-2483-7472-266895FB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EE4E423-66C5-9812-5E6D-8F2DD97CAF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585F521-88DC-7354-C611-92DBA07CD0C6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200" dirty="0">
                <a:solidFill>
                  <a:srgbClr val="262626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OLAP </a:t>
            </a:r>
            <a:r>
              <a:rPr lang="zh-CN" altLang="en-US" sz="3200" dirty="0">
                <a:solidFill>
                  <a:srgbClr val="2626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BB657A1-F3EC-5896-86A0-8B2E25337BDD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61F613-3AA3-8142-617C-A190D74259D6}"/>
              </a:ext>
            </a:extLst>
          </p:cNvPr>
          <p:cNvSpPr/>
          <p:nvPr/>
        </p:nvSpPr>
        <p:spPr>
          <a:xfrm>
            <a:off x="969363" y="1763426"/>
            <a:ext cx="10253273" cy="4362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OLAP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（在线分析处理）是一种面向分析的数据处理范式，通常由分析型数据库实现​​。与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系统处理高频短事务不同，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专注于支持复杂的决策分析操作，服务于企业的战略决策需求。其核心特征体现为：</a:t>
            </a:r>
            <a:b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​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数据规模​​：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基于分析型数据库的​​高吞吐列式存储​​和压缩技术，可高效处理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级历史数据，​​通过向量化计算和并行处理加速批量数据分析​​</a:t>
            </a:r>
            <a:b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​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查询特性​​：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​​针对多表关联、时间序列分析等复杂查询优化​​，内置​​预聚合引擎​​（如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Apache Kylin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预计算）​​支持秒级响应​​</a:t>
            </a:r>
            <a:b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​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计算能力​​：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​​原生支持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SUM/AVG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等聚合函数​​，允许在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级数据上直接执行统计计算（如年度销售增长率、用户留存率分析）</a:t>
            </a:r>
            <a:br>
              <a:rPr lang="zh-CN" altLang="en-US" sz="2000" dirty="0"/>
            </a:br>
            <a:endParaRPr lang="en-US" altLang="zh-CN" sz="2000" dirty="0">
              <a:solidFill>
                <a:srgbClr val="26262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954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16E9-1BCC-60D9-BF57-93560E9A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CB758EE-BD38-9F46-C93B-12F108343A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DE3B8A0-496B-3E10-6181-37D67EEEB0BD}"/>
              </a:ext>
            </a:extLst>
          </p:cNvPr>
          <p:cNvSpPr/>
          <p:nvPr/>
        </p:nvSpPr>
        <p:spPr>
          <a:xfrm>
            <a:off x="762000" y="618067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OLAP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场景：电商亿级数据分析与实时报表​​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CAAA50-C83E-578C-6157-090E5982C0BF}"/>
              </a:ext>
            </a:extLst>
          </p:cNvPr>
          <p:cNvSpPr txBox="1"/>
          <p:nvPr/>
        </p:nvSpPr>
        <p:spPr>
          <a:xfrm>
            <a:off x="584200" y="1651000"/>
            <a:ext cx="11370733" cy="461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核心业务需求</a:t>
            </a:r>
            <a:r>
              <a:rPr lang="zh-CN" altLang="en-US" sz="2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l" fontAlgn="base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年度销售趋势分析（同比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环比、区域排行）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亿级历史订单聚合（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GMV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销量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用户行为漏斗分析（点击→加购→成交转化率）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实时大屏数据刷新（分钟级延迟）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关键数据特点：</a:t>
            </a:r>
          </a:p>
          <a:p>
            <a:pPr algn="l" fontAlgn="base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​​批量导入​​：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级历史数据离线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ETL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Hive→ClickHouse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​​列式存储​​：按列读取减少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，压缩率提升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3-5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​​聚合计算为主​​：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SUM/COUNT/GROUP BY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操作占比超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187219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6621-B540-8B62-CDB4-DF787CAC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E1457FD-8E87-216E-DC57-CA4D71C0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A5DE301-3CDC-83BD-D25E-FCC1957768CD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DC914E-4C0D-CD4A-0028-AEFD62FF71BF}"/>
              </a:ext>
            </a:extLst>
          </p:cNvPr>
          <p:cNvSpPr txBox="1"/>
          <p:nvPr/>
        </p:nvSpPr>
        <p:spPr>
          <a:xfrm>
            <a:off x="2441523" y="2736502"/>
            <a:ext cx="75794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系统为何不适合处理高频交易？</a:t>
            </a:r>
            <a:endParaRPr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分析型查询如何优化响应速度？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6168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EBF6-2C2F-2972-6FBE-B61409FC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97762D0-363B-7211-935F-8F06E250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1C98930-59B8-356F-B35D-792427630476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OLTP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OLAP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核心维度对比</a:t>
            </a:r>
            <a:endParaRPr lang="en-US" sz="3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0D339C-4BB9-C7A0-DC32-9C0E6A88F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17162"/>
              </p:ext>
            </p:extLst>
          </p:nvPr>
        </p:nvGraphicFramePr>
        <p:xfrm>
          <a:off x="457200" y="2067941"/>
          <a:ext cx="11067736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157">
                  <a:extLst>
                    <a:ext uri="{9D8B030D-6E8A-4147-A177-3AD203B41FA5}">
                      <a16:colId xmlns:a16="http://schemas.microsoft.com/office/drawing/2014/main" val="2335354539"/>
                    </a:ext>
                  </a:extLst>
                </a:gridCol>
                <a:gridCol w="4339653">
                  <a:extLst>
                    <a:ext uri="{9D8B030D-6E8A-4147-A177-3AD203B41FA5}">
                      <a16:colId xmlns:a16="http://schemas.microsoft.com/office/drawing/2014/main" val="3637015719"/>
                    </a:ext>
                  </a:extLst>
                </a:gridCol>
                <a:gridCol w="4681926">
                  <a:extLst>
                    <a:ext uri="{9D8B030D-6E8A-4147-A177-3AD203B41FA5}">
                      <a16:colId xmlns:a16="http://schemas.microsoft.com/office/drawing/2014/main" val="219311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effectLst/>
                        </a:rPr>
                        <a:t>​​</a:t>
                      </a:r>
                      <a:endParaRPr lang="zh-CN" altLang="en-US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effectLst/>
                        </a:rPr>
                        <a:t>​​</a:t>
                      </a:r>
                      <a:r>
                        <a:rPr lang="en-US" b="1" dirty="0" err="1">
                          <a:effectLst/>
                        </a:rPr>
                        <a:t>OLTP（MySQL</a:t>
                      </a:r>
                      <a:r>
                        <a:rPr lang="en-US" b="1" dirty="0">
                          <a:effectLst/>
                        </a:rPr>
                        <a:t>）​​</a:t>
                      </a:r>
                      <a:endParaRPr lang="en-US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b="1">
                          <a:effectLst/>
                        </a:rPr>
                        <a:t>​​OLAP（ClickHouse）​​</a:t>
                      </a:r>
                      <a:endParaRPr lang="en-US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val="1407514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​目标场景​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高并发事务处理（如订单创建、支付）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海量数据分析（如销售报表、用户行为分析）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val="348563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​数据模型​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行式存储，</a:t>
                      </a:r>
                      <a:r>
                        <a:rPr lang="en-US" altLang="zh-CN" b="0" dirty="0">
                          <a:effectLst/>
                        </a:rPr>
                        <a:t>3NF </a:t>
                      </a:r>
                      <a:r>
                        <a:rPr lang="zh-CN" altLang="en-US" b="0" dirty="0">
                          <a:effectLst/>
                        </a:rPr>
                        <a:t>规范化设计（减少冗余）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列式存储，宽表设计（优化聚合查询）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val="977506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​读写比例​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读写均衡（</a:t>
                      </a:r>
                      <a:r>
                        <a:rPr lang="en-US" altLang="zh-CN" b="0" dirty="0">
                          <a:effectLst/>
                        </a:rPr>
                        <a:t>50% </a:t>
                      </a:r>
                      <a:r>
                        <a:rPr lang="zh-CN" altLang="en-US" b="0" dirty="0">
                          <a:effectLst/>
                        </a:rPr>
                        <a:t>读 </a:t>
                      </a:r>
                      <a:r>
                        <a:rPr lang="en-US" altLang="zh-CN" b="0" dirty="0">
                          <a:effectLst/>
                        </a:rPr>
                        <a:t>/ 50% </a:t>
                      </a:r>
                      <a:r>
                        <a:rPr lang="zh-CN" altLang="en-US" b="0" dirty="0">
                          <a:effectLst/>
                        </a:rPr>
                        <a:t>写）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读主导（</a:t>
                      </a:r>
                      <a:r>
                        <a:rPr lang="en-US" altLang="zh-CN" b="0" dirty="0">
                          <a:effectLst/>
                        </a:rPr>
                        <a:t>95% </a:t>
                      </a:r>
                      <a:r>
                        <a:rPr lang="zh-CN" altLang="en-US" b="0" dirty="0">
                          <a:effectLst/>
                        </a:rPr>
                        <a:t>读 </a:t>
                      </a:r>
                      <a:r>
                        <a:rPr lang="en-US" altLang="zh-CN" b="0" dirty="0">
                          <a:effectLst/>
                        </a:rPr>
                        <a:t>/ 5% </a:t>
                      </a:r>
                      <a:r>
                        <a:rPr lang="zh-CN" altLang="en-US" b="0" dirty="0">
                          <a:effectLst/>
                        </a:rPr>
                        <a:t>批量写入）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val="2104438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​索引设计​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b="0">
                          <a:effectLst/>
                        </a:rPr>
                        <a:t>B+ </a:t>
                      </a:r>
                      <a:r>
                        <a:rPr lang="zh-CN" altLang="en-US" b="0">
                          <a:effectLst/>
                        </a:rPr>
                        <a:t>树索引（主键、二级索引，支持点查）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稀疏索引 </a:t>
                      </a:r>
                      <a:r>
                        <a:rPr lang="en-US" altLang="zh-CN" b="0" dirty="0">
                          <a:effectLst/>
                        </a:rPr>
                        <a:t>+ </a:t>
                      </a:r>
                      <a:r>
                        <a:rPr lang="zh-CN" altLang="en-US" b="0" dirty="0">
                          <a:effectLst/>
                        </a:rPr>
                        <a:t>列存储（减少 </a:t>
                      </a:r>
                      <a:r>
                        <a:rPr lang="en-US" b="0" dirty="0">
                          <a:effectLst/>
                        </a:rPr>
                        <a:t>I/O，</a:t>
                      </a:r>
                      <a:r>
                        <a:rPr lang="zh-CN" altLang="en-US" b="0" dirty="0">
                          <a:effectLst/>
                        </a:rPr>
                        <a:t>优化聚合）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val="68181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​硬件需求​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>
                          <a:effectLst/>
                        </a:rPr>
                        <a:t>低延迟 </a:t>
                      </a:r>
                      <a:r>
                        <a:rPr lang="en-US" altLang="zh-CN" b="0">
                          <a:effectLst/>
                        </a:rPr>
                        <a:t>SSD</a:t>
                      </a:r>
                      <a:r>
                        <a:rPr lang="zh-CN" altLang="en-US" b="0">
                          <a:effectLst/>
                        </a:rPr>
                        <a:t>、高并发连接池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大内存、高吞吐存储（</a:t>
                      </a:r>
                      <a:r>
                        <a:rPr lang="en-US" altLang="zh-CN" b="0" dirty="0">
                          <a:effectLst/>
                        </a:rPr>
                        <a:t>SSD + HDD </a:t>
                      </a:r>
                      <a:r>
                        <a:rPr lang="zh-CN" altLang="en-US" b="0" dirty="0">
                          <a:effectLst/>
                        </a:rPr>
                        <a:t>混合）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/>
                </a:tc>
                <a:extLst>
                  <a:ext uri="{0D108BD9-81ED-4DB2-BD59-A6C34878D82A}">
                    <a16:rowId xmlns:a16="http://schemas.microsoft.com/office/drawing/2014/main" val="159336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787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8097-3B38-E93E-E482-2B3DF87C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1E98C1F-BDD5-F458-C3F2-45FA07B85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9386798-C20C-B716-65EA-6CF8FB0218E8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在交易数据场景中的差异</a:t>
            </a:r>
            <a:endParaRPr lang="en-US" sz="3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1DC7285-ED88-6F12-168C-0021A82CA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517181"/>
              </p:ext>
            </p:extLst>
          </p:nvPr>
        </p:nvGraphicFramePr>
        <p:xfrm>
          <a:off x="1190080" y="1667089"/>
          <a:ext cx="9811839" cy="45078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3020">
                  <a:extLst>
                    <a:ext uri="{9D8B030D-6E8A-4147-A177-3AD203B41FA5}">
                      <a16:colId xmlns:a16="http://schemas.microsoft.com/office/drawing/2014/main" val="617742587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525814670"/>
                    </a:ext>
                  </a:extLst>
                </a:gridCol>
                <a:gridCol w="4042319">
                  <a:extLst>
                    <a:ext uri="{9D8B030D-6E8A-4147-A177-3AD203B41FA5}">
                      <a16:colId xmlns:a16="http://schemas.microsoft.com/office/drawing/2014/main" val="2579035632"/>
                    </a:ext>
                  </a:extLst>
                </a:gridCol>
              </a:tblGrid>
              <a:tr h="428411">
                <a:tc>
                  <a:txBody>
                    <a:bodyPr/>
                    <a:lstStyle/>
                    <a:p>
                      <a:pPr algn="ctr" fontAlgn="ctr"/>
                      <a:endParaRPr lang="zh-CN" altLang="en-US" sz="1700" b="1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1" dirty="0">
                          <a:effectLst/>
                        </a:rPr>
                        <a:t>​​</a:t>
                      </a:r>
                      <a:r>
                        <a:rPr lang="en-US" sz="1700" b="1" dirty="0" err="1">
                          <a:effectLst/>
                        </a:rPr>
                        <a:t>MySQL（OLTP</a:t>
                      </a:r>
                      <a:r>
                        <a:rPr lang="en-US" sz="1700" b="1" dirty="0">
                          <a:effectLst/>
                        </a:rPr>
                        <a:t>）​​</a:t>
                      </a:r>
                      <a:endParaRPr lang="en-US" sz="1700" b="1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1">
                          <a:effectLst/>
                        </a:rPr>
                        <a:t>​​ClickHouse（OLAP）​​</a:t>
                      </a:r>
                      <a:endParaRPr lang="en-US" sz="1700" b="1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2487953124"/>
                  </a:ext>
                </a:extLst>
              </a:tr>
              <a:tr h="50311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​</a:t>
                      </a:r>
                      <a:r>
                        <a:rPr lang="zh-CN" altLang="en-US" sz="1700" b="1" dirty="0">
                          <a:effectLst/>
                        </a:rPr>
                        <a:t>​核心目的​</a:t>
                      </a:r>
                      <a:r>
                        <a:rPr lang="zh-CN" altLang="en-US" sz="1700" b="0" dirty="0">
                          <a:effectLst/>
                        </a:rPr>
                        <a:t>​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实时处理交易（如支付、下单）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分析海量历史交易数据（如统计报表）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25203065"/>
                  </a:ext>
                </a:extLst>
              </a:tr>
              <a:tr h="5038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​</a:t>
                      </a:r>
                      <a:r>
                        <a:rPr lang="zh-CN" altLang="en-US" sz="1700" b="1">
                          <a:effectLst/>
                        </a:rPr>
                        <a:t>​存储方式​</a:t>
                      </a:r>
                      <a:r>
                        <a:rPr lang="zh-CN" altLang="en-US" sz="1700" b="0">
                          <a:effectLst/>
                        </a:rPr>
                        <a:t>​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行式存储（单行快速读写）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列式存储（高效压缩和聚合）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2669955014"/>
                  </a:ext>
                </a:extLst>
              </a:tr>
              <a:tr h="52433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​</a:t>
                      </a:r>
                      <a:r>
                        <a:rPr lang="zh-CN" altLang="en-US" sz="1700" b="1" dirty="0">
                          <a:effectLst/>
                        </a:rPr>
                        <a:t>​写入模式​</a:t>
                      </a:r>
                      <a:r>
                        <a:rPr lang="zh-CN" altLang="en-US" sz="1700" b="0" dirty="0">
                          <a:effectLst/>
                        </a:rPr>
                        <a:t>​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高频率单条写入，支持事务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批量追加写入，无事务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1507832922"/>
                  </a:ext>
                </a:extLst>
              </a:tr>
              <a:tr h="53615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​</a:t>
                      </a:r>
                      <a:r>
                        <a:rPr lang="zh-CN" altLang="en-US" sz="1700" b="1">
                          <a:effectLst/>
                        </a:rPr>
                        <a:t>​查询性能​</a:t>
                      </a:r>
                      <a:r>
                        <a:rPr lang="zh-CN" altLang="en-US" sz="1700" b="0">
                          <a:effectLst/>
                        </a:rPr>
                        <a:t>​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毫秒级响应（简单查询）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秒级复杂聚合（如 </a:t>
                      </a:r>
                      <a:r>
                        <a:rPr lang="en-US" sz="1700" b="0" dirty="0">
                          <a:effectLst/>
                        </a:rPr>
                        <a:t>SUM/COUNT）</a:t>
                      </a:r>
                      <a:endParaRPr 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1545137576"/>
                  </a:ext>
                </a:extLst>
              </a:tr>
              <a:tr h="45099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​</a:t>
                      </a:r>
                      <a:r>
                        <a:rPr lang="zh-CN" altLang="en-US" sz="1700" b="1">
                          <a:effectLst/>
                        </a:rPr>
                        <a:t>​并发能力​</a:t>
                      </a:r>
                      <a:r>
                        <a:rPr lang="zh-CN" altLang="en-US" sz="1700" b="0">
                          <a:effectLst/>
                        </a:rPr>
                        <a:t>​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高并发（数千</a:t>
                      </a:r>
                      <a:r>
                        <a:rPr lang="en-US" altLang="zh-CN" sz="1700" b="0">
                          <a:effectLst/>
                        </a:rPr>
                        <a:t>TPS</a:t>
                      </a:r>
                      <a:r>
                        <a:rPr lang="zh-CN" altLang="en-US" sz="1700" b="0">
                          <a:effectLst/>
                        </a:rPr>
                        <a:t>）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低并发（少量复杂查询）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954972940"/>
                  </a:ext>
                </a:extLst>
              </a:tr>
              <a:tr h="4426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​</a:t>
                      </a:r>
                      <a:r>
                        <a:rPr lang="zh-CN" altLang="en-US" sz="1700" b="1">
                          <a:effectLst/>
                        </a:rPr>
                        <a:t>​扩展性​</a:t>
                      </a:r>
                      <a:r>
                        <a:rPr lang="zh-CN" altLang="en-US" sz="1700" b="0">
                          <a:effectLst/>
                        </a:rPr>
                        <a:t>​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垂直扩展（单机性能优先）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水平扩展（分布式集群）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4193415585"/>
                  </a:ext>
                </a:extLst>
              </a:tr>
              <a:tr h="52120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​</a:t>
                      </a:r>
                      <a:r>
                        <a:rPr lang="zh-CN" altLang="en-US" sz="1700" b="1">
                          <a:effectLst/>
                        </a:rPr>
                        <a:t>​数据更新​</a:t>
                      </a:r>
                      <a:r>
                        <a:rPr lang="zh-CN" altLang="en-US" sz="1700" b="0">
                          <a:effectLst/>
                        </a:rPr>
                        <a:t>​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支持实时更新</a:t>
                      </a:r>
                      <a:r>
                        <a:rPr lang="en-US" altLang="zh-CN" sz="1700" b="0">
                          <a:effectLst/>
                        </a:rPr>
                        <a:t>/</a:t>
                      </a:r>
                      <a:r>
                        <a:rPr lang="zh-CN" altLang="en-US" sz="1700" b="0">
                          <a:effectLst/>
                        </a:rPr>
                        <a:t>删除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 dirty="0">
                          <a:effectLst/>
                        </a:rPr>
                        <a:t>仅追加，更新需批量替换</a:t>
                      </a:r>
                      <a:endParaRPr lang="zh-CN" alt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3004308972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700" b="0">
                          <a:effectLst/>
                        </a:rPr>
                        <a:t>​</a:t>
                      </a:r>
                      <a:r>
                        <a:rPr lang="zh-CN" altLang="en-US" sz="1700" b="1">
                          <a:effectLst/>
                        </a:rPr>
                        <a:t>​典型场景​</a:t>
                      </a:r>
                      <a:r>
                        <a:rPr lang="zh-CN" altLang="en-US" sz="1700" b="0">
                          <a:effectLst/>
                        </a:rPr>
                        <a:t>​</a:t>
                      </a:r>
                      <a:endParaRPr lang="zh-CN" alt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>
                          <a:effectLst/>
                        </a:rPr>
                        <a:t>SELECT * FROM orders WHERE id=123</a:t>
                      </a:r>
                      <a:endParaRPr lang="en-US" sz="1700" b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dirty="0">
                          <a:effectLst/>
                        </a:rPr>
                        <a:t>SELECT product, SUM(revenue) ...</a:t>
                      </a:r>
                      <a:endParaRPr lang="en-US" sz="1700" b="0" dirty="0">
                        <a:effectLst/>
                        <a:latin typeface="PingFang SC"/>
                      </a:endParaRPr>
                    </a:p>
                  </a:txBody>
                  <a:tcPr marL="94800" marR="72000" marT="0" marB="0" anchor="ctr"/>
                </a:tc>
                <a:extLst>
                  <a:ext uri="{0D108BD9-81ED-4DB2-BD59-A6C34878D82A}">
                    <a16:rowId xmlns:a16="http://schemas.microsoft.com/office/drawing/2014/main" val="425310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40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7974-C911-0F87-F193-F9D84EE29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5699882-201A-4AFC-F890-CE4F09CF64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F9722A-AF44-2FA6-F20E-E492D983B261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6218A9-7485-DC88-6EBF-9E33DC6DA40D}"/>
              </a:ext>
            </a:extLst>
          </p:cNvPr>
          <p:cNvSpPr txBox="1"/>
          <p:nvPr/>
        </p:nvSpPr>
        <p:spPr>
          <a:xfrm>
            <a:off x="2441523" y="2736502"/>
            <a:ext cx="75794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是否存在同时满足</a:t>
            </a:r>
            <a:r>
              <a:rPr lang="en-US" altLang="zh-CN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需求的数据库？为什么？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19851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23937"/>
            <a:ext cx="6350000" cy="1778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技术实现差异与优化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6300" y="3438091"/>
            <a:ext cx="4972051" cy="381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9999"/>
              </a:lnSpc>
            </a:pPr>
            <a:r>
              <a:rPr lang="en-US" sz="29999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99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2E0E-06FA-FF21-4032-AF3168FA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701CC7B-5C07-2C3C-25A0-2C426DAD4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031071D-BB01-66ED-208C-85D8079BD6BA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行式存储与列式存储的原理</a:t>
            </a:r>
            <a:endParaRPr lang="en-US" sz="3000" dirty="0"/>
          </a:p>
        </p:txBody>
      </p:sp>
      <p:pic>
        <p:nvPicPr>
          <p:cNvPr id="11267" name="Picture 3" descr="数据库中的 “行式存储”和“列式存储” - 墨天轮">
            <a:extLst>
              <a:ext uri="{FF2B5EF4-FFF2-40B4-BE49-F238E27FC236}">
                <a16:creationId xmlns:a16="http://schemas.microsoft.com/office/drawing/2014/main" id="{9E309ACC-54E7-2F24-5B08-BF74961B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0" y="1885841"/>
            <a:ext cx="6323013" cy="440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6313F0-FE5B-33E5-33D9-85021AB386C8}"/>
              </a:ext>
            </a:extLst>
          </p:cNvPr>
          <p:cNvSpPr txBox="1"/>
          <p:nvPr/>
        </p:nvSpPr>
        <p:spPr>
          <a:xfrm>
            <a:off x="452437" y="2419688"/>
            <a:ext cx="4851400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传统的关系型数据库如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采用行式存储法（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Row-based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），一行中的数据在存储介质中以连续存储形式存在。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列式存储（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Column-based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）是相对于行式存储来说的，新兴的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HBase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等分布式数据库均采用列式存储，一列中的数据在存储介质中以连续存储形式存在。</a:t>
            </a:r>
          </a:p>
          <a:p>
            <a:pPr>
              <a:buNone/>
            </a:pPr>
            <a:br>
              <a:rPr lang="zh-CN" altLang="en-US" dirty="0">
                <a:effectLst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3052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898B-BDC3-6C4D-E442-8CF1917E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45F58FC-7D5D-4ED7-8F3C-025EE75D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344C8A2-6A5D-3534-3DDD-F47B4BF19BCE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行式存储的优势与局限性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615DAD-02B3-E1A6-E5B5-33136660F7A9}"/>
              </a:ext>
            </a:extLst>
          </p:cNvPr>
          <p:cNvSpPr txBox="1"/>
          <p:nvPr/>
        </p:nvSpPr>
        <p:spPr>
          <a:xfrm>
            <a:off x="598487" y="1631950"/>
            <a:ext cx="10831513" cy="489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​​优势​​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​​单行读写高效​​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数据按行连续存储，适合快速读取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写入完整记录（如订单查询、用户信息更新）。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​​场景​​：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users WHERE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user_id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=123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行级锁和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事务保障，适合高并发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（如支付、下单）。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​​局限性​​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查询少量列时仍需读取整行，查询效率低。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行内不同列数据类型差异大，难以高效压缩。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​​分析性能差​​</a:t>
            </a:r>
          </a:p>
          <a:p>
            <a:pPr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聚合计算需遍历所有行，计算效率低（如计算总销售额需逐行读取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0242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0489-7ECE-E00C-BE7D-25C059D3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A677E97-5FD7-49A9-3E26-8928E69ED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2D05011-7AF6-96E7-A08A-1726F378EA6C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列式存储的优势与局限性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3A3CF-15BD-8928-29C1-35E169BEE7E9}"/>
              </a:ext>
            </a:extLst>
          </p:cNvPr>
          <p:cNvSpPr txBox="1"/>
          <p:nvPr/>
        </p:nvSpPr>
        <p:spPr>
          <a:xfrm>
            <a:off x="598487" y="1893157"/>
            <a:ext cx="10831513" cy="439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​​优势​​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​​聚合查询极快​​：数据按列存储，查询只需读取目标列，减少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开销，比行式快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10-100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​​高压缩率​​：同列数据类型一致，采用字典编码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/Delta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压缩，节省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70%-90%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空间。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​​批量分析高效​​：列式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向量化计算（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每秒处理数亿行），适合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级日志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​​局限性​​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​​写入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更新慢​​：单条写入需拆分多列，更新需重写整列。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​​点查询差​​：查单行需合并多列。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​​无事务支持​​：多数系统（如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）仅最终一致性，不适用支付等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场景。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​​稀疏数据成本高​​：空值列仍占存储（需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掩码优化）。</a:t>
            </a:r>
          </a:p>
        </p:txBody>
      </p:sp>
    </p:spTree>
    <p:extLst>
      <p:ext uri="{BB962C8B-B14F-4D97-AF65-F5344CB8AC3E}">
        <p14:creationId xmlns:p14="http://schemas.microsoft.com/office/powerpoint/2010/main" val="3356482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0E34-F381-3EFF-C37A-7783D30D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5788B84-8583-5D10-1F0B-F57B89D8D7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61D1626-A1D8-9148-90C9-13DA3844D582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D787EC-F26B-07B1-1808-C4CE0153AB60}"/>
              </a:ext>
            </a:extLst>
          </p:cNvPr>
          <p:cNvSpPr txBox="1"/>
          <p:nvPr/>
        </p:nvSpPr>
        <p:spPr>
          <a:xfrm>
            <a:off x="2441523" y="2736502"/>
            <a:ext cx="75794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行式存储为何在分析场景中性能下降？</a:t>
            </a:r>
            <a:endParaRPr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列式存储如何利用数据压缩提升性能？</a:t>
            </a:r>
          </a:p>
        </p:txBody>
      </p:sp>
    </p:spTree>
    <p:extLst>
      <p:ext uri="{BB962C8B-B14F-4D97-AF65-F5344CB8AC3E}">
        <p14:creationId xmlns:p14="http://schemas.microsoft.com/office/powerpoint/2010/main" val="3436118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BBBF-1603-B365-CC2B-FDDE9210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504077C-22F4-39E6-8DC1-706D1F9B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FC894CA-6A53-0C1D-2F97-A87A8DC55F7F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行式 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列式性能对比​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0BB6FA-4E38-9724-1259-3CD80F282BE0}"/>
              </a:ext>
            </a:extLst>
          </p:cNvPr>
          <p:cNvSpPr txBox="1"/>
          <p:nvPr/>
        </p:nvSpPr>
        <p:spPr>
          <a:xfrm>
            <a:off x="668337" y="2331307"/>
            <a:ext cx="5116513" cy="33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行式存储（如</a:t>
            </a: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</a:t>
            </a:r>
            <a:endParaRPr lang="zh-CN" altLang="en-US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绝对优势​​：高并发交易场景（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​​关键指标​​：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单行读写延迟：​​毫秒级​​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事务吞吐量：​​数千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TPS​​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典型操作：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orders WHERE id=123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1CC068-CC4A-9EDD-7F88-3BA99E04C189}"/>
              </a:ext>
            </a:extLst>
          </p:cNvPr>
          <p:cNvSpPr txBox="1"/>
          <p:nvPr/>
        </p:nvSpPr>
        <p:spPr>
          <a:xfrm>
            <a:off x="6013451" y="2331307"/>
            <a:ext cx="5276850" cy="33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列式存储（如</a:t>
            </a:r>
            <a:r>
              <a:rPr lang="en-US" altLang="zh-CN" sz="2000" b="1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​​绝对优势​​：海量数据分析场景（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​​关键指标​​：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聚合查询速度：​​比行式快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10-100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数据压缩率：​​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80%-95%​​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典型操作：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product, SUM(sales) FROM orders GROUP BY product</a:t>
            </a: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9011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D4D8-0EC5-6DD7-045E-C60D6050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2D4C185-AF61-B9C2-778C-BEF94364AB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2B95E60-A5D6-5ADE-EC48-6044A51E8417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vs </a:t>
            </a: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查询效率实测​</a:t>
            </a:r>
            <a:endParaRPr lang="en-US" sz="3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6C74CAD-7D09-D470-8A31-12EB3C6E7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86872"/>
              </p:ext>
            </p:extLst>
          </p:nvPr>
        </p:nvGraphicFramePr>
        <p:xfrm>
          <a:off x="762000" y="3638550"/>
          <a:ext cx="10515600" cy="2255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90386009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3702763208"/>
                    </a:ext>
                  </a:extLst>
                </a:gridCol>
                <a:gridCol w="2432050">
                  <a:extLst>
                    <a:ext uri="{9D8B030D-6E8A-4147-A177-3AD203B41FA5}">
                      <a16:colId xmlns:a16="http://schemas.microsoft.com/office/drawing/2014/main" val="11234474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82199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1">
                          <a:effectLst/>
                        </a:rPr>
                        <a:t>​​查询类型​​</a:t>
                      </a:r>
                      <a:endParaRPr lang="zh-CN" altLang="en-US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​​MySQL（</a:t>
                      </a:r>
                      <a:r>
                        <a:rPr lang="zh-CN" altLang="en-US" b="1" dirty="0">
                          <a:effectLst/>
                        </a:rPr>
                        <a:t>行式）​​</a:t>
                      </a:r>
                      <a:endParaRPr lang="zh-CN" altLang="en-US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​​ClickHouse（</a:t>
                      </a:r>
                      <a:r>
                        <a:rPr lang="zh-CN" altLang="en-US" b="1">
                          <a:effectLst/>
                        </a:rPr>
                        <a:t>列式）​​</a:t>
                      </a:r>
                      <a:endParaRPr lang="zh-CN" altLang="en-US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1">
                          <a:effectLst/>
                        </a:rPr>
                        <a:t>​​差异​​</a:t>
                      </a:r>
                      <a:endParaRPr lang="zh-CN" altLang="en-US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904224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 dirty="0">
                          <a:effectLst/>
                        </a:rPr>
                        <a:t>SELECT * WHERE </a:t>
                      </a:r>
                      <a:r>
                        <a:rPr lang="en-US" b="0" dirty="0" err="1">
                          <a:effectLst/>
                        </a:rPr>
                        <a:t>order_id</a:t>
                      </a:r>
                      <a:r>
                        <a:rPr lang="en-US" b="0" dirty="0">
                          <a:effectLst/>
                        </a:rPr>
                        <a:t>=123</a:t>
                      </a:r>
                      <a:endParaRPr 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 dirty="0">
                          <a:effectLst/>
                        </a:rPr>
                        <a:t>2ms</a:t>
                      </a:r>
                      <a:endParaRPr 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500ms</a:t>
                      </a:r>
                      <a:endParaRPr 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>
                          <a:effectLst/>
                        </a:rPr>
                        <a:t>行式快</a:t>
                      </a:r>
                      <a:r>
                        <a:rPr lang="en-US" altLang="zh-CN" b="0">
                          <a:effectLst/>
                        </a:rPr>
                        <a:t>250</a:t>
                      </a:r>
                      <a:r>
                        <a:rPr lang="zh-CN" altLang="en-US" b="0">
                          <a:effectLst/>
                        </a:rPr>
                        <a:t>倍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528910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SELECT SUM(price) FROM orders</a:t>
                      </a:r>
                      <a:endParaRPr 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b="0">
                          <a:effectLst/>
                        </a:rPr>
                        <a:t>12</a:t>
                      </a:r>
                      <a:r>
                        <a:rPr lang="zh-CN" altLang="en-US" b="0">
                          <a:effectLst/>
                        </a:rPr>
                        <a:t>秒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b="0">
                          <a:effectLst/>
                        </a:rPr>
                        <a:t>0.8</a:t>
                      </a:r>
                      <a:r>
                        <a:rPr lang="zh-CN" altLang="en-US" b="0">
                          <a:effectLst/>
                        </a:rPr>
                        <a:t>秒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>
                          <a:effectLst/>
                        </a:rPr>
                        <a:t>列式快</a:t>
                      </a:r>
                      <a:r>
                        <a:rPr lang="en-US" altLang="zh-CN" b="0">
                          <a:effectLst/>
                        </a:rPr>
                        <a:t>15</a:t>
                      </a:r>
                      <a:r>
                        <a:rPr lang="zh-CN" altLang="en-US" b="0">
                          <a:effectLst/>
                        </a:rPr>
                        <a:t>倍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49790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GROUP BY product COUNT(*)</a:t>
                      </a:r>
                      <a:endParaRPr 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b="0">
                          <a:effectLst/>
                        </a:rPr>
                        <a:t>18</a:t>
                      </a:r>
                      <a:r>
                        <a:rPr lang="zh-CN" altLang="en-US" b="0">
                          <a:effectLst/>
                        </a:rPr>
                        <a:t>秒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b="0">
                          <a:effectLst/>
                        </a:rPr>
                        <a:t>1.2</a:t>
                      </a:r>
                      <a:r>
                        <a:rPr lang="zh-CN" altLang="en-US" b="0">
                          <a:effectLst/>
                        </a:rPr>
                        <a:t>秒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 dirty="0">
                          <a:effectLst/>
                        </a:rPr>
                        <a:t>列式快</a:t>
                      </a:r>
                      <a:r>
                        <a:rPr lang="en-US" altLang="zh-CN" b="0" dirty="0">
                          <a:effectLst/>
                        </a:rPr>
                        <a:t>15</a:t>
                      </a:r>
                      <a:r>
                        <a:rPr lang="zh-CN" altLang="en-US" b="0" dirty="0">
                          <a:effectLst/>
                        </a:rPr>
                        <a:t>倍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4186964861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4DA0E0E-271D-E7C6-2110-9281F3BD85D2}"/>
              </a:ext>
            </a:extLst>
          </p:cNvPr>
          <p:cNvSpPr txBox="1"/>
          <p:nvPr/>
        </p:nvSpPr>
        <p:spPr>
          <a:xfrm>
            <a:off x="1019175" y="1804963"/>
            <a:ext cx="9912350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测试环境​​</a:t>
            </a:r>
          </a:p>
          <a:p>
            <a:pPr marL="0" marR="0" lvl="0" indent="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​​数据集​​：1亿条交易记录（字段：order_id, user_id, product, price, timestamp）</a:t>
            </a:r>
          </a:p>
          <a:p>
            <a:pPr marL="0" marR="0" lvl="0" indent="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​​硬件​​：16核CPU / 64GB内存 / SSD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251049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007B-7F8C-4C7F-341F-50C01097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12F999D-9350-4E87-244E-E1CE66B7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CC06FE2-10D3-B66F-7307-2A4DB739EA54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向量化操作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D9DF2A-2913-BCC3-8DC1-38E7B68199F9}"/>
              </a:ext>
            </a:extLst>
          </p:cNvPr>
          <p:cNvSpPr txBox="1"/>
          <p:nvPr/>
        </p:nvSpPr>
        <p:spPr>
          <a:xfrm>
            <a:off x="598487" y="1893157"/>
            <a:ext cx="10831513" cy="39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核心原理​​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​批量处理列数据​​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传统方式：逐行计算（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利用率低）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向量化：​​按列批量加载数据到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缓存​​，单指令处理多数据（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效果​​：减少分支预测失败，提升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流水线效率</a:t>
            </a:r>
          </a:p>
          <a:p>
            <a:pPr marL="285750" indent="-28575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指令优化​​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AVX/SSE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指令集​​（如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处理器）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示例：单次运算可同时处理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float64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AVX-512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52973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0D84A-5D2F-137F-80BE-BB9BA20E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CC4EFBD-E464-1A7E-1710-9994AAE6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F1C6F5B-59E0-5D64-9B16-6F53A17BD0D2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向量化操作</a:t>
            </a: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实战案例​​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C2FD1A0-16A3-FF3A-049F-23A85556C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758976"/>
              </p:ext>
            </p:extLst>
          </p:nvPr>
        </p:nvGraphicFramePr>
        <p:xfrm>
          <a:off x="762000" y="2868337"/>
          <a:ext cx="10515600" cy="1706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22191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22132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1" dirty="0">
                          <a:effectLst/>
                        </a:rPr>
                        <a:t>​​优化手段​​</a:t>
                      </a:r>
                      <a:endParaRPr lang="zh-CN" altLang="en-US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1">
                          <a:effectLst/>
                        </a:rPr>
                        <a:t>​​性能影响​​</a:t>
                      </a:r>
                      <a:endParaRPr lang="zh-CN" altLang="en-US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69353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>
                          <a:effectLst/>
                        </a:rPr>
                        <a:t>列式存储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>
                          <a:effectLst/>
                        </a:rPr>
                        <a:t>仅读取</a:t>
                      </a:r>
                      <a:r>
                        <a:rPr lang="en-US" b="0">
                          <a:effectLst/>
                        </a:rPr>
                        <a:t>price</a:t>
                      </a:r>
                      <a:r>
                        <a:rPr lang="zh-CN" altLang="en-US" b="0">
                          <a:effectLst/>
                        </a:rPr>
                        <a:t>列（减少</a:t>
                      </a:r>
                      <a:r>
                        <a:rPr lang="en-US" altLang="zh-CN" b="0">
                          <a:effectLst/>
                        </a:rPr>
                        <a:t>90% </a:t>
                      </a:r>
                      <a:r>
                        <a:rPr lang="en-US" b="0">
                          <a:effectLst/>
                        </a:rPr>
                        <a:t>I/O）</a:t>
                      </a:r>
                      <a:endParaRPr 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78579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>
                          <a:effectLst/>
                        </a:rPr>
                        <a:t>向量化计算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SIMD</a:t>
                      </a:r>
                      <a:r>
                        <a:rPr lang="zh-CN" altLang="en-US" b="0">
                          <a:effectLst/>
                        </a:rPr>
                        <a:t>指令加速</a:t>
                      </a:r>
                      <a:r>
                        <a:rPr lang="en-US" altLang="zh-CN" b="0">
                          <a:effectLst/>
                        </a:rPr>
                        <a:t>8-16</a:t>
                      </a:r>
                      <a:r>
                        <a:rPr lang="zh-CN" altLang="en-US" b="0">
                          <a:effectLst/>
                        </a:rPr>
                        <a:t>倍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53976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>
                          <a:effectLst/>
                        </a:rPr>
                        <a:t>内存预取（</a:t>
                      </a:r>
                      <a:r>
                        <a:rPr lang="en-US" b="0">
                          <a:effectLst/>
                        </a:rPr>
                        <a:t>Prefetching）</a:t>
                      </a:r>
                      <a:endParaRPr 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b="0" dirty="0">
                          <a:effectLst/>
                        </a:rPr>
                        <a:t>减少</a:t>
                      </a:r>
                      <a:r>
                        <a:rPr lang="en-US" altLang="zh-CN" b="0" dirty="0">
                          <a:effectLst/>
                        </a:rPr>
                        <a:t>CPU</a:t>
                      </a:r>
                      <a:r>
                        <a:rPr lang="zh-CN" altLang="en-US" b="0" dirty="0">
                          <a:effectLst/>
                        </a:rPr>
                        <a:t>等待数据时间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28880427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3461836-1B7D-6284-D95B-D7D5A93714C7}"/>
              </a:ext>
            </a:extLst>
          </p:cNvPr>
          <p:cNvSpPr txBox="1"/>
          <p:nvPr/>
        </p:nvSpPr>
        <p:spPr>
          <a:xfrm>
            <a:off x="939800" y="1940967"/>
            <a:ext cx="6540500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场景​​：计算1亿条订单的总金额（SUM(price)）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D3244F-3649-754C-7390-5614D2B95FE7}"/>
              </a:ext>
            </a:extLst>
          </p:cNvPr>
          <p:cNvSpPr txBox="1"/>
          <p:nvPr/>
        </p:nvSpPr>
        <p:spPr>
          <a:xfrm>
            <a:off x="939800" y="4745678"/>
            <a:ext cx="6096000" cy="144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性能对比​​：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​​逐行计算​​：~5秒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​​向量化优化​​：~0.3秒（​​提速16倍​​）</a:t>
            </a:r>
          </a:p>
        </p:txBody>
      </p:sp>
    </p:spTree>
    <p:extLst>
      <p:ext uri="{BB962C8B-B14F-4D97-AF65-F5344CB8AC3E}">
        <p14:creationId xmlns:p14="http://schemas.microsoft.com/office/powerpoint/2010/main" val="2796857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82B5-331D-FCF5-BDDF-70501BD8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4AFA3A7-A103-EC25-1373-EA160AA00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2B71F18-AD5C-BD10-22A3-4606514972C5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逐行计算 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</a:t>
            </a: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批量向量化计算</a:t>
            </a:r>
            <a:endParaRPr lang="en-US" sz="3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28CFADB-0B3D-AFBF-B1B7-38BFB4C1C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069860"/>
              </p:ext>
            </p:extLst>
          </p:nvPr>
        </p:nvGraphicFramePr>
        <p:xfrm>
          <a:off x="685800" y="1901984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68650">
                  <a:extLst>
                    <a:ext uri="{9D8B030D-6E8A-4147-A177-3AD203B41FA5}">
                      <a16:colId xmlns:a16="http://schemas.microsoft.com/office/drawing/2014/main" val="3860949242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363232219"/>
                    </a:ext>
                  </a:extLst>
                </a:gridCol>
                <a:gridCol w="3670300">
                  <a:extLst>
                    <a:ext uri="{9D8B030D-6E8A-4147-A177-3AD203B41FA5}">
                      <a16:colId xmlns:a16="http://schemas.microsoft.com/office/drawing/2014/main" val="626950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1" dirty="0">
                          <a:effectLst/>
                        </a:rPr>
                        <a:t>​​</a:t>
                      </a:r>
                      <a:endParaRPr lang="zh-CN" altLang="en-US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b="1" dirty="0">
                          <a:effectLst/>
                        </a:rPr>
                        <a:t>​​MySQL（</a:t>
                      </a:r>
                      <a:r>
                        <a:rPr lang="zh-CN" altLang="en-US" b="1" dirty="0">
                          <a:effectLst/>
                        </a:rPr>
                        <a:t>逐行处理）​​</a:t>
                      </a:r>
                      <a:endParaRPr lang="zh-CN" altLang="en-US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b="1">
                          <a:effectLst/>
                        </a:rPr>
                        <a:t>​​ClickHouse（</a:t>
                      </a:r>
                      <a:r>
                        <a:rPr lang="zh-CN" altLang="en-US" b="1">
                          <a:effectLst/>
                        </a:rPr>
                        <a:t>向量化处理）​​</a:t>
                      </a:r>
                      <a:endParaRPr lang="zh-CN" altLang="en-US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416056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​计算单元​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单行数据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列数据块（每次处理</a:t>
                      </a:r>
                      <a:r>
                        <a:rPr lang="en-US" altLang="zh-CN" b="0">
                          <a:effectLst/>
                        </a:rPr>
                        <a:t>1024-4096</a:t>
                      </a:r>
                      <a:r>
                        <a:rPr lang="zh-CN" altLang="en-US" b="0">
                          <a:effectLst/>
                        </a:rPr>
                        <a:t>行）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63394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b="0">
                          <a:effectLst/>
                        </a:rPr>
                        <a:t>​</a:t>
                      </a:r>
                      <a:r>
                        <a:rPr lang="en-US" b="1">
                          <a:effectLst/>
                        </a:rPr>
                        <a:t>​CPU</a:t>
                      </a:r>
                      <a:r>
                        <a:rPr lang="zh-CN" altLang="en-US" b="1">
                          <a:effectLst/>
                        </a:rPr>
                        <a:t>指令​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单指令单数据（</a:t>
                      </a:r>
                      <a:r>
                        <a:rPr lang="en-US" altLang="zh-CN" b="0" dirty="0">
                          <a:effectLst/>
                        </a:rPr>
                        <a:t>SISD</a:t>
                      </a:r>
                      <a:r>
                        <a:rPr lang="zh-CN" altLang="en-US" b="0" dirty="0">
                          <a:effectLst/>
                        </a:rPr>
                        <a:t>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单指令多数据（</a:t>
                      </a:r>
                      <a:r>
                        <a:rPr lang="en-US" altLang="zh-CN" b="0">
                          <a:effectLst/>
                        </a:rPr>
                        <a:t>SIMD/AVX-512</a:t>
                      </a:r>
                      <a:r>
                        <a:rPr lang="zh-CN" altLang="en-US" b="0">
                          <a:effectLst/>
                        </a:rPr>
                        <a:t>）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402174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​内存效率​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随机访问（高缓存失效）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连续内存访问（缓存命中率</a:t>
                      </a:r>
                      <a:r>
                        <a:rPr lang="en-US" altLang="zh-CN" b="0" dirty="0">
                          <a:effectLst/>
                        </a:rPr>
                        <a:t>&gt;90%</a:t>
                      </a:r>
                      <a:r>
                        <a:rPr lang="zh-CN" altLang="en-US" b="0" dirty="0">
                          <a:effectLst/>
                        </a:rPr>
                        <a:t>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87633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​分支预测​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频繁条件判断（流水线中断）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 dirty="0">
                          <a:effectLst/>
                        </a:rPr>
                        <a:t>无分支循环（</a:t>
                      </a:r>
                      <a:r>
                        <a:rPr lang="en-US" altLang="zh-CN" b="0" dirty="0">
                          <a:effectLst/>
                        </a:rPr>
                        <a:t>CPU</a:t>
                      </a:r>
                      <a:r>
                        <a:rPr lang="zh-CN" altLang="en-US" b="0" dirty="0">
                          <a:effectLst/>
                        </a:rPr>
                        <a:t>流水线满负荷）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76638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b="0">
                          <a:effectLst/>
                        </a:rPr>
                        <a:t>​</a:t>
                      </a:r>
                      <a:r>
                        <a:rPr lang="zh-CN" altLang="en-US" b="1">
                          <a:effectLst/>
                        </a:rPr>
                        <a:t>​典型操作​</a:t>
                      </a:r>
                      <a:r>
                        <a:rPr lang="zh-CN" altLang="en-US" b="0">
                          <a:effectLst/>
                        </a:rPr>
                        <a:t>​</a:t>
                      </a:r>
                      <a:endParaRPr lang="zh-CN" alt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b="0">
                          <a:effectLst/>
                        </a:rPr>
                        <a:t>UPDATE accounts SET balance=...</a:t>
                      </a:r>
                      <a:endParaRPr lang="en-US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b="0" dirty="0">
                          <a:effectLst/>
                        </a:rPr>
                        <a:t>SUM(price) FROM 1</a:t>
                      </a:r>
                      <a:r>
                        <a:rPr lang="zh-CN" altLang="en-US" b="0" dirty="0">
                          <a:effectLst/>
                        </a:rPr>
                        <a:t>亿条订单</a:t>
                      </a:r>
                      <a:endParaRPr lang="zh-CN" altLang="en-US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2978091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586F64D-8BFE-F223-60E7-76FBA9EF9C97}"/>
              </a:ext>
            </a:extLst>
          </p:cNvPr>
          <p:cNvSpPr txBox="1"/>
          <p:nvPr/>
        </p:nvSpPr>
        <p:spPr>
          <a:xfrm>
            <a:off x="827088" y="4653340"/>
            <a:ext cx="6175374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场景​​：计算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亿条订单总金额（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SUM(price)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6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行式</a:t>
            </a:r>
            <a:endParaRPr lang="en-US" altLang="zh-CN" sz="16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逐行读取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  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累加到临时变量  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耗时：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 </a:t>
            </a: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A9E480-B342-0014-6AF4-1B5A3825D3CE}"/>
              </a:ext>
            </a:extLst>
          </p:cNvPr>
          <p:cNvSpPr txBox="1"/>
          <p:nvPr/>
        </p:nvSpPr>
        <p:spPr>
          <a:xfrm>
            <a:off x="4927600" y="5241836"/>
            <a:ext cx="60960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b="1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sz="16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向量化</a:t>
            </a:r>
            <a:endParaRPr lang="en-US" altLang="zh-CN" sz="16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批量加载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列到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  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AVX-512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指令并行求和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个值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  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耗时：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4069524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ABE6-CB34-1A11-B32E-875A7914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7583D26-FAAA-9E24-BB23-BA114FF4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96BC3A5-04FE-BB4E-3307-61655EA44EAF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4A5A5-4B26-36D1-4F94-0D374BBE2B69}"/>
              </a:ext>
            </a:extLst>
          </p:cNvPr>
          <p:cNvSpPr txBox="1"/>
          <p:nvPr/>
        </p:nvSpPr>
        <p:spPr>
          <a:xfrm>
            <a:off x="2340599" y="2905780"/>
            <a:ext cx="8080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向量化操作对硬件资源（如</a:t>
            </a:r>
            <a:r>
              <a:rPr lang="en-US" altLang="zh-CN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缓存）有何要求？</a:t>
            </a:r>
          </a:p>
        </p:txBody>
      </p:sp>
    </p:spTree>
    <p:extLst>
      <p:ext uri="{BB962C8B-B14F-4D97-AF65-F5344CB8AC3E}">
        <p14:creationId xmlns:p14="http://schemas.microsoft.com/office/powerpoint/2010/main" val="2982161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8E33-0675-4CD9-4089-F1858992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0C7EB95-24AA-6448-27BA-CED2BC34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0A048C-DD82-EAA2-239F-552A63A9F9A0}"/>
              </a:ext>
            </a:extLst>
          </p:cNvPr>
          <p:cNvSpPr/>
          <p:nvPr/>
        </p:nvSpPr>
        <p:spPr>
          <a:xfrm>
            <a:off x="1104900" y="2636587"/>
            <a:ext cx="6350000" cy="1778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总结</a:t>
            </a:r>
            <a:endParaRPr lang="en-US" sz="5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D16AB59-D340-574B-11A9-1D6D0305F870}"/>
              </a:ext>
            </a:extLst>
          </p:cNvPr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E41F0A2-34E8-B9D4-252D-721DB3B5F637}"/>
              </a:ext>
            </a:extLst>
          </p:cNvPr>
          <p:cNvSpPr/>
          <p:nvPr/>
        </p:nvSpPr>
        <p:spPr>
          <a:xfrm>
            <a:off x="7226300" y="3438091"/>
            <a:ext cx="4972051" cy="381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9999"/>
              </a:lnSpc>
            </a:pPr>
            <a:r>
              <a:rPr lang="en-US" sz="29999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9999" dirty="0"/>
          </a:p>
        </p:txBody>
      </p:sp>
    </p:spTree>
    <p:extLst>
      <p:ext uri="{BB962C8B-B14F-4D97-AF65-F5344CB8AC3E}">
        <p14:creationId xmlns:p14="http://schemas.microsoft.com/office/powerpoint/2010/main" val="1882402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EBE1-1AC1-EE63-F2EA-DB7F89B3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2180042-A12D-DBB4-0EBE-51E7088F3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5105C14-CD8B-97D0-83BF-D00A020D0CC0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3BBFC6-124E-618C-1A84-FCACD54CE4A3}"/>
              </a:ext>
            </a:extLst>
          </p:cNvPr>
          <p:cNvSpPr txBox="1"/>
          <p:nvPr/>
        </p:nvSpPr>
        <p:spPr>
          <a:xfrm>
            <a:off x="598487" y="2020157"/>
            <a:ext cx="10831513" cy="305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4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sz="24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24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24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互补​​：</a:t>
            </a:r>
            <a:endParaRPr lang="en-US" altLang="zh-CN" sz="24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）​​：高频交易、强一致性（如支付、订单）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）​​：海量分析、实时报表（如用户行为、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​​技术选型取决于业务需求</a:t>
            </a:r>
          </a:p>
        </p:txBody>
      </p:sp>
    </p:spTree>
    <p:extLst>
      <p:ext uri="{BB962C8B-B14F-4D97-AF65-F5344CB8AC3E}">
        <p14:creationId xmlns:p14="http://schemas.microsoft.com/office/powerpoint/2010/main" val="4213864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CC60-A96B-93F6-E120-487F2625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C65133B-F5F6-0BE3-0F58-39F3356B26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9F76DF1-64EC-454A-47D2-71B1E2675E38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709143-2C08-FE73-2DD9-0CB537F2FE93}"/>
              </a:ext>
            </a:extLst>
          </p:cNvPr>
          <p:cNvSpPr txBox="1"/>
          <p:nvPr/>
        </p:nvSpPr>
        <p:spPr>
          <a:xfrm>
            <a:off x="1535092" y="2842280"/>
            <a:ext cx="9182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如果业务需要同时支持交易和分析，架构设计应如何权衡？</a:t>
            </a:r>
          </a:p>
        </p:txBody>
      </p:sp>
    </p:spTree>
    <p:extLst>
      <p:ext uri="{BB962C8B-B14F-4D97-AF65-F5344CB8AC3E}">
        <p14:creationId xmlns:p14="http://schemas.microsoft.com/office/powerpoint/2010/main" val="2624053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619337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数据湖的兴起与挑战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30226" y="2270337"/>
            <a:ext cx="3502023" cy="336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51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数据流分离（</a:t>
            </a:r>
            <a:r>
              <a:rPr lang="en-US" altLang="zh-CN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ETL/CDC</a:t>
            </a:r>
            <a:r>
              <a:rPr lang="zh-CN" alt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管道）</a:t>
            </a: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​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377" y="2765212"/>
            <a:ext cx="4746624" cy="3102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fontAlgn="base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方案​​：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）→ ​​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Kafka​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 → 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ETL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）→ 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优势：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事务与分析完全解耦，各自性能最优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支持近实时同步（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CDC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技术延迟可控制在秒级）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适用场景：</a:t>
            </a:r>
            <a:endParaRPr lang="en-US" altLang="zh-CN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电商交易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实时大屏分析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银行核心系统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+T+1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</a:t>
            </a:r>
            <a:endParaRPr lang="en-US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2BBAD5-4E31-E079-0F9D-D38B95BCDCEE}"/>
              </a:ext>
            </a:extLst>
          </p:cNvPr>
          <p:cNvSpPr txBox="1"/>
          <p:nvPr/>
        </p:nvSpPr>
        <p:spPr>
          <a:xfrm>
            <a:off x="6575425" y="2931004"/>
            <a:ext cx="5029198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inherit"/>
              </a:rPr>
              <a:t>​</a:t>
            </a:r>
            <a:r>
              <a:rPr lang="zh-CN" altLang="en-US" b="1" i="0" dirty="0">
                <a:effectLst/>
                <a:latin typeface="PingFang SC"/>
              </a:rPr>
              <a:t>​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​​方案​​：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主库（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处理写请求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从库（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OLAP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只读副本或列式存储（如</a:t>
            </a:r>
            <a:r>
              <a:rPr lang="en-US" altLang="zh-CN" sz="1600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​​优势​​：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简单易实现，成本低</a:t>
            </a:r>
            <a:endParaRPr lang="en-US" altLang="zh-CN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分析查询可能影响主库性能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适用​​场景：</a:t>
            </a:r>
            <a:endParaRPr lang="en-US" altLang="zh-CN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中小业务快速起步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5CCCF0-AE51-D9AD-F46F-2AB2164E5ECC}"/>
              </a:ext>
            </a:extLst>
          </p:cNvPr>
          <p:cNvSpPr txBox="1"/>
          <p:nvPr/>
        </p:nvSpPr>
        <p:spPr>
          <a:xfrm>
            <a:off x="6575425" y="2253946"/>
            <a:ext cx="6381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读写分离（主从架构</a:t>
            </a:r>
            <a:r>
              <a:rPr lang="zh-CN" altLang="en-US" sz="2000" b="1" i="0" dirty="0">
                <a:effectLst/>
                <a:latin typeface="inherit"/>
              </a:rPr>
              <a:t>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86051"/>
            <a:ext cx="10668000" cy="889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5000" dirty="0"/>
          </a:p>
        </p:txBody>
      </p:sp>
      <p:sp>
        <p:nvSpPr>
          <p:cNvPr id="4" name="Shape 1"/>
          <p:cNvSpPr/>
          <p:nvPr/>
        </p:nvSpPr>
        <p:spPr>
          <a:xfrm>
            <a:off x="762000" y="4019551"/>
            <a:ext cx="806451" cy="1524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2413</Words>
  <Application>Microsoft Office PowerPoint</Application>
  <PresentationFormat>宽屏</PresentationFormat>
  <Paragraphs>271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inherit</vt:lpstr>
      <vt:lpstr>Microsoft YaHei Light</vt:lpstr>
      <vt:lpstr>PingFang SC</vt:lpstr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beijiamiao@gmail.com</dc:creator>
  <cp:lastModifiedBy>beijiamiao@gmail.com</cp:lastModifiedBy>
  <cp:revision>4</cp:revision>
  <dcterms:created xsi:type="dcterms:W3CDTF">2025-05-12T09:32:27Z</dcterms:created>
  <dcterms:modified xsi:type="dcterms:W3CDTF">2025-05-12T16:25:58Z</dcterms:modified>
</cp:coreProperties>
</file>