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80" r:id="rId3"/>
    <p:sldId id="258" r:id="rId4"/>
    <p:sldId id="279" r:id="rId5"/>
    <p:sldId id="285" r:id="rId6"/>
    <p:sldId id="292" r:id="rId7"/>
    <p:sldId id="293" r:id="rId8"/>
    <p:sldId id="300" r:id="rId9"/>
    <p:sldId id="301" r:id="rId10"/>
    <p:sldId id="302" r:id="rId11"/>
    <p:sldId id="294" r:id="rId12"/>
    <p:sldId id="283" r:id="rId13"/>
    <p:sldId id="282" r:id="rId14"/>
    <p:sldId id="275" r:id="rId15"/>
    <p:sldId id="286" r:id="rId16"/>
    <p:sldId id="281" r:id="rId17"/>
    <p:sldId id="288" r:id="rId18"/>
    <p:sldId id="291" r:id="rId19"/>
    <p:sldId id="295" r:id="rId20"/>
    <p:sldId id="259" r:id="rId21"/>
    <p:sldId id="260" r:id="rId22"/>
    <p:sldId id="296" r:id="rId23"/>
    <p:sldId id="276" r:id="rId24"/>
    <p:sldId id="297" r:id="rId25"/>
    <p:sldId id="298" r:id="rId26"/>
    <p:sldId id="299" r:id="rId27"/>
    <p:sldId id="277" r:id="rId28"/>
    <p:sldId id="303" r:id="rId29"/>
    <p:sldId id="304" r:id="rId30"/>
    <p:sldId id="305"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4B08E2-5007-4112-AEC1-4483611B1375}" v="37" dt="2025-05-19T12:09:15.317"/>
  </p1510:revLst>
</p1510:revInfo>
</file>

<file path=ppt/tableStyles.xml><?xml version="1.0" encoding="utf-8"?>
<a:tblStyleLst xmlns:a="http://schemas.openxmlformats.org/drawingml/2006/main" def="{5C22544A-7EE6-4342-B048-85BDC9FD1C3A}">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6FEE44-B1AB-4DA5-A748-804FDDE28644}" type="datetimeFigureOut">
              <a:rPr lang="zh-CN" altLang="en-US" smtClean="0"/>
              <a:t>2025/5/22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6F32A-D951-4B70-85BF-2BDE2C3717CD}" type="slidenum">
              <a:rPr lang="zh-CN" altLang="en-US" smtClean="0"/>
              <a:t>‹#›</a:t>
            </a:fld>
            <a:endParaRPr lang="zh-CN" altLang="en-US"/>
          </a:p>
        </p:txBody>
      </p:sp>
    </p:spTree>
    <p:extLst>
      <p:ext uri="{BB962C8B-B14F-4D97-AF65-F5344CB8AC3E}">
        <p14:creationId xmlns:p14="http://schemas.microsoft.com/office/powerpoint/2010/main" val="2232483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5811A-FDB8-36E3-B701-0235D0B11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283D5-F5E0-9E6A-B299-40A7B840E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111D0-7131-F085-C646-43F3152FA2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DAE67D-E4B9-9B9E-6F3C-DD48DB1BE60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9017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DD329-1D3F-8AA7-25B2-51676041C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612B4-08E7-581E-6C9C-4185A8012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ECCB3-C652-A8C3-CC70-F596B39B87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1A84ED-07B0-7498-2B89-1B6C98F84F4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2136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35F76-BE19-BBDB-C2B5-3D35555846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C521F-2AB7-AB2A-85BE-4E40C7455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B3C42-8F0C-9AB2-153C-0A4EFCC63D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5D7E8E-74F3-A9E0-51BE-5CEC99491A8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4858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2E93E-A15F-7010-755D-D4DB04BA8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DE20C-3D31-078E-ADAE-74C520F5E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A3DEB-A87B-1F9D-4562-81EA173AB7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8A920-9FD4-9DDB-070B-C532F7F1680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57179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C292-FAE5-4A22-B9F1-FC200A556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C43C1-EB75-3D09-4142-E16BAAFAE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33460-7F95-4571-DEB0-10B21471F4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59D0F-F63B-40C7-69CC-627737CBA51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93289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B6116-130B-A645-6634-600101545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5E2E4-521A-DFA6-797E-19BBA485B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C9C34-32BB-FE22-72BF-B5283E41F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0AF7D-7957-D062-8CB0-95A7CCB29A5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21241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7A300-D8BA-D795-BF75-AC23A4EDB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815D5-7E36-127E-13A2-2447B2696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9C0B5-7128-53CF-B87A-FC8574C1B7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98DC70-C097-61BB-9752-568216475DC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1221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AC89B-3215-516F-8896-FE5E99A38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1C1F8-8801-6359-8ED6-2D9421842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75FAC-54CF-A70C-C6CB-FDAECB672D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81F94-4B02-B09C-4A91-13B5AE53922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33387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14B03-D96A-4794-8EFA-D31EFE240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2CAC8-E4B2-002E-B6AD-3BF645D370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F4FB6-0679-9F7E-8F4D-13ECA4C0AD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422391-A76E-D950-EA24-52B35D1F5F8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75713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026C9-3432-152B-3CC4-9FB241DD0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C9160-D106-79F1-D8E1-CFE6C60CF8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BEB3B-CD43-FAE0-6D75-FA911B6EA7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CA5633-D936-1BEA-C191-B1FF89D0BF5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8393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5775-483E-3627-CE09-B0F477EA8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81F6F-81C8-31C5-3784-ABD1D68FD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54739-DB4A-8F51-2C2F-D80358D3D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D0CD68-2681-DBDE-A0D0-54992AE4152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40060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464F6-6127-FC4F-439D-14CC206F1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7C14B-3952-3CC9-8378-B04B074DA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5BD12-3D33-3D08-4029-840DE6A27E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285EF9-85A9-4295-8CED-F760EA5AFBE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69342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86226-14FB-1268-DBF1-629611687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9C9FE-634F-CE98-0B04-AAFCE9F0C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B0515-616C-123F-5276-ED2D5BB164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090D08-8A82-9656-2EA6-C61B8C95CD1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13651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4F391-D466-E2B0-FB3B-3AF451932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A408F-EDA0-A82E-4596-67CC54E3C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47976-DEFB-9934-11AC-B78CFA4023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211F70-415F-42F6-B5CB-8EBEB4FF005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52342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46F9-90DA-FFA9-ECEA-3046B8823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B5F64-34C0-F04D-1649-336D39B9A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0E7A1-4114-D1E7-AC19-471EBC32AA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31695B-11EF-43B6-CDDA-B6D192BE7AA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50850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FB07A-EEBB-CF6F-C9E0-085D49E97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379F5-89C2-F936-5E99-571DB9AAF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EE016-8BE4-BBB2-4B0B-B2E9097053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2D57CB-1B01-1E5A-8325-A8ABCFDF750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94446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D4391-358A-3DDC-C0E7-9811BDFA4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241C0-FD01-C8AA-96CE-64BCD0F41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103CB-83E7-6DFC-6D41-E41F4D41BE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DDDB7-6891-0D7F-F04E-4FBE1BCAC7E0}"/>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584954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7E455-42C1-4019-DD36-4090407AB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99DF0-22EA-E0A2-9F51-868371275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177BE-ED66-814B-5FDD-BA97DDB937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29F9B2-F031-B189-7044-1112F25DB49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90575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F870B-A8B6-51EB-ACA5-5FD1FFADC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EC75E-62B0-470A-4E13-63F0B04E8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19C5B-2D97-7C7C-2B6F-4649675962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7A7709-8080-4DD3-EC01-E32BC252EF7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2453618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0C87-36AC-281D-8705-2F35E3D46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0E75F-E041-E918-91CA-E593E9958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9E925-BAD4-B308-EA8C-8161ACEDE2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7C48D0-2931-9D3D-5E0E-4BE76972E6C8}"/>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2865701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E7D6-FE44-55C2-1786-8E3B9432E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31244-DB1F-7FE6-6206-FAAA1C3C6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606C3-E256-0061-76C1-FE7B9B3E5C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19CCDF-3712-3631-D749-7B1B6F31983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886189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B7F89-F3FE-20CB-4921-E967C5371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D971C-2164-C4C6-462F-2B29F03E7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3C0DE0-95DF-BC0F-9640-61548CEC60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3D706E-6777-8D5A-BC3E-5281B6563735}"/>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414257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18B1E-41B4-116D-4B43-80DBCC42F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BBC3A-C0C5-45ED-B0C2-550D65BDA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DE8B9-F366-4EBA-568E-4908C9E48B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BDC2E7-2C08-BB78-60D9-BD7AEBCDC39F}"/>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336088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CA6A-FCB0-B1C0-98F5-F11EF9C48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424D1-75E5-8E38-00E1-FE6129081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4564C-F232-4FBB-7C9D-57D8475C6C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5FD999-EF69-6F7D-967F-B9D26B674B3C}"/>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838677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717CDD-CD61-65F2-8DA4-BE41749C890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155F6B1-48F1-30DB-BB68-EB062E5D6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F1F3FB8-15C0-3E1E-41CC-3EC2AFFBB221}"/>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5" name="页脚占位符 4">
            <a:extLst>
              <a:ext uri="{FF2B5EF4-FFF2-40B4-BE49-F238E27FC236}">
                <a16:creationId xmlns:a16="http://schemas.microsoft.com/office/drawing/2014/main" id="{3B0A2A32-48B4-AEC5-77D1-C381E03C3A2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03D3FD-80EE-771C-97CB-A94160A20BCD}"/>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1409938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44CDA4-07CA-38AD-28DD-49F75916C60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4E39A3E-60A4-0EAF-3CF2-B6666C8669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5EDEDBD-3CEA-4353-62BE-3714A69282E6}"/>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5" name="页脚占位符 4">
            <a:extLst>
              <a:ext uri="{FF2B5EF4-FFF2-40B4-BE49-F238E27FC236}">
                <a16:creationId xmlns:a16="http://schemas.microsoft.com/office/drawing/2014/main" id="{5867271F-1211-D8F9-7E1E-C82340A1B0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24000A-0FAF-A58E-1810-BA0E8B1BD058}"/>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188263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51C96D-02E4-4A14-7FDC-4C486EAA8AF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EB4C83D-D194-D479-5314-AE19BEC80F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23CBF4B-5A64-0C7D-1D87-CF7C59976D56}"/>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5" name="页脚占位符 4">
            <a:extLst>
              <a:ext uri="{FF2B5EF4-FFF2-40B4-BE49-F238E27FC236}">
                <a16:creationId xmlns:a16="http://schemas.microsoft.com/office/drawing/2014/main" id="{97D7C38F-8D58-7647-6B62-A2BAED27D0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01FFAC-8D0E-5890-3625-0C0022A2AA8F}"/>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1427245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63E7B3-4B2B-7C44-2993-1F5E54FF367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52F07C-90C8-AD2C-62A0-AD708A82E09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D1AC2A-70E3-0E59-AA88-1BD7E7B4E0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D00CF54-705B-CFDC-2FE2-4B598809E312}"/>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6" name="页脚占位符 5">
            <a:extLst>
              <a:ext uri="{FF2B5EF4-FFF2-40B4-BE49-F238E27FC236}">
                <a16:creationId xmlns:a16="http://schemas.microsoft.com/office/drawing/2014/main" id="{C62291C0-5676-58E2-99E1-61D62CF72FB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FF511FC-BB59-AD22-CBA7-EFB776C69C3E}"/>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3085211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2A7BD8-808F-86F5-5C04-70617949BFB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8550679-7E95-B2FE-FAFE-C3BF63D491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799AF04-DCC6-6625-31E7-6DABD0EAE80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1F5A50C-AE0C-BBA0-0363-34176C0AE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0500346-4C49-CE3A-2399-123BA86ABE9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1B5B70-D14B-003F-9E25-BFCCD2C6AF6C}"/>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8" name="页脚占位符 7">
            <a:extLst>
              <a:ext uri="{FF2B5EF4-FFF2-40B4-BE49-F238E27FC236}">
                <a16:creationId xmlns:a16="http://schemas.microsoft.com/office/drawing/2014/main" id="{5247C878-2A96-6F67-A008-D0086A5288B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CA8B9D8-A526-0BF6-A99D-A8EE522CE715}"/>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296390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383EFE-6FC9-07C9-B065-59BD866960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4DF11B-882E-2878-4EA0-8359319D0A7C}"/>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4" name="页脚占位符 3">
            <a:extLst>
              <a:ext uri="{FF2B5EF4-FFF2-40B4-BE49-F238E27FC236}">
                <a16:creationId xmlns:a16="http://schemas.microsoft.com/office/drawing/2014/main" id="{D39BA849-70CD-C14C-9103-71B824E5DFB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583E398-7B17-3EED-BA39-741D5B2530C1}"/>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64129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5BB83A2-7009-ED02-B2D1-F0B1DE2BF28A}"/>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3" name="页脚占位符 2">
            <a:extLst>
              <a:ext uri="{FF2B5EF4-FFF2-40B4-BE49-F238E27FC236}">
                <a16:creationId xmlns:a16="http://schemas.microsoft.com/office/drawing/2014/main" id="{E9780E16-A21C-AB7C-45EC-31891FDB778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1564C07-F07E-B4D8-9B75-47DB841DDC4B}"/>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3598460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BDEA0F-C18A-5F94-2365-F414417C36D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66534ED-9B79-693A-F793-FCAAEE3D4E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01A98DB-B372-C9FA-A716-0E7F49499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9E30F53-DB4B-58CF-17C0-FC06958A1F00}"/>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6" name="页脚占位符 5">
            <a:extLst>
              <a:ext uri="{FF2B5EF4-FFF2-40B4-BE49-F238E27FC236}">
                <a16:creationId xmlns:a16="http://schemas.microsoft.com/office/drawing/2014/main" id="{806E07A1-92F1-E5C0-EB32-366E24D720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AD9585E-6E51-8CC6-9B09-4FC63F2E51F0}"/>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133384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4F8FA-6F31-545B-F236-8C95B83CF4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AC9BC90-9D4E-77EF-F769-B1A37C9AF8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7ED108A-45D1-39D8-FDF8-C4C02B096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0204F77-0BD2-BF02-B1B9-2B1969A2E5A7}"/>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6" name="页脚占位符 5">
            <a:extLst>
              <a:ext uri="{FF2B5EF4-FFF2-40B4-BE49-F238E27FC236}">
                <a16:creationId xmlns:a16="http://schemas.microsoft.com/office/drawing/2014/main" id="{2CDBA3AA-46DA-4714-99A1-001835E794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ECDDD7-85A0-0A7A-B836-3C3390256CDA}"/>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4138407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E8A56-A1C3-3D1D-C928-80E4C1324B8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BB65FBE-1B42-B95F-DBB9-FD0DB9F25AF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0A5ECA-4A5F-1CE7-C005-86EF7056D4CE}"/>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5" name="页脚占位符 4">
            <a:extLst>
              <a:ext uri="{FF2B5EF4-FFF2-40B4-BE49-F238E27FC236}">
                <a16:creationId xmlns:a16="http://schemas.microsoft.com/office/drawing/2014/main" id="{486D774F-BDBB-394F-FA0A-511E3BCCBB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19A8F6-DD0F-BB78-23FE-5054B3972708}"/>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2941049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03DB676-BAF7-AB7A-BA66-819596052A0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4C2434-CEF6-D1C1-F9F5-50E1EEB2078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E5EA4D-5AB8-DBD8-999B-5570AB6870B5}"/>
              </a:ext>
            </a:extLst>
          </p:cNvPr>
          <p:cNvSpPr>
            <a:spLocks noGrp="1"/>
          </p:cNvSpPr>
          <p:nvPr>
            <p:ph type="dt" sz="half" idx="10"/>
          </p:nvPr>
        </p:nvSpPr>
        <p:spPr/>
        <p:txBody>
          <a:bodyPr/>
          <a:lstStyle/>
          <a:p>
            <a:fld id="{8831708F-DA6B-4781-B3B9-F548D71D0E6B}" type="datetimeFigureOut">
              <a:rPr lang="zh-CN" altLang="en-US" smtClean="0"/>
              <a:t>2025/5/22</a:t>
            </a:fld>
            <a:endParaRPr lang="zh-CN" altLang="en-US"/>
          </a:p>
        </p:txBody>
      </p:sp>
      <p:sp>
        <p:nvSpPr>
          <p:cNvPr id="5" name="页脚占位符 4">
            <a:extLst>
              <a:ext uri="{FF2B5EF4-FFF2-40B4-BE49-F238E27FC236}">
                <a16:creationId xmlns:a16="http://schemas.microsoft.com/office/drawing/2014/main" id="{2307456E-1AFB-A7A5-AE89-DC59CF5AEC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0B591B-8EB1-7672-1AE4-D64CE9E767EA}"/>
              </a:ext>
            </a:extLst>
          </p:cNvPr>
          <p:cNvSpPr>
            <a:spLocks noGrp="1"/>
          </p:cNvSpPr>
          <p:nvPr>
            <p:ph type="sldNum" sz="quarter" idx="12"/>
          </p:nvPr>
        </p:nvSpPr>
        <p:spPr/>
        <p:txBody>
          <a:body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1336111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88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D019541-D2A3-7554-76CD-BD60A4031F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A9CC23C-CCE1-1530-CDBC-AC7D394326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C60777-C3F8-BCD1-0DCE-6DDF93BF27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31708F-DA6B-4781-B3B9-F548D71D0E6B}" type="datetimeFigureOut">
              <a:rPr lang="zh-CN" altLang="en-US" smtClean="0"/>
              <a:t>2025/5/22</a:t>
            </a:fld>
            <a:endParaRPr lang="zh-CN" altLang="en-US"/>
          </a:p>
        </p:txBody>
      </p:sp>
      <p:sp>
        <p:nvSpPr>
          <p:cNvPr id="5" name="页脚占位符 4">
            <a:extLst>
              <a:ext uri="{FF2B5EF4-FFF2-40B4-BE49-F238E27FC236}">
                <a16:creationId xmlns:a16="http://schemas.microsoft.com/office/drawing/2014/main" id="{32B5FCAC-A513-756A-EFF3-CD0B32BD9D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C53A698-0CEE-D1FF-8B50-F7A8599047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149A94-61BA-465B-880C-1B7262859523}" type="slidenum">
              <a:rPr lang="zh-CN" altLang="en-US" smtClean="0"/>
              <a:t>‹#›</a:t>
            </a:fld>
            <a:endParaRPr lang="zh-CN" altLang="en-US"/>
          </a:p>
        </p:txBody>
      </p:sp>
    </p:spTree>
    <p:extLst>
      <p:ext uri="{BB962C8B-B14F-4D97-AF65-F5344CB8AC3E}">
        <p14:creationId xmlns:p14="http://schemas.microsoft.com/office/powerpoint/2010/main" val="1063934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29456" y="2540000"/>
            <a:ext cx="2588301" cy="889000"/>
          </a:xfrm>
          <a:prstGeom prst="rect">
            <a:avLst/>
          </a:prstGeom>
          <a:noFill/>
          <a:ln/>
        </p:spPr>
        <p:txBody>
          <a:bodyPr vert="horz" wrap="square" lIns="0" tIns="0" rIns="0" bIns="0" rtlCol="0" anchor="ctr"/>
          <a:lstStyle/>
          <a:p>
            <a:pPr>
              <a:lnSpc>
                <a:spcPts val="7000"/>
              </a:lnSpc>
            </a:pPr>
            <a:r>
              <a:rPr lang="zh-CN" altLang="en-US" sz="5000" b="1" dirty="0">
                <a:solidFill>
                  <a:srgbClr val="000000"/>
                </a:solidFill>
                <a:latin typeface="Microsoft YaHei" pitchFamily="34" charset="0"/>
                <a:ea typeface="Microsoft YaHei" pitchFamily="34" charset="-122"/>
                <a:cs typeface="Microsoft YaHei" pitchFamily="34" charset="-120"/>
              </a:rPr>
              <a:t>数据湖</a:t>
            </a:r>
            <a:endParaRPr lang="en-US" sz="5000" dirty="0"/>
          </a:p>
        </p:txBody>
      </p:sp>
      <p:sp>
        <p:nvSpPr>
          <p:cNvPr id="5" name="Shape 2"/>
          <p:cNvSpPr/>
          <p:nvPr/>
        </p:nvSpPr>
        <p:spPr>
          <a:xfrm>
            <a:off x="762000" y="3968751"/>
            <a:ext cx="806451" cy="152400"/>
          </a:xfrm>
          <a:prstGeom prst="rect">
            <a:avLst/>
          </a:prstGeom>
          <a:solidFill>
            <a:srgbClr val="000000"/>
          </a:solidFill>
          <a:ln/>
        </p:spPr>
      </p:sp>
      <p:sp>
        <p:nvSpPr>
          <p:cNvPr id="6" name="Text 3"/>
          <p:cNvSpPr/>
          <p:nvPr/>
        </p:nvSpPr>
        <p:spPr>
          <a:xfrm>
            <a:off x="762000" y="4565651"/>
            <a:ext cx="10668000" cy="292100"/>
          </a:xfrm>
          <a:prstGeom prst="rect">
            <a:avLst/>
          </a:prstGeom>
          <a:noFill/>
          <a:ln/>
        </p:spPr>
        <p:txBody>
          <a:bodyPr vert="horz" wrap="square" lIns="0" tIns="0" rIns="0" bIns="0" rtlCol="0" anchor="ctr"/>
          <a:lstStyle/>
          <a:p>
            <a:pPr>
              <a:lnSpc>
                <a:spcPts val="2300"/>
              </a:lnSpc>
            </a:pPr>
            <a:r>
              <a:rPr lang="zh-CN" altLang="en-US" sz="1867" dirty="0">
                <a:solidFill>
                  <a:srgbClr val="000000"/>
                </a:solidFill>
                <a:latin typeface="Microsoft YaHei" pitchFamily="34" charset="0"/>
                <a:ea typeface="Microsoft YaHei" pitchFamily="34" charset="-122"/>
                <a:cs typeface="Microsoft YaHei" pitchFamily="34" charset="-120"/>
              </a:rPr>
              <a:t>量潮科技 张果</a:t>
            </a:r>
            <a:endParaRPr lang="en-US" sz="18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a:stretch/>
        </p:blipFill>
        <p:spPr>
          <a:xfrm>
            <a:off x="0" y="0"/>
            <a:ext cx="3937000" cy="6858000"/>
          </a:xfrm>
          <a:prstGeom prst="rect">
            <a:avLst/>
          </a:prstGeom>
        </p:spPr>
      </p:pic>
      <p:sp>
        <p:nvSpPr>
          <p:cNvPr id="4" name="Text 1"/>
          <p:cNvSpPr/>
          <p:nvPr/>
        </p:nvSpPr>
        <p:spPr>
          <a:xfrm>
            <a:off x="603251" y="802852"/>
            <a:ext cx="2476500" cy="889000"/>
          </a:xfrm>
          <a:prstGeom prst="rect">
            <a:avLst/>
          </a:prstGeom>
          <a:noFill/>
          <a:ln/>
        </p:spPr>
        <p:txBody>
          <a:bodyPr vert="horz" wrap="square" lIns="0" tIns="0" rIns="0" bIns="0" rtlCol="0" anchor="ctr"/>
          <a:lstStyle/>
          <a:p>
            <a:pPr>
              <a:lnSpc>
                <a:spcPts val="7000"/>
              </a:lnSpc>
            </a:pPr>
            <a:r>
              <a:rPr lang="en-US" sz="5000" b="1" dirty="0">
                <a:solidFill>
                  <a:srgbClr val="000000"/>
                </a:solidFill>
                <a:latin typeface="Microsoft YaHei" pitchFamily="34" charset="0"/>
                <a:ea typeface="Microsoft YaHei" pitchFamily="34" charset="-122"/>
                <a:cs typeface="Microsoft YaHei" pitchFamily="34" charset="-120"/>
              </a:rPr>
              <a:t>content</a:t>
            </a:r>
            <a:endParaRPr lang="en-US" sz="5000" dirty="0"/>
          </a:p>
        </p:txBody>
      </p:sp>
      <p:sp>
        <p:nvSpPr>
          <p:cNvPr id="5" name="Text 2"/>
          <p:cNvSpPr/>
          <p:nvPr/>
        </p:nvSpPr>
        <p:spPr>
          <a:xfrm>
            <a:off x="666751" y="1686349"/>
            <a:ext cx="2413000" cy="533400"/>
          </a:xfrm>
          <a:prstGeom prst="rect">
            <a:avLst/>
          </a:prstGeom>
          <a:noFill/>
          <a:ln/>
        </p:spPr>
        <p:txBody>
          <a:bodyPr vert="horz" wrap="square" lIns="0" tIns="0" rIns="0" bIns="0" rtlCol="0" anchor="ctr"/>
          <a:lstStyle/>
          <a:p>
            <a:pPr>
              <a:lnSpc>
                <a:spcPts val="4200"/>
              </a:lnSpc>
            </a:pPr>
            <a:r>
              <a:rPr lang="en-US" sz="3000" dirty="0">
                <a:solidFill>
                  <a:srgbClr val="000000"/>
                </a:solidFill>
                <a:latin typeface="Microsoft YaHei" pitchFamily="34" charset="0"/>
                <a:ea typeface="Microsoft YaHei" pitchFamily="34" charset="-122"/>
                <a:cs typeface="Microsoft YaHei" pitchFamily="34" charset="-120"/>
              </a:rPr>
              <a:t>目录</a:t>
            </a:r>
            <a:endParaRPr lang="en-US" sz="3000" dirty="0"/>
          </a:p>
        </p:txBody>
      </p:sp>
      <p:sp>
        <p:nvSpPr>
          <p:cNvPr id="6" name="Text 3"/>
          <p:cNvSpPr/>
          <p:nvPr/>
        </p:nvSpPr>
        <p:spPr>
          <a:xfrm>
            <a:off x="4699001" y="1787526"/>
            <a:ext cx="469900" cy="444500"/>
          </a:xfrm>
          <a:prstGeom prst="rect">
            <a:avLst/>
          </a:prstGeom>
          <a:noFill/>
          <a:ln/>
        </p:spPr>
        <p:txBody>
          <a:bodyPr vert="horz" wrap="square" lIns="0" tIns="0" rIns="0" bIns="0" rtlCol="0" anchor="ctr"/>
          <a:lstStyle/>
          <a:p>
            <a:pPr>
              <a:lnSpc>
                <a:spcPts val="4051"/>
              </a:lnSpc>
            </a:pPr>
            <a:r>
              <a:rPr lang="en-US" sz="2800" b="1" dirty="0">
                <a:solidFill>
                  <a:srgbClr val="4784CB"/>
                </a:solidFill>
                <a:latin typeface="Microsoft YaHei" pitchFamily="34" charset="0"/>
                <a:ea typeface="Microsoft YaHei" pitchFamily="34" charset="-122"/>
                <a:cs typeface="Microsoft YaHei" pitchFamily="34" charset="-120"/>
              </a:rPr>
              <a:t>01</a:t>
            </a:r>
            <a:endParaRPr lang="en-US" sz="2800" dirty="0"/>
          </a:p>
        </p:txBody>
      </p:sp>
      <p:sp>
        <p:nvSpPr>
          <p:cNvPr id="7" name="Text 4"/>
          <p:cNvSpPr/>
          <p:nvPr/>
        </p:nvSpPr>
        <p:spPr>
          <a:xfrm>
            <a:off x="5646557" y="1946275"/>
            <a:ext cx="6108700" cy="279400"/>
          </a:xfrm>
          <a:prstGeom prst="rect">
            <a:avLst/>
          </a:prstGeom>
          <a:noFill/>
          <a:ln/>
        </p:spPr>
        <p:txBody>
          <a:bodyPr vert="horz" wrap="square" lIns="0" tIns="0" rIns="0" bIns="0" rtlCol="0" anchor="ctr"/>
          <a:lstStyle/>
          <a:p>
            <a:pPr>
              <a:lnSpc>
                <a:spcPts val="2200"/>
              </a:lnSpc>
            </a:pPr>
            <a:r>
              <a:rPr lang="zh-CN" altLang="en-US" sz="2400" b="1" dirty="0">
                <a:solidFill>
                  <a:srgbClr val="000000"/>
                </a:solidFill>
                <a:latin typeface="Microsoft YaHei" pitchFamily="34" charset="0"/>
                <a:ea typeface="Microsoft YaHei" pitchFamily="34" charset="-122"/>
                <a:cs typeface="Microsoft YaHei" pitchFamily="34" charset="-120"/>
              </a:rPr>
              <a:t>对象存储 </a:t>
            </a:r>
            <a:r>
              <a:rPr lang="en-US" altLang="zh-CN" sz="2400" b="1" dirty="0">
                <a:solidFill>
                  <a:srgbClr val="000000"/>
                </a:solidFill>
                <a:latin typeface="Microsoft YaHei" pitchFamily="34" charset="0"/>
                <a:ea typeface="Microsoft YaHei" pitchFamily="34" charset="-122"/>
                <a:cs typeface="Microsoft YaHei" pitchFamily="34" charset="-120"/>
              </a:rPr>
              <a:t>vs </a:t>
            </a:r>
            <a:r>
              <a:rPr lang="zh-CN" altLang="en-US" sz="2400" b="1" dirty="0">
                <a:solidFill>
                  <a:srgbClr val="000000"/>
                </a:solidFill>
                <a:latin typeface="Microsoft YaHei" pitchFamily="34" charset="0"/>
                <a:ea typeface="Microsoft YaHei" pitchFamily="34" charset="-122"/>
                <a:cs typeface="Microsoft YaHei" pitchFamily="34" charset="-120"/>
              </a:rPr>
              <a:t>文件存储</a:t>
            </a:r>
            <a:endParaRPr lang="en-US" sz="2400" dirty="0"/>
          </a:p>
        </p:txBody>
      </p:sp>
      <p:sp>
        <p:nvSpPr>
          <p:cNvPr id="8" name="Text 5"/>
          <p:cNvSpPr/>
          <p:nvPr/>
        </p:nvSpPr>
        <p:spPr>
          <a:xfrm>
            <a:off x="5321301" y="1743075"/>
            <a:ext cx="6108700" cy="279400"/>
          </a:xfrm>
          <a:prstGeom prst="rect">
            <a:avLst/>
          </a:prstGeom>
          <a:noFill/>
          <a:ln/>
        </p:spPr>
        <p:txBody>
          <a:bodyPr vert="horz" wrap="square" lIns="0" tIns="0" rIns="0" bIns="0" rtlCol="0" anchor="ctr"/>
          <a:lstStyle/>
          <a:p>
            <a:pPr>
              <a:lnSpc>
                <a:spcPts val="2200"/>
              </a:lnSpc>
            </a:pPr>
            <a:endParaRPr lang="en-US" sz="1400" dirty="0"/>
          </a:p>
        </p:txBody>
      </p:sp>
      <p:sp>
        <p:nvSpPr>
          <p:cNvPr id="9" name="Text 6"/>
          <p:cNvSpPr/>
          <p:nvPr/>
        </p:nvSpPr>
        <p:spPr>
          <a:xfrm>
            <a:off x="4699001" y="2625726"/>
            <a:ext cx="469900" cy="444500"/>
          </a:xfrm>
          <a:prstGeom prst="rect">
            <a:avLst/>
          </a:prstGeom>
          <a:noFill/>
          <a:ln/>
        </p:spPr>
        <p:txBody>
          <a:bodyPr vert="horz" wrap="square" lIns="0" tIns="0" rIns="0" bIns="0" rtlCol="0" anchor="ctr"/>
          <a:lstStyle/>
          <a:p>
            <a:pPr>
              <a:lnSpc>
                <a:spcPts val="4051"/>
              </a:lnSpc>
            </a:pPr>
            <a:r>
              <a:rPr lang="en-US" sz="2800" b="1" dirty="0">
                <a:solidFill>
                  <a:srgbClr val="4784CB"/>
                </a:solidFill>
                <a:latin typeface="Microsoft YaHei" pitchFamily="34" charset="0"/>
                <a:ea typeface="Microsoft YaHei" pitchFamily="34" charset="-122"/>
                <a:cs typeface="Microsoft YaHei" pitchFamily="34" charset="-120"/>
              </a:rPr>
              <a:t>02</a:t>
            </a:r>
            <a:endParaRPr lang="en-US" sz="2800" dirty="0"/>
          </a:p>
        </p:txBody>
      </p:sp>
      <p:sp>
        <p:nvSpPr>
          <p:cNvPr id="10" name="Text 7"/>
          <p:cNvSpPr/>
          <p:nvPr/>
        </p:nvSpPr>
        <p:spPr>
          <a:xfrm>
            <a:off x="5646557" y="2746375"/>
            <a:ext cx="6108700" cy="279400"/>
          </a:xfrm>
          <a:prstGeom prst="rect">
            <a:avLst/>
          </a:prstGeom>
          <a:noFill/>
          <a:ln/>
        </p:spPr>
        <p:txBody>
          <a:bodyPr vert="horz" wrap="square" lIns="0" tIns="0" rIns="0" bIns="0" rtlCol="0" anchor="ctr"/>
          <a:lstStyle/>
          <a:p>
            <a:pPr>
              <a:lnSpc>
                <a:spcPts val="2200"/>
              </a:lnSpc>
            </a:pPr>
            <a:r>
              <a:rPr lang="en-US" sz="2400" b="1" dirty="0">
                <a:solidFill>
                  <a:srgbClr val="000000"/>
                </a:solidFill>
                <a:latin typeface="Microsoft YaHei" pitchFamily="34" charset="0"/>
                <a:ea typeface="Microsoft YaHei" pitchFamily="34" charset="-122"/>
                <a:cs typeface="Microsoft YaHei" pitchFamily="34" charset="-120"/>
              </a:rPr>
              <a:t>Spark vs Hadoop MapReduce</a:t>
            </a:r>
            <a:endParaRPr lang="en-US" sz="2400" dirty="0"/>
          </a:p>
        </p:txBody>
      </p:sp>
      <p:sp>
        <p:nvSpPr>
          <p:cNvPr id="11" name="Text 8"/>
          <p:cNvSpPr/>
          <p:nvPr/>
        </p:nvSpPr>
        <p:spPr>
          <a:xfrm>
            <a:off x="5321301" y="2581275"/>
            <a:ext cx="6108700" cy="279400"/>
          </a:xfrm>
          <a:prstGeom prst="rect">
            <a:avLst/>
          </a:prstGeom>
          <a:noFill/>
          <a:ln/>
        </p:spPr>
        <p:txBody>
          <a:bodyPr vert="horz" wrap="square" lIns="0" tIns="0" rIns="0" bIns="0" rtlCol="0" anchor="ctr"/>
          <a:lstStyle/>
          <a:p>
            <a:pPr>
              <a:lnSpc>
                <a:spcPts val="2200"/>
              </a:lnSpc>
            </a:pPr>
            <a:endParaRPr lang="en-US" sz="1400" dirty="0"/>
          </a:p>
        </p:txBody>
      </p:sp>
      <p:sp>
        <p:nvSpPr>
          <p:cNvPr id="12" name="Text 9"/>
          <p:cNvSpPr/>
          <p:nvPr/>
        </p:nvSpPr>
        <p:spPr>
          <a:xfrm>
            <a:off x="4699001" y="3463926"/>
            <a:ext cx="469900" cy="444500"/>
          </a:xfrm>
          <a:prstGeom prst="rect">
            <a:avLst/>
          </a:prstGeom>
          <a:noFill/>
          <a:ln/>
        </p:spPr>
        <p:txBody>
          <a:bodyPr vert="horz" wrap="square" lIns="0" tIns="0" rIns="0" bIns="0" rtlCol="0" anchor="ctr"/>
          <a:lstStyle/>
          <a:p>
            <a:pPr>
              <a:lnSpc>
                <a:spcPts val="4051"/>
              </a:lnSpc>
            </a:pPr>
            <a:r>
              <a:rPr lang="en-US" sz="2800" b="1" dirty="0">
                <a:solidFill>
                  <a:srgbClr val="4784CB"/>
                </a:solidFill>
                <a:latin typeface="Microsoft YaHei" pitchFamily="34" charset="0"/>
                <a:ea typeface="Microsoft YaHei" pitchFamily="34" charset="-122"/>
                <a:cs typeface="Microsoft YaHei" pitchFamily="34" charset="-120"/>
              </a:rPr>
              <a:t>03</a:t>
            </a:r>
            <a:endParaRPr lang="en-US" sz="2800" dirty="0"/>
          </a:p>
        </p:txBody>
      </p:sp>
      <p:sp>
        <p:nvSpPr>
          <p:cNvPr id="14" name="Text 11"/>
          <p:cNvSpPr/>
          <p:nvPr/>
        </p:nvSpPr>
        <p:spPr>
          <a:xfrm>
            <a:off x="5321301" y="3419475"/>
            <a:ext cx="6108700" cy="279400"/>
          </a:xfrm>
          <a:prstGeom prst="rect">
            <a:avLst/>
          </a:prstGeom>
          <a:noFill/>
          <a:ln/>
        </p:spPr>
        <p:txBody>
          <a:bodyPr vert="horz" wrap="square" lIns="0" tIns="0" rIns="0" bIns="0" rtlCol="0" anchor="ctr"/>
          <a:lstStyle/>
          <a:p>
            <a:pPr>
              <a:lnSpc>
                <a:spcPts val="2200"/>
              </a:lnSpc>
            </a:pPr>
            <a:endParaRPr lang="en-US" sz="1400" dirty="0"/>
          </a:p>
        </p:txBody>
      </p:sp>
      <p:sp>
        <p:nvSpPr>
          <p:cNvPr id="16" name="Text 13"/>
          <p:cNvSpPr/>
          <p:nvPr/>
        </p:nvSpPr>
        <p:spPr>
          <a:xfrm>
            <a:off x="5646557" y="3584341"/>
            <a:ext cx="6108700" cy="279400"/>
          </a:xfrm>
          <a:prstGeom prst="rect">
            <a:avLst/>
          </a:prstGeom>
          <a:noFill/>
          <a:ln/>
        </p:spPr>
        <p:txBody>
          <a:bodyPr vert="horz" wrap="square" lIns="0" tIns="0" rIns="0" bIns="0" rtlCol="0" anchor="ctr"/>
          <a:lstStyle/>
          <a:p>
            <a:pPr>
              <a:lnSpc>
                <a:spcPts val="2200"/>
              </a:lnSpc>
            </a:pPr>
            <a:r>
              <a:rPr lang="zh-CN" altLang="en-US" sz="2400" b="1" dirty="0">
                <a:solidFill>
                  <a:srgbClr val="000000"/>
                </a:solidFill>
                <a:latin typeface="Microsoft YaHei" pitchFamily="34" charset="0"/>
                <a:ea typeface="Microsoft YaHei" pitchFamily="34" charset="-122"/>
                <a:cs typeface="Microsoft YaHei" pitchFamily="34" charset="-120"/>
              </a:rPr>
              <a:t>数据湖 </a:t>
            </a:r>
            <a:r>
              <a:rPr lang="en-US" sz="2400" b="1" dirty="0">
                <a:solidFill>
                  <a:srgbClr val="000000"/>
                </a:solidFill>
                <a:latin typeface="Microsoft YaHei" pitchFamily="34" charset="0"/>
                <a:ea typeface="Microsoft YaHei" pitchFamily="34" charset="-122"/>
                <a:cs typeface="Microsoft YaHei" pitchFamily="34" charset="-120"/>
              </a:rPr>
              <a:t>vs Hadoop</a:t>
            </a:r>
            <a:endParaRPr lang="en-US" sz="2400" dirty="0"/>
          </a:p>
        </p:txBody>
      </p:sp>
      <p:sp>
        <p:nvSpPr>
          <p:cNvPr id="17" name="Text 14"/>
          <p:cNvSpPr/>
          <p:nvPr/>
        </p:nvSpPr>
        <p:spPr>
          <a:xfrm>
            <a:off x="5321301" y="4257675"/>
            <a:ext cx="6108700" cy="279400"/>
          </a:xfrm>
          <a:prstGeom prst="rect">
            <a:avLst/>
          </a:prstGeom>
          <a:noFill/>
          <a:ln/>
        </p:spPr>
        <p:txBody>
          <a:bodyPr vert="horz" wrap="square" lIns="0" tIns="0" rIns="0" bIns="0" rtlCol="0" anchor="ctr"/>
          <a:lstStyle/>
          <a:p>
            <a:pPr>
              <a:lnSpc>
                <a:spcPts val="2200"/>
              </a:lnSpc>
            </a:pPr>
            <a:endParaRPr lang="en-US" sz="1400" dirty="0"/>
          </a:p>
        </p:txBody>
      </p:sp>
      <p:sp>
        <p:nvSpPr>
          <p:cNvPr id="20" name="Text 17"/>
          <p:cNvSpPr/>
          <p:nvPr/>
        </p:nvSpPr>
        <p:spPr>
          <a:xfrm>
            <a:off x="5321301" y="5095875"/>
            <a:ext cx="6108700" cy="279400"/>
          </a:xfrm>
          <a:prstGeom prst="rect">
            <a:avLst/>
          </a:prstGeom>
          <a:noFill/>
          <a:ln/>
        </p:spPr>
        <p:txBody>
          <a:bodyPr vert="horz" wrap="square" lIns="0" tIns="0" rIns="0" bIns="0" rtlCol="0" anchor="ctr"/>
          <a:lstStyle/>
          <a:p>
            <a:pPr>
              <a:lnSpc>
                <a:spcPts val="2200"/>
              </a:lnSpc>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762000" y="3074737"/>
            <a:ext cx="6350000" cy="1778000"/>
          </a:xfrm>
          <a:prstGeom prst="rect">
            <a:avLst/>
          </a:prstGeom>
          <a:noFill/>
          <a:ln/>
        </p:spPr>
        <p:txBody>
          <a:bodyPr vert="horz" wrap="square" lIns="0" tIns="0" rIns="0" bIns="0" rtlCol="0" anchor="ctr"/>
          <a:lstStyle/>
          <a:p>
            <a:pPr>
              <a:lnSpc>
                <a:spcPts val="7000"/>
              </a:lnSpc>
            </a:pPr>
            <a:r>
              <a:rPr lang="zh-CN" altLang="en-US" sz="5000" b="1" dirty="0">
                <a:solidFill>
                  <a:srgbClr val="000000"/>
                </a:solidFill>
                <a:latin typeface="Microsoft YaHei" pitchFamily="34" charset="0"/>
                <a:ea typeface="Microsoft YaHei" pitchFamily="34" charset="-122"/>
                <a:cs typeface="Microsoft YaHei" pitchFamily="34" charset="-120"/>
              </a:rPr>
              <a:t>对象存储</a:t>
            </a:r>
            <a:r>
              <a:rPr lang="en-US" altLang="zh-CN" sz="5000" b="1" dirty="0">
                <a:solidFill>
                  <a:srgbClr val="000000"/>
                </a:solidFill>
                <a:latin typeface="Microsoft YaHei" pitchFamily="34" charset="0"/>
                <a:ea typeface="Microsoft YaHei" pitchFamily="34" charset="-122"/>
                <a:cs typeface="Microsoft YaHei" pitchFamily="34" charset="-120"/>
              </a:rPr>
              <a:t>vs</a:t>
            </a:r>
            <a:r>
              <a:rPr lang="zh-CN" altLang="en-US" sz="5000" b="1" dirty="0">
                <a:solidFill>
                  <a:srgbClr val="000000"/>
                </a:solidFill>
                <a:latin typeface="Microsoft YaHei" pitchFamily="34" charset="0"/>
                <a:ea typeface="Microsoft YaHei" pitchFamily="34" charset="-122"/>
                <a:cs typeface="Microsoft YaHei" pitchFamily="34" charset="-120"/>
              </a:rPr>
              <a:t>文件存储</a:t>
            </a:r>
            <a:endParaRPr lang="en-US" sz="5000" dirty="0"/>
          </a:p>
        </p:txBody>
      </p:sp>
      <p:sp>
        <p:nvSpPr>
          <p:cNvPr id="5" name="Text 2"/>
          <p:cNvSpPr/>
          <p:nvPr/>
        </p:nvSpPr>
        <p:spPr>
          <a:xfrm>
            <a:off x="762000" y="5816600"/>
            <a:ext cx="6350000" cy="279400"/>
          </a:xfrm>
          <a:prstGeom prst="rect">
            <a:avLst/>
          </a:prstGeom>
          <a:noFill/>
          <a:ln/>
        </p:spPr>
        <p:txBody>
          <a:bodyPr vert="horz" wrap="square" lIns="0" tIns="0" rIns="0" bIns="0" rtlCol="0" anchor="ctr"/>
          <a:lstStyle/>
          <a:p>
            <a:pPr>
              <a:lnSpc>
                <a:spcPts val="2200"/>
              </a:lnSpc>
            </a:pPr>
            <a:endParaRPr lang="en-US" sz="1400" dirty="0"/>
          </a:p>
        </p:txBody>
      </p:sp>
      <p:sp>
        <p:nvSpPr>
          <p:cNvPr id="6" name="Text 3"/>
          <p:cNvSpPr/>
          <p:nvPr/>
        </p:nvSpPr>
        <p:spPr>
          <a:xfrm>
            <a:off x="7219949" y="3403600"/>
            <a:ext cx="4972051" cy="3810000"/>
          </a:xfrm>
          <a:prstGeom prst="rect">
            <a:avLst/>
          </a:prstGeom>
          <a:noFill/>
          <a:ln/>
        </p:spPr>
        <p:txBody>
          <a:bodyPr vert="horz" wrap="square" lIns="0" tIns="0" rIns="0" bIns="0" rtlCol="0" anchor="ctr"/>
          <a:lstStyle/>
          <a:p>
            <a:pPr algn="ctr">
              <a:lnSpc>
                <a:spcPts val="29999"/>
              </a:lnSpc>
            </a:pPr>
            <a:r>
              <a:rPr lang="en-US" sz="29999" b="1" dirty="0">
                <a:solidFill>
                  <a:srgbClr val="4784CB">
                    <a:alpha val="30000"/>
                  </a:srgbClr>
                </a:solidFill>
                <a:latin typeface="Microsoft YaHei" pitchFamily="34" charset="0"/>
                <a:ea typeface="Microsoft YaHei" pitchFamily="34" charset="-122"/>
                <a:cs typeface="Microsoft YaHei" pitchFamily="34" charset="-120"/>
              </a:rPr>
              <a:t>01</a:t>
            </a:r>
            <a:endParaRPr lang="en-US" sz="2999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E33DC-861F-297B-0428-6A8307D1D7A2}"/>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19A98E1D-CBB5-DE46-38E1-64F05C18A353}"/>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997FD603-48AD-2959-E14D-FFB72BD0AB5B}"/>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什么是对象存储</a:t>
            </a:r>
            <a:endParaRPr lang="en-US" sz="2800" dirty="0"/>
          </a:p>
        </p:txBody>
      </p:sp>
      <p:sp>
        <p:nvSpPr>
          <p:cNvPr id="4" name="文本框 3">
            <a:extLst>
              <a:ext uri="{FF2B5EF4-FFF2-40B4-BE49-F238E27FC236}">
                <a16:creationId xmlns:a16="http://schemas.microsoft.com/office/drawing/2014/main" id="{601B96F7-091B-6BDC-6918-DC2550BBAA38}"/>
              </a:ext>
            </a:extLst>
          </p:cNvPr>
          <p:cNvSpPr txBox="1"/>
          <p:nvPr/>
        </p:nvSpPr>
        <p:spPr>
          <a:xfrm>
            <a:off x="910308" y="2669134"/>
            <a:ext cx="10371383" cy="2346283"/>
          </a:xfrm>
          <a:prstGeom prst="rect">
            <a:avLst/>
          </a:prstGeom>
          <a:noFill/>
        </p:spPr>
        <p:txBody>
          <a:bodyPr wrap="square">
            <a:spAutoFit/>
          </a:bodyPr>
          <a:lstStyle/>
          <a:p>
            <a:pPr>
              <a:lnSpc>
                <a:spcPct val="150000"/>
              </a:lnSpc>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对象存储是一种以非结构化格式（称为对象）存储和管理数据的技术。现代组织需要创建和分析大量非结构化数据，例如照片、视频、电子邮件、网页、传感器数据和音频文件。云对象存储系统将这些数据分布在多个物理设备上，但允许用户从单个虚拟存储库有效地访问内容。对象存储解决方案非常适合用于构建需要扩展和灵活性的云原生应用程序；还可以使用这些解决方案导入现有数据存储以进行分析、备份或存档。</a:t>
            </a:r>
          </a:p>
        </p:txBody>
      </p:sp>
    </p:spTree>
    <p:extLst>
      <p:ext uri="{BB962C8B-B14F-4D97-AF65-F5344CB8AC3E}">
        <p14:creationId xmlns:p14="http://schemas.microsoft.com/office/powerpoint/2010/main" val="275556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3C525-16DD-BADF-39F8-7826C48FB0FD}"/>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89280CC9-0F3C-4AC0-B89C-1272498730D1}"/>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4230153F-20F6-CEBA-7C08-125DD7B024D3}"/>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什么是对象存储</a:t>
            </a:r>
            <a:endParaRPr lang="en-US" sz="2800" dirty="0"/>
          </a:p>
        </p:txBody>
      </p:sp>
      <p:sp>
        <p:nvSpPr>
          <p:cNvPr id="4" name="文本框 3">
            <a:extLst>
              <a:ext uri="{FF2B5EF4-FFF2-40B4-BE49-F238E27FC236}">
                <a16:creationId xmlns:a16="http://schemas.microsoft.com/office/drawing/2014/main" id="{E3B18A74-1B60-A8B1-7F06-B1DFFB4A7E1D}"/>
              </a:ext>
            </a:extLst>
          </p:cNvPr>
          <p:cNvSpPr txBox="1"/>
          <p:nvPr/>
        </p:nvSpPr>
        <p:spPr>
          <a:xfrm>
            <a:off x="842802" y="2110675"/>
            <a:ext cx="10371383" cy="3731278"/>
          </a:xfrm>
          <a:prstGeom prst="rect">
            <a:avLst/>
          </a:prstGeom>
          <a:noFill/>
        </p:spPr>
        <p:txBody>
          <a:bodyPr wrap="square">
            <a:spAutoFit/>
          </a:bodyPr>
          <a:lstStyle/>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元数据对于对象存储技术至关重要。使用对象存储，对象保存在单个存储桶中，而不是作为文件夹内的文件保存。相反，对象存储整合了构成文件的数据片段，将所有用户创建的元数据添加到该文件，并附加自定义标识符。这将创建一个称为存储桶的平面结构，而不是分层或分级存储。根据存储桶的功能和特征可以检索和分析其中的任何对象，而无论文件类型如何。</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对象存储是数据湖的理想存储，因为它为大量数据提供了一种架构，每条数据都存储为一个对象，并且对象元数据提供了一个唯一标识符以便于访问。这种架构消除了传统存储的扩展限制，这也是为什么对象存储是云存储的原因。</a:t>
            </a:r>
          </a:p>
        </p:txBody>
      </p:sp>
    </p:spTree>
    <p:extLst>
      <p:ext uri="{BB962C8B-B14F-4D97-AF65-F5344CB8AC3E}">
        <p14:creationId xmlns:p14="http://schemas.microsoft.com/office/powerpoint/2010/main" val="59772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C346-7338-51FD-BC1E-9E77E9217A4E}"/>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825AE7CF-A5E4-C35C-383B-A2784C36B1E0}"/>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ACC6AE5C-37D9-8F13-C551-C2499D9CB436}"/>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什么是</a:t>
            </a:r>
            <a:r>
              <a:rPr lang="en-US" altLang="zh-CN" sz="2800" b="1" dirty="0">
                <a:solidFill>
                  <a:srgbClr val="000000"/>
                </a:solidFill>
                <a:latin typeface="Microsoft YaHei" pitchFamily="34" charset="0"/>
                <a:ea typeface="Microsoft YaHei" pitchFamily="34" charset="-122"/>
                <a:cs typeface="Microsoft YaHei" pitchFamily="34" charset="-120"/>
              </a:rPr>
              <a:t>S3</a:t>
            </a:r>
            <a:r>
              <a:rPr lang="zh-CN" altLang="en-US" sz="2800" b="1" dirty="0">
                <a:solidFill>
                  <a:srgbClr val="000000"/>
                </a:solidFill>
                <a:latin typeface="Microsoft YaHei" pitchFamily="34" charset="0"/>
                <a:ea typeface="Microsoft YaHei" pitchFamily="34" charset="-122"/>
                <a:cs typeface="Microsoft YaHei" pitchFamily="34" charset="-120"/>
              </a:rPr>
              <a:t>协议</a:t>
            </a:r>
            <a:endParaRPr lang="en-US" sz="2800" dirty="0"/>
          </a:p>
        </p:txBody>
      </p:sp>
      <p:sp>
        <p:nvSpPr>
          <p:cNvPr id="4" name="文本框 3">
            <a:extLst>
              <a:ext uri="{FF2B5EF4-FFF2-40B4-BE49-F238E27FC236}">
                <a16:creationId xmlns:a16="http://schemas.microsoft.com/office/drawing/2014/main" id="{9510CAEA-BC53-AF0E-5284-313FDAA6D752}"/>
              </a:ext>
            </a:extLst>
          </p:cNvPr>
          <p:cNvSpPr txBox="1"/>
          <p:nvPr/>
        </p:nvSpPr>
        <p:spPr>
          <a:xfrm>
            <a:off x="842802" y="2110675"/>
            <a:ext cx="10371383" cy="3731278"/>
          </a:xfrm>
          <a:prstGeom prst="rect">
            <a:avLst/>
          </a:prstGeom>
          <a:noFill/>
        </p:spPr>
        <p:txBody>
          <a:bodyPr wrap="square">
            <a:spAutoFit/>
          </a:bodyPr>
          <a:lstStyle/>
          <a:p>
            <a:pPr>
              <a:lnSpc>
                <a:spcPct val="150000"/>
              </a:lnSpc>
            </a:pPr>
            <a:r>
              <a:rPr lang="en-US" altLang="zh-CN" sz="2000" dirty="0">
                <a:solidFill>
                  <a:srgbClr val="262626"/>
                </a:solidFill>
                <a:latin typeface="微软雅黑" panose="020B0503020204020204" pitchFamily="34" charset="-122"/>
                <a:ea typeface="微软雅黑" panose="020B0503020204020204" pitchFamily="34" charset="-122"/>
              </a:rPr>
              <a:t>        S3</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Simple Storage Service</a:t>
            </a:r>
            <a:r>
              <a:rPr lang="zh-CN" altLang="en-US" sz="2000" dirty="0">
                <a:solidFill>
                  <a:srgbClr val="262626"/>
                </a:solidFill>
                <a:latin typeface="微软雅黑" panose="020B0503020204020204" pitchFamily="34" charset="-122"/>
                <a:ea typeface="微软雅黑" panose="020B0503020204020204" pitchFamily="34" charset="-122"/>
              </a:rPr>
              <a:t>）​​ 是亚马逊</a:t>
            </a:r>
            <a:r>
              <a:rPr lang="en-US" altLang="zh-CN" sz="2000" dirty="0">
                <a:solidFill>
                  <a:srgbClr val="262626"/>
                </a:solidFill>
                <a:latin typeface="微软雅黑" panose="020B0503020204020204" pitchFamily="34" charset="-122"/>
                <a:ea typeface="微软雅黑" panose="020B0503020204020204" pitchFamily="34" charset="-122"/>
              </a:rPr>
              <a:t>AWS</a:t>
            </a:r>
            <a:r>
              <a:rPr lang="zh-CN" altLang="en-US" sz="2000" dirty="0">
                <a:solidFill>
                  <a:srgbClr val="262626"/>
                </a:solidFill>
                <a:latin typeface="微软雅黑" panose="020B0503020204020204" pitchFamily="34" charset="-122"/>
                <a:ea typeface="微软雅黑" panose="020B0503020204020204" pitchFamily="34" charset="-122"/>
              </a:rPr>
              <a:t>推出的​​对象存储协议​​，已成为行业标准。其核心目标是提供​​高可用、高扩展、低成本​​的存储服务。</a:t>
            </a:r>
          </a:p>
          <a:p>
            <a:pPr>
              <a:lnSpc>
                <a:spcPct val="150000"/>
              </a:lnSpc>
            </a:pPr>
            <a:endParaRPr lang="zh-CN" altLang="en-US" sz="2000" dirty="0">
              <a:solidFill>
                <a:srgbClr val="262626"/>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​​关键特性​​：</a:t>
            </a:r>
          </a:p>
          <a:p>
            <a:pPr marL="342900" indent="-342900">
              <a:lnSpc>
                <a:spcPct val="150000"/>
              </a:lnSpc>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​​对象存储​​：文件（对象）以键值对形式存储，而非传统目录结构。</a:t>
            </a:r>
          </a:p>
          <a:p>
            <a:pPr marL="342900" indent="-342900">
              <a:lnSpc>
                <a:spcPct val="150000"/>
              </a:lnSpc>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​​分布式架构​​：数据跨多节点存储，避免单点故障。</a:t>
            </a:r>
          </a:p>
          <a:p>
            <a:pPr marL="342900" indent="-342900">
              <a:lnSpc>
                <a:spcPct val="150000"/>
              </a:lnSpc>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RESTful API​​</a:t>
            </a:r>
            <a:r>
              <a:rPr lang="zh-CN" altLang="en-US" sz="2000" dirty="0">
                <a:solidFill>
                  <a:srgbClr val="262626"/>
                </a:solidFill>
                <a:latin typeface="微软雅黑" panose="020B0503020204020204" pitchFamily="34" charset="-122"/>
                <a:ea typeface="微软雅黑" panose="020B0503020204020204" pitchFamily="34" charset="-122"/>
              </a:rPr>
              <a:t>：通过</a:t>
            </a:r>
            <a:r>
              <a:rPr lang="en-US" altLang="zh-CN" sz="2000" dirty="0">
                <a:solidFill>
                  <a:srgbClr val="262626"/>
                </a:solidFill>
                <a:latin typeface="微软雅黑" panose="020B0503020204020204" pitchFamily="34" charset="-122"/>
                <a:ea typeface="微软雅黑" panose="020B0503020204020204" pitchFamily="34" charset="-122"/>
              </a:rPr>
              <a:t>HTTP/HTTPS</a:t>
            </a:r>
            <a:r>
              <a:rPr lang="zh-CN" altLang="en-US" sz="2000" dirty="0">
                <a:solidFill>
                  <a:srgbClr val="262626"/>
                </a:solidFill>
                <a:latin typeface="微软雅黑" panose="020B0503020204020204" pitchFamily="34" charset="-122"/>
                <a:ea typeface="微软雅黑" panose="020B0503020204020204" pitchFamily="34" charset="-122"/>
              </a:rPr>
              <a:t>协议进行数据传输。</a:t>
            </a:r>
          </a:p>
          <a:p>
            <a:pPr marL="342900" indent="-342900">
              <a:lnSpc>
                <a:spcPct val="150000"/>
              </a:lnSpc>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​​兼容性​​：开源项目（如</a:t>
            </a:r>
            <a:r>
              <a:rPr lang="en-US" altLang="zh-CN" sz="2000" dirty="0" err="1">
                <a:solidFill>
                  <a:srgbClr val="262626"/>
                </a:solidFill>
                <a:latin typeface="微软雅黑" panose="020B0503020204020204" pitchFamily="34" charset="-122"/>
                <a:ea typeface="微软雅黑" panose="020B0503020204020204" pitchFamily="34" charset="-122"/>
              </a:rPr>
              <a:t>MinIO</a:t>
            </a:r>
            <a:r>
              <a:rPr lang="zh-CN" altLang="en-US" sz="2000" dirty="0">
                <a:solidFill>
                  <a:srgbClr val="262626"/>
                </a:solidFill>
                <a:latin typeface="微软雅黑" panose="020B0503020204020204" pitchFamily="34" charset="-122"/>
                <a:ea typeface="微软雅黑" panose="020B0503020204020204" pitchFamily="34" charset="-122"/>
              </a:rPr>
              <a:t>）和公有云（如阿里云</a:t>
            </a:r>
            <a:r>
              <a:rPr lang="en-US" altLang="zh-CN" sz="2000" dirty="0">
                <a:solidFill>
                  <a:srgbClr val="262626"/>
                </a:solidFill>
                <a:latin typeface="微软雅黑" panose="020B0503020204020204" pitchFamily="34" charset="-122"/>
                <a:ea typeface="微软雅黑" panose="020B0503020204020204" pitchFamily="34" charset="-122"/>
              </a:rPr>
              <a:t>OSS</a:t>
            </a:r>
            <a:r>
              <a:rPr lang="zh-CN" altLang="en-US" sz="2000" dirty="0">
                <a:solidFill>
                  <a:srgbClr val="262626"/>
                </a:solidFill>
                <a:latin typeface="微软雅黑" panose="020B0503020204020204" pitchFamily="34" charset="-122"/>
                <a:ea typeface="微软雅黑" panose="020B0503020204020204" pitchFamily="34" charset="-122"/>
              </a:rPr>
              <a:t>）均兼容</a:t>
            </a:r>
            <a:r>
              <a:rPr lang="en-US" altLang="zh-CN" sz="2000" dirty="0">
                <a:solidFill>
                  <a:srgbClr val="262626"/>
                </a:solidFill>
                <a:latin typeface="微软雅黑" panose="020B0503020204020204" pitchFamily="34" charset="-122"/>
                <a:ea typeface="微软雅黑" panose="020B0503020204020204" pitchFamily="34" charset="-122"/>
              </a:rPr>
              <a:t>S3</a:t>
            </a:r>
            <a:r>
              <a:rPr lang="zh-CN" altLang="en-US" sz="2000" dirty="0">
                <a:solidFill>
                  <a:srgbClr val="262626"/>
                </a:solidFill>
                <a:latin typeface="微软雅黑" panose="020B0503020204020204" pitchFamily="34" charset="-122"/>
                <a:ea typeface="微软雅黑" panose="020B0503020204020204" pitchFamily="34" charset="-122"/>
              </a:rPr>
              <a:t>协议。</a:t>
            </a:r>
          </a:p>
        </p:txBody>
      </p:sp>
    </p:spTree>
    <p:extLst>
      <p:ext uri="{BB962C8B-B14F-4D97-AF65-F5344CB8AC3E}">
        <p14:creationId xmlns:p14="http://schemas.microsoft.com/office/powerpoint/2010/main" val="1025730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81B9-62F4-B9DA-0FD6-97E0CC83BF99}"/>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D2FDA889-6A6C-8651-7F5C-83612EE0AED9}"/>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2287BA42-AF31-F28C-587F-92039F19E59C}"/>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en-US" altLang="zh-CN" sz="2800" b="1" dirty="0">
                <a:solidFill>
                  <a:srgbClr val="000000"/>
                </a:solidFill>
                <a:latin typeface="Microsoft YaHei" pitchFamily="34" charset="0"/>
                <a:ea typeface="Microsoft YaHei" pitchFamily="34" charset="-122"/>
                <a:cs typeface="Microsoft YaHei" pitchFamily="34" charset="-120"/>
              </a:rPr>
              <a:t>S3</a:t>
            </a:r>
            <a:r>
              <a:rPr lang="zh-CN" altLang="en-US" sz="2800" b="1" dirty="0">
                <a:solidFill>
                  <a:srgbClr val="000000"/>
                </a:solidFill>
                <a:latin typeface="Microsoft YaHei" pitchFamily="34" charset="0"/>
                <a:ea typeface="Microsoft YaHei" pitchFamily="34" charset="-122"/>
                <a:cs typeface="Microsoft YaHei" pitchFamily="34" charset="-120"/>
              </a:rPr>
              <a:t>核心概念​</a:t>
            </a:r>
            <a:endParaRPr lang="en-US" sz="2800" dirty="0"/>
          </a:p>
        </p:txBody>
      </p:sp>
      <p:sp>
        <p:nvSpPr>
          <p:cNvPr id="4" name="文本框 3">
            <a:extLst>
              <a:ext uri="{FF2B5EF4-FFF2-40B4-BE49-F238E27FC236}">
                <a16:creationId xmlns:a16="http://schemas.microsoft.com/office/drawing/2014/main" id="{B05CAA29-9B93-10A6-784B-DBDE037FD833}"/>
              </a:ext>
            </a:extLst>
          </p:cNvPr>
          <p:cNvSpPr txBox="1"/>
          <p:nvPr/>
        </p:nvSpPr>
        <p:spPr>
          <a:xfrm>
            <a:off x="878624" y="1882009"/>
            <a:ext cx="10148144" cy="1884106"/>
          </a:xfrm>
          <a:prstGeom prst="rect">
            <a:avLst/>
          </a:prstGeom>
          <a:noFill/>
        </p:spPr>
        <p:txBody>
          <a:bodyPr wrap="square">
            <a:spAutoFit/>
          </a:bodyPr>
          <a:lstStyle/>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1</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Bucket</a:t>
            </a:r>
            <a:r>
              <a:rPr lang="zh-CN" altLang="en-US" sz="2000" dirty="0">
                <a:solidFill>
                  <a:srgbClr val="262626"/>
                </a:solidFill>
                <a:latin typeface="微软雅黑" panose="020B0503020204020204" pitchFamily="34" charset="-122"/>
                <a:ea typeface="微软雅黑" panose="020B0503020204020204" pitchFamily="34" charset="-122"/>
              </a:rPr>
              <a:t>（存储桶）​​</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​​作用​​：存储对象的逻辑容器（类似文件夹，但无层级结构）。</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​​命名规则​​：全局唯一，符合</a:t>
            </a:r>
            <a:r>
              <a:rPr lang="en-US" altLang="zh-CN" sz="2000" dirty="0">
                <a:solidFill>
                  <a:srgbClr val="262626"/>
                </a:solidFill>
                <a:latin typeface="微软雅黑" panose="020B0503020204020204" pitchFamily="34" charset="-122"/>
                <a:ea typeface="微软雅黑" panose="020B0503020204020204" pitchFamily="34" charset="-122"/>
              </a:rPr>
              <a:t>DNS</a:t>
            </a:r>
            <a:r>
              <a:rPr lang="zh-CN" altLang="en-US" sz="2000" dirty="0">
                <a:solidFill>
                  <a:srgbClr val="262626"/>
                </a:solidFill>
                <a:latin typeface="微软雅黑" panose="020B0503020204020204" pitchFamily="34" charset="-122"/>
                <a:ea typeface="微软雅黑" panose="020B0503020204020204" pitchFamily="34" charset="-122"/>
              </a:rPr>
              <a:t>命名规范（如 </a:t>
            </a:r>
            <a:r>
              <a:rPr lang="en-US" altLang="zh-CN" sz="2000" dirty="0">
                <a:solidFill>
                  <a:srgbClr val="262626"/>
                </a:solidFill>
                <a:latin typeface="微软雅黑" panose="020B0503020204020204" pitchFamily="34" charset="-122"/>
                <a:ea typeface="微软雅黑" panose="020B0503020204020204" pitchFamily="34" charset="-122"/>
              </a:rPr>
              <a:t>my-app-data-2023</a:t>
            </a:r>
            <a:r>
              <a:rPr lang="zh-CN" altLang="en-US" sz="2000" dirty="0">
                <a:solidFill>
                  <a:srgbClr val="262626"/>
                </a:solidFill>
                <a:latin typeface="微软雅黑" panose="020B0503020204020204" pitchFamily="34" charset="-122"/>
                <a:ea typeface="微软雅黑" panose="020B0503020204020204" pitchFamily="34" charset="-122"/>
              </a:rPr>
              <a:t>）。</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a:t>
            </a:r>
          </a:p>
        </p:txBody>
      </p:sp>
      <p:sp>
        <p:nvSpPr>
          <p:cNvPr id="13" name="文本框 12">
            <a:extLst>
              <a:ext uri="{FF2B5EF4-FFF2-40B4-BE49-F238E27FC236}">
                <a16:creationId xmlns:a16="http://schemas.microsoft.com/office/drawing/2014/main" id="{43F3A3CA-4E18-00D8-C32D-F4387B67183C}"/>
              </a:ext>
            </a:extLst>
          </p:cNvPr>
          <p:cNvSpPr txBox="1"/>
          <p:nvPr/>
        </p:nvSpPr>
        <p:spPr>
          <a:xfrm>
            <a:off x="878624" y="3588387"/>
            <a:ext cx="6547040" cy="28074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2</a:t>
            </a: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Object</a:t>
            </a: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（对象）​​</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​​组成​​：</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Key​​</a:t>
            </a: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：对象唯一标识符。</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Value​​</a:t>
            </a: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：文件内容。</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Metadata​​</a:t>
            </a: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：描述对象的键值对。</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Version ID​​</a:t>
            </a:r>
            <a:r>
              <a:rPr kumimoji="0" lang="zh-CN" altLang="en-US" sz="20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rPr>
              <a:t>：启用版本控制时，标识对象版本。</a:t>
            </a:r>
          </a:p>
        </p:txBody>
      </p:sp>
    </p:spTree>
    <p:extLst>
      <p:ext uri="{BB962C8B-B14F-4D97-AF65-F5344CB8AC3E}">
        <p14:creationId xmlns:p14="http://schemas.microsoft.com/office/powerpoint/2010/main" val="3921323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A7BD-3E4C-B276-ADE6-6BE740C373C4}"/>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0A03E1C5-A37B-C14F-2B5A-6D1CE7408667}"/>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0588A7B9-F40D-DF56-C385-4C4A35A56002}"/>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en-US" altLang="zh-CN" sz="2800" b="1" dirty="0">
                <a:solidFill>
                  <a:srgbClr val="000000"/>
                </a:solidFill>
                <a:latin typeface="Microsoft YaHei" pitchFamily="34" charset="0"/>
                <a:ea typeface="Microsoft YaHei" pitchFamily="34" charset="-122"/>
                <a:cs typeface="Microsoft YaHei" pitchFamily="34" charset="-120"/>
              </a:rPr>
              <a:t>Metadata​​</a:t>
            </a:r>
            <a:r>
              <a:rPr lang="zh-CN" altLang="en-US" sz="2800" b="1" dirty="0">
                <a:solidFill>
                  <a:srgbClr val="000000"/>
                </a:solidFill>
                <a:latin typeface="Microsoft YaHei" pitchFamily="34" charset="0"/>
                <a:ea typeface="Microsoft YaHei" pitchFamily="34" charset="-122"/>
                <a:cs typeface="Microsoft YaHei" pitchFamily="34" charset="-120"/>
              </a:rPr>
              <a:t>​</a:t>
            </a:r>
            <a:endParaRPr lang="en-US" sz="2800" dirty="0"/>
          </a:p>
        </p:txBody>
      </p:sp>
      <p:sp>
        <p:nvSpPr>
          <p:cNvPr id="8" name="文本框 7">
            <a:extLst>
              <a:ext uri="{FF2B5EF4-FFF2-40B4-BE49-F238E27FC236}">
                <a16:creationId xmlns:a16="http://schemas.microsoft.com/office/drawing/2014/main" id="{0F5F62B0-A13E-178F-2B34-6B77D3C413C7}"/>
              </a:ext>
            </a:extLst>
          </p:cNvPr>
          <p:cNvSpPr txBox="1"/>
          <p:nvPr/>
        </p:nvSpPr>
        <p:spPr>
          <a:xfrm>
            <a:off x="464032" y="1599805"/>
            <a:ext cx="11122543" cy="5115759"/>
          </a:xfrm>
          <a:prstGeom prst="rect">
            <a:avLst/>
          </a:prstGeom>
          <a:noFill/>
        </p:spPr>
        <p:txBody>
          <a:bodyPr wrap="square">
            <a:spAutoFit/>
          </a:bodyPr>
          <a:lstStyle/>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元数据是描述对象属性的键值对，分为​​系统元数据和​​自定义元数据。</a:t>
            </a:r>
            <a:endParaRPr lang="en-US" altLang="zh-CN" sz="2000" dirty="0">
              <a:solidFill>
                <a:srgbClr val="262626"/>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系统元数据​​自动生成，如</a:t>
            </a:r>
            <a:r>
              <a:rPr lang="en-US" altLang="zh-CN" sz="2000" dirty="0">
                <a:solidFill>
                  <a:srgbClr val="262626"/>
                </a:solidFill>
                <a:latin typeface="微软雅黑" panose="020B0503020204020204" pitchFamily="34" charset="-122"/>
                <a:ea typeface="微软雅黑" panose="020B0503020204020204" pitchFamily="34" charset="-122"/>
              </a:rPr>
              <a:t>Content-Type</a:t>
            </a:r>
            <a:r>
              <a:rPr lang="zh-CN" altLang="en-US" sz="2000" dirty="0">
                <a:solidFill>
                  <a:srgbClr val="262626"/>
                </a:solidFill>
                <a:latin typeface="微软雅黑" panose="020B0503020204020204" pitchFamily="34" charset="-122"/>
                <a:ea typeface="微软雅黑" panose="020B0503020204020204" pitchFamily="34" charset="-122"/>
              </a:rPr>
              <a:t>（文件类型）、</a:t>
            </a:r>
            <a:r>
              <a:rPr lang="en-US" altLang="zh-CN" sz="2000" dirty="0">
                <a:solidFill>
                  <a:srgbClr val="262626"/>
                </a:solidFill>
                <a:latin typeface="微软雅黑" panose="020B0503020204020204" pitchFamily="34" charset="-122"/>
                <a:ea typeface="微软雅黑" panose="020B0503020204020204" pitchFamily="34" charset="-122"/>
              </a:rPr>
              <a:t>Content-Length</a:t>
            </a:r>
            <a:r>
              <a:rPr lang="zh-CN" altLang="en-US" sz="2000" dirty="0">
                <a:solidFill>
                  <a:srgbClr val="262626"/>
                </a:solidFill>
                <a:latin typeface="微软雅黑" panose="020B0503020204020204" pitchFamily="34" charset="-122"/>
                <a:ea typeface="微软雅黑" panose="020B0503020204020204" pitchFamily="34" charset="-122"/>
              </a:rPr>
              <a:t>（大小）、</a:t>
            </a:r>
            <a:r>
              <a:rPr lang="en-US" altLang="zh-CN" sz="2000" dirty="0">
                <a:solidFill>
                  <a:srgbClr val="262626"/>
                </a:solidFill>
                <a:latin typeface="微软雅黑" panose="020B0503020204020204" pitchFamily="34" charset="-122"/>
                <a:ea typeface="微软雅黑" panose="020B0503020204020204" pitchFamily="34" charset="-122"/>
              </a:rPr>
              <a:t>Last-Modified</a:t>
            </a:r>
            <a:r>
              <a:rPr lang="zh-CN" altLang="en-US" sz="2000" dirty="0">
                <a:solidFill>
                  <a:srgbClr val="262626"/>
                </a:solidFill>
                <a:latin typeface="微软雅黑" panose="020B0503020204020204" pitchFamily="34" charset="-122"/>
                <a:ea typeface="微软雅黑" panose="020B0503020204020204" pitchFamily="34" charset="-122"/>
              </a:rPr>
              <a:t>（修改时间）。控制服务端行为，如</a:t>
            </a:r>
            <a:r>
              <a:rPr lang="en-US" altLang="zh-CN" sz="2000" dirty="0">
                <a:solidFill>
                  <a:srgbClr val="262626"/>
                </a:solidFill>
                <a:latin typeface="微软雅黑" panose="020B0503020204020204" pitchFamily="34" charset="-122"/>
                <a:ea typeface="微软雅黑" panose="020B0503020204020204" pitchFamily="34" charset="-122"/>
              </a:rPr>
              <a:t>x-</a:t>
            </a:r>
            <a:r>
              <a:rPr lang="en-US" altLang="zh-CN" sz="2000" dirty="0" err="1">
                <a:solidFill>
                  <a:srgbClr val="262626"/>
                </a:solidFill>
                <a:latin typeface="微软雅黑" panose="020B0503020204020204" pitchFamily="34" charset="-122"/>
                <a:ea typeface="微软雅黑" panose="020B0503020204020204" pitchFamily="34" charset="-122"/>
              </a:rPr>
              <a:t>amz</a:t>
            </a:r>
            <a:r>
              <a:rPr lang="en-US" altLang="zh-CN" sz="2000" dirty="0">
                <a:solidFill>
                  <a:srgbClr val="262626"/>
                </a:solidFill>
                <a:latin typeface="微软雅黑" panose="020B0503020204020204" pitchFamily="34" charset="-122"/>
                <a:ea typeface="微软雅黑" panose="020B0503020204020204" pitchFamily="34" charset="-122"/>
              </a:rPr>
              <a:t>-server-side-encryption</a:t>
            </a:r>
            <a:r>
              <a:rPr lang="zh-CN" altLang="en-US" sz="2000" dirty="0">
                <a:solidFill>
                  <a:srgbClr val="262626"/>
                </a:solidFill>
                <a:latin typeface="微软雅黑" panose="020B0503020204020204" pitchFamily="34" charset="-122"/>
                <a:ea typeface="微软雅黑" panose="020B0503020204020204" pitchFamily="34" charset="-122"/>
              </a:rPr>
              <a:t>（加密算法）。</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自定义元数据​​需以</a:t>
            </a:r>
            <a:r>
              <a:rPr lang="en-US" altLang="zh-CN" sz="2000" dirty="0">
                <a:solidFill>
                  <a:srgbClr val="262626"/>
                </a:solidFill>
                <a:latin typeface="微软雅黑" panose="020B0503020204020204" pitchFamily="34" charset="-122"/>
                <a:ea typeface="微软雅黑" panose="020B0503020204020204" pitchFamily="34" charset="-122"/>
              </a:rPr>
              <a:t>x-</a:t>
            </a:r>
            <a:r>
              <a:rPr lang="en-US" altLang="zh-CN" sz="2000" dirty="0" err="1">
                <a:solidFill>
                  <a:srgbClr val="262626"/>
                </a:solidFill>
                <a:latin typeface="微软雅黑" panose="020B0503020204020204" pitchFamily="34" charset="-122"/>
                <a:ea typeface="微软雅黑" panose="020B0503020204020204" pitchFamily="34" charset="-122"/>
              </a:rPr>
              <a:t>amz</a:t>
            </a:r>
            <a:r>
              <a:rPr lang="en-US" altLang="zh-CN" sz="2000" dirty="0">
                <a:solidFill>
                  <a:srgbClr val="262626"/>
                </a:solidFill>
                <a:latin typeface="微软雅黑" panose="020B0503020204020204" pitchFamily="34" charset="-122"/>
                <a:ea typeface="微软雅黑" panose="020B0503020204020204" pitchFamily="34" charset="-122"/>
              </a:rPr>
              <a:t>-meta-</a:t>
            </a:r>
            <a:r>
              <a:rPr lang="zh-CN" altLang="en-US" sz="2000" dirty="0">
                <a:solidFill>
                  <a:srgbClr val="262626"/>
                </a:solidFill>
                <a:latin typeface="微软雅黑" panose="020B0503020204020204" pitchFamily="34" charset="-122"/>
                <a:ea typeface="微软雅黑" panose="020B0503020204020204" pitchFamily="34" charset="-122"/>
              </a:rPr>
              <a:t>为前缀（如</a:t>
            </a:r>
            <a:r>
              <a:rPr lang="en-US" altLang="zh-CN" sz="2000" dirty="0">
                <a:solidFill>
                  <a:srgbClr val="262626"/>
                </a:solidFill>
                <a:latin typeface="微软雅黑" panose="020B0503020204020204" pitchFamily="34" charset="-122"/>
                <a:ea typeface="微软雅黑" panose="020B0503020204020204" pitchFamily="34" charset="-122"/>
              </a:rPr>
              <a:t>x-</a:t>
            </a:r>
            <a:r>
              <a:rPr lang="en-US" altLang="zh-CN" sz="2000" dirty="0" err="1">
                <a:solidFill>
                  <a:srgbClr val="262626"/>
                </a:solidFill>
                <a:latin typeface="微软雅黑" panose="020B0503020204020204" pitchFamily="34" charset="-122"/>
                <a:ea typeface="微软雅黑" panose="020B0503020204020204" pitchFamily="34" charset="-122"/>
              </a:rPr>
              <a:t>amz</a:t>
            </a:r>
            <a:r>
              <a:rPr lang="en-US" altLang="zh-CN" sz="2000" dirty="0">
                <a:solidFill>
                  <a:srgbClr val="262626"/>
                </a:solidFill>
                <a:latin typeface="微软雅黑" panose="020B0503020204020204" pitchFamily="34" charset="-122"/>
                <a:ea typeface="微软雅黑" panose="020B0503020204020204" pitchFamily="34" charset="-122"/>
              </a:rPr>
              <a:t>-meta-author=Alice</a:t>
            </a:r>
            <a:r>
              <a:rPr lang="zh-CN" altLang="en-US" sz="2000" dirty="0">
                <a:solidFill>
                  <a:srgbClr val="262626"/>
                </a:solidFill>
                <a:latin typeface="微软雅黑" panose="020B0503020204020204" pitchFamily="34" charset="-122"/>
                <a:ea typeface="微软雅黑" panose="020B0503020204020204" pitchFamily="34" charset="-122"/>
              </a:rPr>
              <a:t>），用于业务扩展，如标记数据来源、分类或触发自动化流程。</a:t>
            </a:r>
          </a:p>
          <a:p>
            <a:pPr lvl="1">
              <a:lnSpc>
                <a:spcPct val="150000"/>
              </a:lnSpc>
            </a:pPr>
            <a:r>
              <a:rPr lang="zh-CN" altLang="en-US" sz="2000" b="1" dirty="0">
                <a:solidFill>
                  <a:srgbClr val="262626"/>
                </a:solidFill>
                <a:latin typeface="微软雅黑" panose="020B0503020204020204" pitchFamily="34" charset="-122"/>
                <a:ea typeface="微软雅黑" panose="020B0503020204020204" pitchFamily="34" charset="-122"/>
              </a:rPr>
              <a:t>​​核心操作​​</a:t>
            </a:r>
          </a:p>
          <a:p>
            <a:pPr lvl="2">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​​读写​​：通过</a:t>
            </a:r>
            <a:r>
              <a:rPr lang="en-US" altLang="zh-CN" sz="2000" dirty="0">
                <a:solidFill>
                  <a:srgbClr val="262626"/>
                </a:solidFill>
                <a:latin typeface="微软雅黑" panose="020B0503020204020204" pitchFamily="34" charset="-122"/>
                <a:ea typeface="微软雅黑" panose="020B0503020204020204" pitchFamily="34" charset="-122"/>
              </a:rPr>
              <a:t>HTTP</a:t>
            </a:r>
            <a:r>
              <a:rPr lang="zh-CN" altLang="en-US" sz="2000" dirty="0">
                <a:solidFill>
                  <a:srgbClr val="262626"/>
                </a:solidFill>
                <a:latin typeface="微软雅黑" panose="020B0503020204020204" pitchFamily="34" charset="-122"/>
                <a:ea typeface="微软雅黑" panose="020B0503020204020204" pitchFamily="34" charset="-122"/>
              </a:rPr>
              <a:t>头（上传</a:t>
            </a:r>
            <a:r>
              <a:rPr lang="en-US" altLang="zh-CN" sz="2000" dirty="0">
                <a:solidFill>
                  <a:srgbClr val="262626"/>
                </a:solidFill>
                <a:latin typeface="微软雅黑" panose="020B0503020204020204" pitchFamily="34" charset="-122"/>
                <a:ea typeface="微软雅黑" panose="020B0503020204020204" pitchFamily="34" charset="-122"/>
              </a:rPr>
              <a:t>/</a:t>
            </a:r>
            <a:r>
              <a:rPr lang="zh-CN" altLang="en-US" sz="2000" dirty="0">
                <a:solidFill>
                  <a:srgbClr val="262626"/>
                </a:solidFill>
                <a:latin typeface="微软雅黑" panose="020B0503020204020204" pitchFamily="34" charset="-122"/>
                <a:ea typeface="微软雅黑" panose="020B0503020204020204" pitchFamily="34" charset="-122"/>
              </a:rPr>
              <a:t>下载时设置）或</a:t>
            </a:r>
            <a:r>
              <a:rPr lang="en-US" altLang="zh-CN" sz="2000" dirty="0">
                <a:solidFill>
                  <a:srgbClr val="262626"/>
                </a:solidFill>
                <a:latin typeface="微软雅黑" panose="020B0503020204020204" pitchFamily="34" charset="-122"/>
                <a:ea typeface="微软雅黑" panose="020B0503020204020204" pitchFamily="34" charset="-122"/>
              </a:rPr>
              <a:t>API</a:t>
            </a:r>
            <a:r>
              <a:rPr lang="zh-CN" altLang="en-US" sz="2000" dirty="0">
                <a:solidFill>
                  <a:srgbClr val="262626"/>
                </a:solidFill>
                <a:latin typeface="微软雅黑" panose="020B0503020204020204" pitchFamily="34" charset="-122"/>
                <a:ea typeface="微软雅黑" panose="020B0503020204020204" pitchFamily="34" charset="-122"/>
              </a:rPr>
              <a:t>独立更新。</a:t>
            </a:r>
          </a:p>
          <a:p>
            <a:pPr lvl="2">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​​更新​​：使用</a:t>
            </a:r>
            <a:r>
              <a:rPr lang="en-US" altLang="zh-CN" sz="2000" dirty="0">
                <a:solidFill>
                  <a:srgbClr val="262626"/>
                </a:solidFill>
                <a:latin typeface="微软雅黑" panose="020B0503020204020204" pitchFamily="34" charset="-122"/>
                <a:ea typeface="微软雅黑" panose="020B0503020204020204" pitchFamily="34" charset="-122"/>
              </a:rPr>
              <a:t>COPY</a:t>
            </a:r>
            <a:r>
              <a:rPr lang="zh-CN" altLang="en-US" sz="2000" dirty="0">
                <a:solidFill>
                  <a:srgbClr val="262626"/>
                </a:solidFill>
                <a:latin typeface="微软雅黑" panose="020B0503020204020204" pitchFamily="34" charset="-122"/>
                <a:ea typeface="微软雅黑" panose="020B0503020204020204" pitchFamily="34" charset="-122"/>
              </a:rPr>
              <a:t>操作覆盖元数据（无需重新上传文件内容）。</a:t>
            </a:r>
          </a:p>
          <a:p>
            <a:pPr lvl="1">
              <a:lnSpc>
                <a:spcPct val="150000"/>
              </a:lnSpc>
            </a:pPr>
            <a:r>
              <a:rPr lang="zh-CN" altLang="en-US" sz="2000" b="1" dirty="0">
                <a:solidFill>
                  <a:srgbClr val="262626"/>
                </a:solidFill>
                <a:latin typeface="微软雅黑" panose="020B0503020204020204" pitchFamily="34" charset="-122"/>
                <a:ea typeface="微软雅黑" panose="020B0503020204020204" pitchFamily="34" charset="-122"/>
              </a:rPr>
              <a:t>​​核心应用​​</a:t>
            </a:r>
          </a:p>
          <a:p>
            <a:pPr lvl="2">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​​数据管理​​：标记敏感数据、加速检索、关联生命周期策略。</a:t>
            </a:r>
          </a:p>
          <a:p>
            <a:pPr lvl="2">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​​自动化​​：触发</a:t>
            </a:r>
            <a:r>
              <a:rPr lang="en-US" altLang="zh-CN" sz="2000" dirty="0">
                <a:solidFill>
                  <a:srgbClr val="262626"/>
                </a:solidFill>
                <a:latin typeface="微软雅黑" panose="020B0503020204020204" pitchFamily="34" charset="-122"/>
                <a:ea typeface="微软雅黑" panose="020B0503020204020204" pitchFamily="34" charset="-122"/>
              </a:rPr>
              <a:t>Lambda</a:t>
            </a:r>
            <a:r>
              <a:rPr lang="zh-CN" altLang="en-US" sz="2000" dirty="0">
                <a:solidFill>
                  <a:srgbClr val="262626"/>
                </a:solidFill>
                <a:latin typeface="微软雅黑" panose="020B0503020204020204" pitchFamily="34" charset="-122"/>
                <a:ea typeface="微软雅黑" panose="020B0503020204020204" pitchFamily="34" charset="-122"/>
              </a:rPr>
              <a:t>函数（如图片处理）、集成</a:t>
            </a:r>
            <a:r>
              <a:rPr lang="en-US" altLang="zh-CN" sz="2000" dirty="0">
                <a:solidFill>
                  <a:srgbClr val="262626"/>
                </a:solidFill>
                <a:latin typeface="微软雅黑" panose="020B0503020204020204" pitchFamily="34" charset="-122"/>
                <a:ea typeface="微软雅黑" panose="020B0503020204020204" pitchFamily="34" charset="-122"/>
              </a:rPr>
              <a:t>AI</a:t>
            </a:r>
            <a:r>
              <a:rPr lang="zh-CN" altLang="en-US" sz="2000" dirty="0">
                <a:solidFill>
                  <a:srgbClr val="262626"/>
                </a:solidFill>
                <a:latin typeface="微软雅黑" panose="020B0503020204020204" pitchFamily="34" charset="-122"/>
                <a:ea typeface="微软雅黑" panose="020B0503020204020204" pitchFamily="34" charset="-122"/>
              </a:rPr>
              <a:t>服务。</a:t>
            </a:r>
          </a:p>
        </p:txBody>
      </p:sp>
    </p:spTree>
    <p:extLst>
      <p:ext uri="{BB962C8B-B14F-4D97-AF65-F5344CB8AC3E}">
        <p14:creationId xmlns:p14="http://schemas.microsoft.com/office/powerpoint/2010/main" val="3540240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6523D-A20F-406B-D7A4-C79E1E7A9772}"/>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74536712-DF1A-AA9A-1AC8-AA1481DECC6F}"/>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DAB0A81A-95A1-839E-BFC7-7223B54B41F4}"/>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存储类别（</a:t>
            </a:r>
            <a:r>
              <a:rPr lang="en-US" altLang="zh-CN" sz="2800" b="1" dirty="0">
                <a:solidFill>
                  <a:srgbClr val="000000"/>
                </a:solidFill>
                <a:latin typeface="Microsoft YaHei" pitchFamily="34" charset="0"/>
                <a:ea typeface="Microsoft YaHei" pitchFamily="34" charset="-122"/>
                <a:cs typeface="Microsoft YaHei" pitchFamily="34" charset="-120"/>
              </a:rPr>
              <a:t>Storage Classes</a:t>
            </a:r>
            <a:r>
              <a:rPr lang="zh-CN" altLang="en-US" sz="2800" b="1" dirty="0">
                <a:solidFill>
                  <a:srgbClr val="000000"/>
                </a:solidFill>
                <a:latin typeface="Microsoft YaHei" pitchFamily="34" charset="0"/>
                <a:ea typeface="Microsoft YaHei" pitchFamily="34" charset="-122"/>
                <a:cs typeface="Microsoft YaHei" pitchFamily="34" charset="-120"/>
              </a:rPr>
              <a:t>）</a:t>
            </a:r>
            <a:endParaRPr lang="en-US" sz="2800" dirty="0"/>
          </a:p>
        </p:txBody>
      </p:sp>
      <p:sp>
        <p:nvSpPr>
          <p:cNvPr id="8" name="文本框 7">
            <a:extLst>
              <a:ext uri="{FF2B5EF4-FFF2-40B4-BE49-F238E27FC236}">
                <a16:creationId xmlns:a16="http://schemas.microsoft.com/office/drawing/2014/main" id="{F8EF50CD-6480-6FDD-12E9-2F3789647F1E}"/>
              </a:ext>
            </a:extLst>
          </p:cNvPr>
          <p:cNvSpPr txBox="1"/>
          <p:nvPr/>
        </p:nvSpPr>
        <p:spPr>
          <a:xfrm>
            <a:off x="306518" y="2513186"/>
            <a:ext cx="5789482" cy="3978012"/>
          </a:xfrm>
          <a:prstGeom prst="rect">
            <a:avLst/>
          </a:prstGeom>
          <a:noFill/>
        </p:spPr>
        <p:txBody>
          <a:bodyPr wrap="square">
            <a:spAutoFit/>
          </a:bodyPr>
          <a:lstStyle/>
          <a:p>
            <a:pPr fontAlgn="base">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1. </a:t>
            </a:r>
            <a:r>
              <a:rPr lang="zh-CN" altLang="en-US" sz="2000" b="1" dirty="0">
                <a:solidFill>
                  <a:srgbClr val="262626"/>
                </a:solidFill>
                <a:latin typeface="微软雅黑" panose="020B0503020204020204" pitchFamily="34" charset="-122"/>
                <a:ea typeface="微软雅黑" panose="020B0503020204020204" pitchFamily="34" charset="-122"/>
              </a:rPr>
              <a:t>标准存储（</a:t>
            </a:r>
            <a:r>
              <a:rPr lang="en-US" altLang="zh-CN" sz="2000" b="1" dirty="0">
                <a:solidFill>
                  <a:srgbClr val="262626"/>
                </a:solidFill>
                <a:latin typeface="微软雅黑" panose="020B0503020204020204" pitchFamily="34" charset="-122"/>
                <a:ea typeface="微软雅黑" panose="020B0503020204020204" pitchFamily="34" charset="-122"/>
              </a:rPr>
              <a:t>Standard</a:t>
            </a:r>
            <a:r>
              <a:rPr lang="zh-CN" altLang="en-US" sz="2000" b="1" dirty="0">
                <a:solidFill>
                  <a:srgbClr val="262626"/>
                </a:solidFill>
                <a:latin typeface="微软雅黑" panose="020B0503020204020204" pitchFamily="34" charset="-122"/>
                <a:ea typeface="微软雅黑" panose="020B0503020204020204" pitchFamily="34" charset="-122"/>
              </a:rPr>
              <a:t>）​​</a:t>
            </a:r>
          </a:p>
          <a:p>
            <a:pPr fontAlgn="base">
              <a:spcBef>
                <a:spcPts val="6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    设计目标​​：</a:t>
            </a:r>
            <a:endParaRPr lang="en-US" altLang="zh-CN" sz="2000" dirty="0">
              <a:solidFill>
                <a:srgbClr val="262626"/>
              </a:solidFill>
              <a:latin typeface="微软雅黑" panose="020B0503020204020204" pitchFamily="34" charset="-122"/>
              <a:ea typeface="微软雅黑" panose="020B0503020204020204" pitchFamily="34" charset="-122"/>
            </a:endParaRPr>
          </a:p>
          <a:p>
            <a:pPr fontAlgn="base">
              <a:spcBef>
                <a:spcPts val="600"/>
              </a:spcBef>
              <a:spcAft>
                <a:spcPts val="3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高频访问数据，提供最低延迟与最高吞吐。</a:t>
            </a:r>
          </a:p>
          <a:p>
            <a:pPr fontAlgn="base">
              <a:spcBef>
                <a:spcPts val="3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    技术特性​​：</a:t>
            </a: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​​可用性​​：</a:t>
            </a:r>
            <a:r>
              <a:rPr lang="en-US" altLang="zh-CN" sz="2000" dirty="0">
                <a:solidFill>
                  <a:srgbClr val="262626"/>
                </a:solidFill>
                <a:latin typeface="微软雅黑" panose="020B0503020204020204" pitchFamily="34" charset="-122"/>
                <a:ea typeface="微软雅黑" panose="020B0503020204020204" pitchFamily="34" charset="-122"/>
              </a:rPr>
              <a:t>99.99% </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11</a:t>
            </a:r>
            <a:r>
              <a:rPr lang="zh-CN" altLang="en-US" sz="2000" dirty="0">
                <a:solidFill>
                  <a:srgbClr val="262626"/>
                </a:solidFill>
                <a:latin typeface="微软雅黑" panose="020B0503020204020204" pitchFamily="34" charset="-122"/>
                <a:ea typeface="微软雅黑" panose="020B0503020204020204" pitchFamily="34" charset="-122"/>
              </a:rPr>
              <a:t>个</a:t>
            </a:r>
            <a:r>
              <a:rPr lang="en-US" altLang="zh-CN" sz="2000" dirty="0">
                <a:solidFill>
                  <a:srgbClr val="262626"/>
                </a:solidFill>
                <a:latin typeface="微软雅黑" panose="020B0503020204020204" pitchFamily="34" charset="-122"/>
                <a:ea typeface="微软雅黑" panose="020B0503020204020204" pitchFamily="34" charset="-122"/>
              </a:rPr>
              <a:t>9</a:t>
            </a:r>
            <a:r>
              <a:rPr lang="zh-CN" altLang="en-US" sz="2000" dirty="0">
                <a:solidFill>
                  <a:srgbClr val="262626"/>
                </a:solidFill>
                <a:latin typeface="微软雅黑" panose="020B0503020204020204" pitchFamily="34" charset="-122"/>
                <a:ea typeface="微软雅黑" panose="020B0503020204020204" pitchFamily="34" charset="-122"/>
              </a:rPr>
              <a:t>的持久性）。</a:t>
            </a: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延迟​​：毫秒级访问，适合实时</a:t>
            </a:r>
            <a:r>
              <a:rPr lang="en-US" altLang="zh-CN" sz="2000" dirty="0">
                <a:solidFill>
                  <a:srgbClr val="262626"/>
                </a:solidFill>
                <a:latin typeface="微软雅黑" panose="020B0503020204020204" pitchFamily="34" charset="-122"/>
                <a:ea typeface="微软雅黑" panose="020B0503020204020204" pitchFamily="34" charset="-122"/>
              </a:rPr>
              <a:t>API</a:t>
            </a:r>
            <a:r>
              <a:rPr lang="zh-CN" altLang="en-US" sz="2000" dirty="0">
                <a:solidFill>
                  <a:srgbClr val="262626"/>
                </a:solidFill>
                <a:latin typeface="微软雅黑" panose="020B0503020204020204" pitchFamily="34" charset="-122"/>
                <a:ea typeface="微软雅黑" panose="020B0503020204020204" pitchFamily="34" charset="-122"/>
              </a:rPr>
              <a:t>调用。</a:t>
            </a: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成本​​：存储单价最高，无数据取回费用。</a:t>
            </a:r>
            <a:endParaRPr lang="en-US" altLang="zh-CN" sz="2000" dirty="0">
              <a:solidFill>
                <a:srgbClr val="262626"/>
              </a:solidFill>
              <a:latin typeface="微软雅黑" panose="020B0503020204020204" pitchFamily="34" charset="-122"/>
              <a:ea typeface="微软雅黑" panose="020B0503020204020204" pitchFamily="34" charset="-122"/>
            </a:endParaRPr>
          </a:p>
          <a:p>
            <a:pPr marL="342900" lvl="1" indent="-342900" fontAlgn="base">
              <a:spcBef>
                <a:spcPts val="3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经典场景</a:t>
            </a:r>
            <a:endParaRPr lang="en-US" altLang="zh-CN" sz="2000" dirty="0">
              <a:solidFill>
                <a:srgbClr val="262626"/>
              </a:solidFill>
              <a:latin typeface="微软雅黑" panose="020B0503020204020204" pitchFamily="34" charset="-122"/>
              <a:ea typeface="微软雅黑" panose="020B0503020204020204" pitchFamily="34" charset="-122"/>
            </a:endParaRP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热数据：生产环境实时日志、活跃用户内容。</a:t>
            </a:r>
          </a:p>
          <a:p>
            <a:pPr marL="0" lvl="1" fontAlgn="base">
              <a:spcBef>
                <a:spcPts val="300"/>
              </a:spcBef>
              <a:spcAft>
                <a:spcPts val="1200"/>
              </a:spcAft>
            </a:pPr>
            <a:r>
              <a:rPr lang="zh-CN" altLang="en-US" sz="2000" dirty="0">
                <a:solidFill>
                  <a:srgbClr val="262626"/>
                </a:solidFill>
                <a:latin typeface="微软雅黑" panose="020B0503020204020204" pitchFamily="34" charset="-122"/>
                <a:ea typeface="微软雅黑" panose="020B0503020204020204" pitchFamily="34" charset="-122"/>
              </a:rPr>
              <a:t>        需要频繁读写的数据湖核心层。</a:t>
            </a:r>
          </a:p>
        </p:txBody>
      </p:sp>
      <p:sp>
        <p:nvSpPr>
          <p:cNvPr id="4" name="文本框 3">
            <a:extLst>
              <a:ext uri="{FF2B5EF4-FFF2-40B4-BE49-F238E27FC236}">
                <a16:creationId xmlns:a16="http://schemas.microsoft.com/office/drawing/2014/main" id="{8EC033A3-D1E7-D08F-7483-3D1BB2A7B28A}"/>
              </a:ext>
            </a:extLst>
          </p:cNvPr>
          <p:cNvSpPr txBox="1"/>
          <p:nvPr/>
        </p:nvSpPr>
        <p:spPr>
          <a:xfrm>
            <a:off x="5994231" y="2488638"/>
            <a:ext cx="6097022" cy="4208844"/>
          </a:xfrm>
          <a:prstGeom prst="rect">
            <a:avLst/>
          </a:prstGeom>
          <a:noFill/>
        </p:spPr>
        <p:txBody>
          <a:bodyPr wrap="square">
            <a:spAutoFit/>
          </a:bodyPr>
          <a:lstStyle/>
          <a:p>
            <a:pPr algn="l" fontAlgn="base">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2. </a:t>
            </a:r>
            <a:r>
              <a:rPr lang="zh-CN" altLang="en-US" sz="2000" b="1" dirty="0">
                <a:solidFill>
                  <a:srgbClr val="262626"/>
                </a:solidFill>
                <a:latin typeface="微软雅黑" panose="020B0503020204020204" pitchFamily="34" charset="-122"/>
                <a:ea typeface="微软雅黑" panose="020B0503020204020204" pitchFamily="34" charset="-122"/>
              </a:rPr>
              <a:t>低频访问存储（</a:t>
            </a:r>
            <a:r>
              <a:rPr lang="en-US" altLang="zh-CN" sz="2000" b="1" dirty="0">
                <a:solidFill>
                  <a:srgbClr val="262626"/>
                </a:solidFill>
                <a:latin typeface="微软雅黑" panose="020B0503020204020204" pitchFamily="34" charset="-122"/>
                <a:ea typeface="微软雅黑" panose="020B0503020204020204" pitchFamily="34" charset="-122"/>
              </a:rPr>
              <a:t>Infrequent Access, IA</a:t>
            </a:r>
            <a:r>
              <a:rPr lang="zh-CN" altLang="en-US" sz="2000" b="1" dirty="0">
                <a:solidFill>
                  <a:srgbClr val="262626"/>
                </a:solidFill>
                <a:latin typeface="微软雅黑" panose="020B0503020204020204" pitchFamily="34" charset="-122"/>
                <a:ea typeface="微软雅黑" panose="020B0503020204020204" pitchFamily="34" charset="-122"/>
              </a:rPr>
              <a:t>）</a:t>
            </a:r>
            <a:r>
              <a:rPr lang="zh-CN" altLang="en-US" b="1" i="0" dirty="0">
                <a:effectLst/>
                <a:latin typeface="inherit"/>
              </a:rPr>
              <a:t>​</a:t>
            </a:r>
            <a:r>
              <a:rPr lang="zh-CN" altLang="en-US" b="1" i="0" dirty="0">
                <a:effectLst/>
                <a:latin typeface="PingFang SC"/>
              </a:rPr>
              <a:t>​</a:t>
            </a:r>
          </a:p>
          <a:p>
            <a:pPr marL="342900" indent="-342900" fontAlgn="base">
              <a:spcBef>
                <a:spcPts val="3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技术特性​​：</a:t>
            </a: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可用性​​：</a:t>
            </a:r>
            <a:r>
              <a:rPr lang="en-US" altLang="zh-CN" sz="2000" dirty="0">
                <a:solidFill>
                  <a:srgbClr val="262626"/>
                </a:solidFill>
                <a:latin typeface="微软雅黑" panose="020B0503020204020204" pitchFamily="34" charset="-122"/>
                <a:ea typeface="微软雅黑" panose="020B0503020204020204" pitchFamily="34" charset="-122"/>
              </a:rPr>
              <a:t>99.9%</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Standard-IA</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99.5%</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One Zone-IA</a:t>
            </a:r>
            <a:r>
              <a:rPr lang="zh-CN" altLang="en-US" sz="2000" dirty="0">
                <a:solidFill>
                  <a:srgbClr val="262626"/>
                </a:solidFill>
                <a:latin typeface="微软雅黑" panose="020B0503020204020204" pitchFamily="34" charset="-122"/>
                <a:ea typeface="微软雅黑" panose="020B0503020204020204" pitchFamily="34" charset="-122"/>
              </a:rPr>
              <a:t>）。</a:t>
            </a:r>
          </a:p>
          <a:p>
            <a:pPr marL="342900" lvl="1" indent="-342900" fontAlgn="base">
              <a:spcBef>
                <a:spcPts val="3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成本模型​​：</a:t>
            </a:r>
          </a:p>
          <a:p>
            <a:pPr marL="0" lvl="2"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存储单价​​：比</a:t>
            </a:r>
            <a:r>
              <a:rPr lang="en-US" altLang="zh-CN" sz="2000" dirty="0">
                <a:solidFill>
                  <a:srgbClr val="262626"/>
                </a:solidFill>
                <a:latin typeface="微软雅黑" panose="020B0503020204020204" pitchFamily="34" charset="-122"/>
                <a:ea typeface="微软雅黑" panose="020B0503020204020204" pitchFamily="34" charset="-122"/>
              </a:rPr>
              <a:t>Standard</a:t>
            </a:r>
            <a:r>
              <a:rPr lang="zh-CN" altLang="en-US" sz="2000" dirty="0">
                <a:solidFill>
                  <a:srgbClr val="262626"/>
                </a:solidFill>
                <a:latin typeface="微软雅黑" panose="020B0503020204020204" pitchFamily="34" charset="-122"/>
                <a:ea typeface="微软雅黑" panose="020B0503020204020204" pitchFamily="34" charset="-122"/>
              </a:rPr>
              <a:t>低约</a:t>
            </a:r>
            <a:r>
              <a:rPr lang="en-US" altLang="zh-CN" sz="2000" dirty="0">
                <a:solidFill>
                  <a:srgbClr val="262626"/>
                </a:solidFill>
                <a:latin typeface="微软雅黑" panose="020B0503020204020204" pitchFamily="34" charset="-122"/>
                <a:ea typeface="微软雅黑" panose="020B0503020204020204" pitchFamily="34" charset="-122"/>
              </a:rPr>
              <a:t>40%-50%</a:t>
            </a:r>
            <a:r>
              <a:rPr lang="zh-CN" altLang="en-US" sz="2000" dirty="0">
                <a:solidFill>
                  <a:srgbClr val="262626"/>
                </a:solidFill>
                <a:latin typeface="微软雅黑" panose="020B0503020204020204" pitchFamily="34" charset="-122"/>
                <a:ea typeface="微软雅黑" panose="020B0503020204020204" pitchFamily="34" charset="-122"/>
              </a:rPr>
              <a:t>。</a:t>
            </a:r>
          </a:p>
          <a:p>
            <a:pPr marL="0" lvl="2"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取回费用​​：按</a:t>
            </a:r>
            <a:r>
              <a:rPr lang="en-US" altLang="zh-CN" sz="2000" dirty="0">
                <a:solidFill>
                  <a:srgbClr val="262626"/>
                </a:solidFill>
                <a:latin typeface="微软雅黑" panose="020B0503020204020204" pitchFamily="34" charset="-122"/>
                <a:ea typeface="微软雅黑" panose="020B0503020204020204" pitchFamily="34" charset="-122"/>
              </a:rPr>
              <a:t>GB</a:t>
            </a:r>
            <a:r>
              <a:rPr lang="zh-CN" altLang="en-US" sz="2000" dirty="0">
                <a:solidFill>
                  <a:srgbClr val="262626"/>
                </a:solidFill>
                <a:latin typeface="微软雅黑" panose="020B0503020204020204" pitchFamily="34" charset="-122"/>
                <a:ea typeface="微软雅黑" panose="020B0503020204020204" pitchFamily="34" charset="-122"/>
              </a:rPr>
              <a:t>收取，访问越少总体成本越低。</a:t>
            </a:r>
          </a:p>
          <a:p>
            <a:pPr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最小存储周期​​：</a:t>
            </a:r>
            <a:r>
              <a:rPr lang="en-US" altLang="zh-CN" sz="2000" dirty="0">
                <a:solidFill>
                  <a:srgbClr val="262626"/>
                </a:solidFill>
                <a:latin typeface="微软雅黑" panose="020B0503020204020204" pitchFamily="34" charset="-122"/>
                <a:ea typeface="微软雅黑" panose="020B0503020204020204" pitchFamily="34" charset="-122"/>
              </a:rPr>
              <a:t>30</a:t>
            </a:r>
            <a:r>
              <a:rPr lang="zh-CN" altLang="en-US" sz="2000" dirty="0">
                <a:solidFill>
                  <a:srgbClr val="262626"/>
                </a:solidFill>
                <a:latin typeface="微软雅黑" panose="020B0503020204020204" pitchFamily="34" charset="-122"/>
                <a:ea typeface="微软雅黑" panose="020B0503020204020204" pitchFamily="34" charset="-122"/>
              </a:rPr>
              <a:t>天（不足</a:t>
            </a:r>
            <a:r>
              <a:rPr lang="en-US" altLang="zh-CN" sz="2000" dirty="0">
                <a:solidFill>
                  <a:srgbClr val="262626"/>
                </a:solidFill>
                <a:latin typeface="微软雅黑" panose="020B0503020204020204" pitchFamily="34" charset="-122"/>
                <a:ea typeface="微软雅黑" panose="020B0503020204020204" pitchFamily="34" charset="-122"/>
              </a:rPr>
              <a:t>30</a:t>
            </a:r>
            <a:r>
              <a:rPr lang="zh-CN" altLang="en-US" sz="2000" dirty="0">
                <a:solidFill>
                  <a:srgbClr val="262626"/>
                </a:solidFill>
                <a:latin typeface="微软雅黑" panose="020B0503020204020204" pitchFamily="34" charset="-122"/>
                <a:ea typeface="微软雅黑" panose="020B0503020204020204" pitchFamily="34" charset="-122"/>
              </a:rPr>
              <a:t>天按</a:t>
            </a:r>
            <a:r>
              <a:rPr lang="en-US" altLang="zh-CN" sz="2000" dirty="0">
                <a:solidFill>
                  <a:srgbClr val="262626"/>
                </a:solidFill>
                <a:latin typeface="微软雅黑" panose="020B0503020204020204" pitchFamily="34" charset="-122"/>
                <a:ea typeface="微软雅黑" panose="020B0503020204020204" pitchFamily="34" charset="-122"/>
              </a:rPr>
              <a:t>30</a:t>
            </a:r>
            <a:r>
              <a:rPr lang="zh-CN" altLang="en-US" sz="2000" dirty="0">
                <a:solidFill>
                  <a:srgbClr val="262626"/>
                </a:solidFill>
                <a:latin typeface="微软雅黑" panose="020B0503020204020204" pitchFamily="34" charset="-122"/>
                <a:ea typeface="微软雅黑" panose="020B0503020204020204" pitchFamily="34" charset="-122"/>
              </a:rPr>
              <a:t>天计费）。</a:t>
            </a:r>
          </a:p>
          <a:p>
            <a:pPr marL="342900" indent="-342900" fontAlgn="base">
              <a:spcBef>
                <a:spcPts val="3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典型场景​​：</a:t>
            </a:r>
            <a:endParaRPr lang="en-US" altLang="zh-CN" sz="2000" dirty="0">
              <a:solidFill>
                <a:srgbClr val="262626"/>
              </a:solidFill>
              <a:latin typeface="微软雅黑" panose="020B0503020204020204" pitchFamily="34" charset="-122"/>
              <a:ea typeface="微软雅黑" panose="020B0503020204020204" pitchFamily="34" charset="-122"/>
            </a:endParaRPr>
          </a:p>
          <a:p>
            <a:pPr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备份与灾难恢复：每月访问</a:t>
            </a:r>
            <a:r>
              <a:rPr lang="en-US" altLang="zh-CN" sz="2000" dirty="0">
                <a:solidFill>
                  <a:srgbClr val="262626"/>
                </a:solidFill>
                <a:latin typeface="微软雅黑" panose="020B0503020204020204" pitchFamily="34" charset="-122"/>
                <a:ea typeface="微软雅黑" panose="020B0503020204020204" pitchFamily="34" charset="-122"/>
              </a:rPr>
              <a:t>1-2</a:t>
            </a:r>
            <a:r>
              <a:rPr lang="zh-CN" altLang="en-US" sz="2000" dirty="0">
                <a:solidFill>
                  <a:srgbClr val="262626"/>
                </a:solidFill>
                <a:latin typeface="微软雅黑" panose="020B0503020204020204" pitchFamily="34" charset="-122"/>
                <a:ea typeface="微软雅黑" panose="020B0503020204020204" pitchFamily="34" charset="-122"/>
              </a:rPr>
              <a:t>次的备份数据。</a:t>
            </a: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历史日志分析：季度性审计的日志文件。</a:t>
            </a:r>
          </a:p>
        </p:txBody>
      </p:sp>
      <p:sp>
        <p:nvSpPr>
          <p:cNvPr id="6" name="文本框 5">
            <a:extLst>
              <a:ext uri="{FF2B5EF4-FFF2-40B4-BE49-F238E27FC236}">
                <a16:creationId xmlns:a16="http://schemas.microsoft.com/office/drawing/2014/main" id="{56254467-6477-16DD-5866-F43739F60A86}"/>
              </a:ext>
            </a:extLst>
          </p:cNvPr>
          <p:cNvSpPr txBox="1"/>
          <p:nvPr/>
        </p:nvSpPr>
        <p:spPr>
          <a:xfrm>
            <a:off x="620426" y="1618175"/>
            <a:ext cx="9736211" cy="707886"/>
          </a:xfrm>
          <a:prstGeom prst="rect">
            <a:avLst/>
          </a:prstGeom>
          <a:noFill/>
        </p:spPr>
        <p:txBody>
          <a:bodyPr wrap="square">
            <a:spAutoFit/>
          </a:bodyPr>
          <a:lstStyle/>
          <a:p>
            <a:pPr marL="0" lvl="1" fontAlgn="base">
              <a:spcBef>
                <a:spcPts val="300"/>
              </a:spcBef>
              <a:spcAft>
                <a:spcPts val="300"/>
              </a:spcAft>
            </a:pPr>
            <a:r>
              <a:rPr lang="en-US" altLang="zh-CN" sz="2000" dirty="0">
                <a:solidFill>
                  <a:srgbClr val="262626"/>
                </a:solidFill>
                <a:latin typeface="微软雅黑" panose="020B0503020204020204" pitchFamily="34" charset="-122"/>
                <a:ea typeface="微软雅黑" panose="020B0503020204020204" pitchFamily="34" charset="-122"/>
              </a:rPr>
              <a:t>       S3</a:t>
            </a:r>
            <a:r>
              <a:rPr lang="zh-CN" altLang="en-US" sz="2000" dirty="0">
                <a:solidFill>
                  <a:srgbClr val="262626"/>
                </a:solidFill>
                <a:latin typeface="微软雅黑" panose="020B0503020204020204" pitchFamily="34" charset="-122"/>
                <a:ea typeface="微软雅黑" panose="020B0503020204020204" pitchFamily="34" charset="-122"/>
              </a:rPr>
              <a:t>的存储类别（</a:t>
            </a:r>
            <a:r>
              <a:rPr lang="en-US" altLang="zh-CN" sz="2000" dirty="0">
                <a:solidFill>
                  <a:srgbClr val="262626"/>
                </a:solidFill>
                <a:latin typeface="微软雅黑" panose="020B0503020204020204" pitchFamily="34" charset="-122"/>
                <a:ea typeface="微软雅黑" panose="020B0503020204020204" pitchFamily="34" charset="-122"/>
              </a:rPr>
              <a:t>Storage Classes</a:t>
            </a:r>
            <a:r>
              <a:rPr lang="zh-CN" altLang="en-US" sz="2000" dirty="0">
                <a:solidFill>
                  <a:srgbClr val="262626"/>
                </a:solidFill>
                <a:latin typeface="微软雅黑" panose="020B0503020204020204" pitchFamily="34" charset="-122"/>
                <a:ea typeface="微软雅黑" panose="020B0503020204020204" pitchFamily="34" charset="-122"/>
              </a:rPr>
              <a:t>）是​​成本优化​​的核心手段，通过分层存储策略，将数据按访问模式匹配到不同性价比的存储类型。</a:t>
            </a:r>
          </a:p>
        </p:txBody>
      </p:sp>
    </p:spTree>
    <p:extLst>
      <p:ext uri="{BB962C8B-B14F-4D97-AF65-F5344CB8AC3E}">
        <p14:creationId xmlns:p14="http://schemas.microsoft.com/office/powerpoint/2010/main" val="560498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49D9F674-B7A3-58EA-0F4B-9D5DE33F09D1}"/>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4EA5C133-2CB0-5231-A77F-71587E9FEB68}"/>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4E829DE1-AE5D-56A3-5C45-7C556247992E}"/>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存储类别（</a:t>
            </a:r>
            <a:r>
              <a:rPr lang="en-US" altLang="zh-CN" sz="2800" b="1" dirty="0">
                <a:solidFill>
                  <a:srgbClr val="000000"/>
                </a:solidFill>
                <a:latin typeface="Microsoft YaHei" pitchFamily="34" charset="0"/>
                <a:ea typeface="Microsoft YaHei" pitchFamily="34" charset="-122"/>
                <a:cs typeface="Microsoft YaHei" pitchFamily="34" charset="-120"/>
              </a:rPr>
              <a:t>Storage Classes</a:t>
            </a:r>
            <a:r>
              <a:rPr lang="zh-CN" altLang="en-US" sz="2800" b="1" dirty="0">
                <a:solidFill>
                  <a:srgbClr val="000000"/>
                </a:solidFill>
                <a:latin typeface="Microsoft YaHei" pitchFamily="34" charset="0"/>
                <a:ea typeface="Microsoft YaHei" pitchFamily="34" charset="-122"/>
                <a:cs typeface="Microsoft YaHei" pitchFamily="34" charset="-120"/>
              </a:rPr>
              <a:t>）</a:t>
            </a:r>
            <a:endParaRPr lang="en-US" sz="2800" dirty="0"/>
          </a:p>
        </p:txBody>
      </p:sp>
      <p:graphicFrame>
        <p:nvGraphicFramePr>
          <p:cNvPr id="3" name="表格 2">
            <a:extLst>
              <a:ext uri="{FF2B5EF4-FFF2-40B4-BE49-F238E27FC236}">
                <a16:creationId xmlns:a16="http://schemas.microsoft.com/office/drawing/2014/main" id="{EB086A4C-B1D0-88E0-7517-0956803934DE}"/>
              </a:ext>
            </a:extLst>
          </p:cNvPr>
          <p:cNvGraphicFramePr>
            <a:graphicFrameLocks noGrp="1"/>
          </p:cNvGraphicFramePr>
          <p:nvPr>
            <p:extLst>
              <p:ext uri="{D42A27DB-BD31-4B8C-83A1-F6EECF244321}">
                <p14:modId xmlns:p14="http://schemas.microsoft.com/office/powerpoint/2010/main" val="593724258"/>
              </p:ext>
            </p:extLst>
          </p:nvPr>
        </p:nvGraphicFramePr>
        <p:xfrm>
          <a:off x="650431" y="2536816"/>
          <a:ext cx="10891137" cy="2255520"/>
        </p:xfrm>
        <a:graphic>
          <a:graphicData uri="http://schemas.openxmlformats.org/drawingml/2006/table">
            <a:tbl>
              <a:tblPr>
                <a:tableStyleId>{616DA210-FB5B-4158-B5E0-FEB733F419BA}</a:tableStyleId>
              </a:tblPr>
              <a:tblGrid>
                <a:gridCol w="2722784">
                  <a:extLst>
                    <a:ext uri="{9D8B030D-6E8A-4147-A177-3AD203B41FA5}">
                      <a16:colId xmlns:a16="http://schemas.microsoft.com/office/drawing/2014/main" val="3671926500"/>
                    </a:ext>
                  </a:extLst>
                </a:gridCol>
                <a:gridCol w="2106607">
                  <a:extLst>
                    <a:ext uri="{9D8B030D-6E8A-4147-A177-3AD203B41FA5}">
                      <a16:colId xmlns:a16="http://schemas.microsoft.com/office/drawing/2014/main" val="1758294097"/>
                    </a:ext>
                  </a:extLst>
                </a:gridCol>
                <a:gridCol w="2211915">
                  <a:extLst>
                    <a:ext uri="{9D8B030D-6E8A-4147-A177-3AD203B41FA5}">
                      <a16:colId xmlns:a16="http://schemas.microsoft.com/office/drawing/2014/main" val="1205267037"/>
                    </a:ext>
                  </a:extLst>
                </a:gridCol>
                <a:gridCol w="3849831">
                  <a:extLst>
                    <a:ext uri="{9D8B030D-6E8A-4147-A177-3AD203B41FA5}">
                      <a16:colId xmlns:a16="http://schemas.microsoft.com/office/drawing/2014/main" val="1275920702"/>
                    </a:ext>
                  </a:extLst>
                </a:gridCol>
              </a:tblGrid>
              <a:tr h="0">
                <a:tc>
                  <a:txBody>
                    <a:bodyPr/>
                    <a:lstStyle/>
                    <a:p>
                      <a:pPr algn="ctr" fontAlgn="ctr"/>
                      <a:r>
                        <a:rPr lang="zh-CN" altLang="en-US" b="1" dirty="0">
                          <a:effectLst/>
                        </a:rPr>
                        <a:t>​​类型​​</a:t>
                      </a:r>
                      <a:endParaRPr lang="zh-CN" altLang="en-US" b="1" dirty="0">
                        <a:effectLst/>
                        <a:latin typeface="PingFang SC"/>
                      </a:endParaRPr>
                    </a:p>
                  </a:txBody>
                  <a:tcPr marL="101600" marR="101600" marT="76200" marB="76200" anchor="ctr"/>
                </a:tc>
                <a:tc>
                  <a:txBody>
                    <a:bodyPr/>
                    <a:lstStyle/>
                    <a:p>
                      <a:pPr algn="ctr" fontAlgn="ctr"/>
                      <a:r>
                        <a:rPr lang="zh-CN" altLang="en-US" b="1" dirty="0">
                          <a:effectLst/>
                        </a:rPr>
                        <a:t>​​最小存储周期​​</a:t>
                      </a:r>
                      <a:endParaRPr lang="zh-CN" altLang="en-US" b="1" dirty="0">
                        <a:effectLst/>
                        <a:latin typeface="PingFang SC"/>
                      </a:endParaRPr>
                    </a:p>
                  </a:txBody>
                  <a:tcPr marL="101600" marR="101600" marT="76200" marB="76200" anchor="ctr"/>
                </a:tc>
                <a:tc>
                  <a:txBody>
                    <a:bodyPr/>
                    <a:lstStyle/>
                    <a:p>
                      <a:pPr algn="ctr" fontAlgn="ctr"/>
                      <a:r>
                        <a:rPr lang="zh-CN" altLang="en-US" b="1">
                          <a:effectLst/>
                        </a:rPr>
                        <a:t>​​检索时间​​</a:t>
                      </a:r>
                      <a:endParaRPr lang="zh-CN" altLang="en-US" b="1">
                        <a:effectLst/>
                        <a:latin typeface="PingFang SC"/>
                      </a:endParaRPr>
                    </a:p>
                  </a:txBody>
                  <a:tcPr marL="101600" marR="101600" marT="76200" marB="76200" anchor="ctr"/>
                </a:tc>
                <a:tc>
                  <a:txBody>
                    <a:bodyPr/>
                    <a:lstStyle/>
                    <a:p>
                      <a:pPr algn="ctr" fontAlgn="ctr"/>
                      <a:r>
                        <a:rPr lang="zh-CN" altLang="en-US" b="1">
                          <a:effectLst/>
                        </a:rPr>
                        <a:t>​​典型场景​​</a:t>
                      </a:r>
                      <a:endParaRPr lang="zh-CN" altLang="en-US" b="1">
                        <a:effectLst/>
                        <a:latin typeface="PingFang SC"/>
                      </a:endParaRPr>
                    </a:p>
                  </a:txBody>
                  <a:tcPr marL="101600" marR="101600" marT="76200" marB="76200" anchor="ctr"/>
                </a:tc>
                <a:extLst>
                  <a:ext uri="{0D108BD9-81ED-4DB2-BD59-A6C34878D82A}">
                    <a16:rowId xmlns:a16="http://schemas.microsoft.com/office/drawing/2014/main" val="2677669181"/>
                  </a:ext>
                </a:extLst>
              </a:tr>
              <a:tr h="0">
                <a:tc>
                  <a:txBody>
                    <a:bodyPr/>
                    <a:lstStyle/>
                    <a:p>
                      <a:pPr algn="ctr" fontAlgn="ctr"/>
                      <a:r>
                        <a:rPr lang="en-US" b="0" dirty="0">
                          <a:effectLst/>
                        </a:rPr>
                        <a:t>​</a:t>
                      </a:r>
                      <a:r>
                        <a:rPr lang="en-US" b="1" dirty="0">
                          <a:effectLst/>
                        </a:rPr>
                        <a:t>​S3 Glacier Instant Retrieval​</a:t>
                      </a:r>
                      <a:r>
                        <a:rPr lang="en-US" b="0" dirty="0">
                          <a:effectLst/>
                        </a:rPr>
                        <a:t>​</a:t>
                      </a:r>
                      <a:endParaRPr lang="en-US" b="0" dirty="0">
                        <a:effectLst/>
                        <a:latin typeface="PingFang SC"/>
                      </a:endParaRPr>
                    </a:p>
                  </a:txBody>
                  <a:tcPr marL="101600" marR="101600" marT="76200" marB="76200" anchor="ctr"/>
                </a:tc>
                <a:tc>
                  <a:txBody>
                    <a:bodyPr/>
                    <a:lstStyle/>
                    <a:p>
                      <a:pPr algn="ctr" fontAlgn="ctr"/>
                      <a:r>
                        <a:rPr lang="en-US" altLang="zh-CN" b="0" dirty="0">
                          <a:effectLst/>
                        </a:rPr>
                        <a:t>90</a:t>
                      </a:r>
                      <a:r>
                        <a:rPr lang="zh-CN" altLang="en-US" b="0" dirty="0">
                          <a:effectLst/>
                        </a:rPr>
                        <a:t>天</a:t>
                      </a:r>
                      <a:endParaRPr lang="zh-CN" altLang="en-US" b="0" dirty="0">
                        <a:effectLst/>
                        <a:latin typeface="PingFang SC"/>
                      </a:endParaRPr>
                    </a:p>
                  </a:txBody>
                  <a:tcPr marL="101600" marR="101600" marT="76200" marB="76200" anchor="ctr"/>
                </a:tc>
                <a:tc>
                  <a:txBody>
                    <a:bodyPr/>
                    <a:lstStyle/>
                    <a:p>
                      <a:pPr algn="ctr" fontAlgn="ctr"/>
                      <a:r>
                        <a:rPr lang="zh-CN" altLang="en-US" b="0">
                          <a:effectLst/>
                        </a:rPr>
                        <a:t>毫秒级</a:t>
                      </a:r>
                      <a:endParaRPr lang="zh-CN" altLang="en-US" b="0">
                        <a:effectLst/>
                        <a:latin typeface="PingFang SC"/>
                      </a:endParaRPr>
                    </a:p>
                  </a:txBody>
                  <a:tcPr marL="101600" marR="101600" marT="76200" marB="76200" anchor="ctr"/>
                </a:tc>
                <a:tc>
                  <a:txBody>
                    <a:bodyPr/>
                    <a:lstStyle/>
                    <a:p>
                      <a:pPr algn="ctr" fontAlgn="ctr"/>
                      <a:r>
                        <a:rPr lang="zh-CN" altLang="en-US" b="0">
                          <a:effectLst/>
                        </a:rPr>
                        <a:t>紧急访问的归档数据（如合规文件）</a:t>
                      </a:r>
                      <a:endParaRPr lang="zh-CN" altLang="en-US" b="0">
                        <a:effectLst/>
                        <a:latin typeface="PingFang SC"/>
                      </a:endParaRPr>
                    </a:p>
                  </a:txBody>
                  <a:tcPr marL="101600" marR="101600" marT="76200" marB="76200" anchor="ctr"/>
                </a:tc>
                <a:extLst>
                  <a:ext uri="{0D108BD9-81ED-4DB2-BD59-A6C34878D82A}">
                    <a16:rowId xmlns:a16="http://schemas.microsoft.com/office/drawing/2014/main" val="2174776967"/>
                  </a:ext>
                </a:extLst>
              </a:tr>
              <a:tr h="0">
                <a:tc>
                  <a:txBody>
                    <a:bodyPr/>
                    <a:lstStyle/>
                    <a:p>
                      <a:pPr algn="ctr" fontAlgn="ctr"/>
                      <a:r>
                        <a:rPr lang="en-US" b="0" dirty="0">
                          <a:effectLst/>
                        </a:rPr>
                        <a:t>​</a:t>
                      </a:r>
                      <a:r>
                        <a:rPr lang="en-US" b="1" dirty="0">
                          <a:effectLst/>
                        </a:rPr>
                        <a:t>​S3 Glacier Flexible Retrieval​</a:t>
                      </a:r>
                      <a:r>
                        <a:rPr lang="en-US" b="0" dirty="0">
                          <a:effectLst/>
                        </a:rPr>
                        <a:t>​</a:t>
                      </a:r>
                      <a:endParaRPr lang="en-US" b="0" dirty="0">
                        <a:effectLst/>
                        <a:latin typeface="PingFang SC"/>
                      </a:endParaRPr>
                    </a:p>
                  </a:txBody>
                  <a:tcPr marL="101600" marR="101600" marT="76200" marB="76200" anchor="ctr"/>
                </a:tc>
                <a:tc>
                  <a:txBody>
                    <a:bodyPr/>
                    <a:lstStyle/>
                    <a:p>
                      <a:pPr algn="ctr" fontAlgn="ctr"/>
                      <a:r>
                        <a:rPr lang="en-US" altLang="zh-CN" b="0" dirty="0">
                          <a:effectLst/>
                        </a:rPr>
                        <a:t>90</a:t>
                      </a:r>
                      <a:r>
                        <a:rPr lang="zh-CN" altLang="en-US" b="0" dirty="0">
                          <a:effectLst/>
                        </a:rPr>
                        <a:t>天</a:t>
                      </a:r>
                      <a:endParaRPr lang="zh-CN" altLang="en-US" b="0" dirty="0">
                        <a:effectLst/>
                        <a:latin typeface="PingFang SC"/>
                      </a:endParaRPr>
                    </a:p>
                  </a:txBody>
                  <a:tcPr marL="101600" marR="101600" marT="76200" marB="76200" anchor="ctr"/>
                </a:tc>
                <a:tc>
                  <a:txBody>
                    <a:bodyPr/>
                    <a:lstStyle/>
                    <a:p>
                      <a:pPr algn="ctr" fontAlgn="ctr"/>
                      <a:r>
                        <a:rPr lang="en-US" altLang="zh-CN" b="0" dirty="0">
                          <a:effectLst/>
                        </a:rPr>
                        <a:t>1</a:t>
                      </a:r>
                      <a:r>
                        <a:rPr lang="zh-CN" altLang="en-US" b="0" dirty="0">
                          <a:effectLst/>
                        </a:rPr>
                        <a:t>分钟</a:t>
                      </a:r>
                      <a:r>
                        <a:rPr lang="en-US" altLang="zh-CN" b="0" dirty="0">
                          <a:effectLst/>
                        </a:rPr>
                        <a:t>~12</a:t>
                      </a:r>
                      <a:r>
                        <a:rPr lang="zh-CN" altLang="en-US" b="0" dirty="0">
                          <a:effectLst/>
                        </a:rPr>
                        <a:t>小时</a:t>
                      </a:r>
                      <a:endParaRPr lang="zh-CN" altLang="en-US" b="0" dirty="0">
                        <a:effectLst/>
                        <a:latin typeface="PingFang SC"/>
                      </a:endParaRPr>
                    </a:p>
                  </a:txBody>
                  <a:tcPr marL="101600" marR="101600" marT="76200" marB="76200" anchor="ctr"/>
                </a:tc>
                <a:tc>
                  <a:txBody>
                    <a:bodyPr/>
                    <a:lstStyle/>
                    <a:p>
                      <a:pPr algn="ctr" fontAlgn="ctr"/>
                      <a:r>
                        <a:rPr lang="zh-CN" altLang="en-US" b="0" dirty="0">
                          <a:effectLst/>
                        </a:rPr>
                        <a:t>季度</a:t>
                      </a:r>
                      <a:r>
                        <a:rPr lang="en-US" altLang="zh-CN" b="0" dirty="0">
                          <a:effectLst/>
                        </a:rPr>
                        <a:t>/</a:t>
                      </a:r>
                      <a:r>
                        <a:rPr lang="zh-CN" altLang="en-US" b="0" dirty="0">
                          <a:effectLst/>
                        </a:rPr>
                        <a:t>年度分析数据</a:t>
                      </a:r>
                      <a:endParaRPr lang="zh-CN" altLang="en-US" b="0" dirty="0">
                        <a:effectLst/>
                        <a:latin typeface="PingFang SC"/>
                      </a:endParaRPr>
                    </a:p>
                  </a:txBody>
                  <a:tcPr marL="101600" marR="101600" marT="76200" marB="76200" anchor="ctr"/>
                </a:tc>
                <a:extLst>
                  <a:ext uri="{0D108BD9-81ED-4DB2-BD59-A6C34878D82A}">
                    <a16:rowId xmlns:a16="http://schemas.microsoft.com/office/drawing/2014/main" val="1026700605"/>
                  </a:ext>
                </a:extLst>
              </a:tr>
              <a:tr h="0">
                <a:tc>
                  <a:txBody>
                    <a:bodyPr/>
                    <a:lstStyle/>
                    <a:p>
                      <a:pPr algn="ctr" fontAlgn="ctr"/>
                      <a:r>
                        <a:rPr lang="en-US" b="0">
                          <a:effectLst/>
                        </a:rPr>
                        <a:t>​</a:t>
                      </a:r>
                      <a:r>
                        <a:rPr lang="en-US" b="1">
                          <a:effectLst/>
                        </a:rPr>
                        <a:t>​S3 Glacier Deep Archive​</a:t>
                      </a:r>
                      <a:r>
                        <a:rPr lang="en-US" b="0">
                          <a:effectLst/>
                        </a:rPr>
                        <a:t>​</a:t>
                      </a:r>
                      <a:endParaRPr lang="en-US" b="0">
                        <a:effectLst/>
                        <a:latin typeface="PingFang SC"/>
                      </a:endParaRPr>
                    </a:p>
                  </a:txBody>
                  <a:tcPr marL="101600" marR="101600" marT="76200" marB="76200" anchor="ctr"/>
                </a:tc>
                <a:tc>
                  <a:txBody>
                    <a:bodyPr/>
                    <a:lstStyle/>
                    <a:p>
                      <a:pPr algn="ctr" fontAlgn="ctr"/>
                      <a:r>
                        <a:rPr lang="en-US" altLang="zh-CN" b="0">
                          <a:effectLst/>
                        </a:rPr>
                        <a:t>180</a:t>
                      </a:r>
                      <a:r>
                        <a:rPr lang="zh-CN" altLang="en-US" b="0">
                          <a:effectLst/>
                        </a:rPr>
                        <a:t>天</a:t>
                      </a:r>
                      <a:endParaRPr lang="zh-CN" altLang="en-US" b="0">
                        <a:effectLst/>
                        <a:latin typeface="PingFang SC"/>
                      </a:endParaRPr>
                    </a:p>
                  </a:txBody>
                  <a:tcPr marL="101600" marR="101600" marT="76200" marB="76200" anchor="ctr"/>
                </a:tc>
                <a:tc>
                  <a:txBody>
                    <a:bodyPr/>
                    <a:lstStyle/>
                    <a:p>
                      <a:pPr algn="ctr" fontAlgn="ctr"/>
                      <a:r>
                        <a:rPr lang="en-US" altLang="zh-CN" b="0">
                          <a:effectLst/>
                        </a:rPr>
                        <a:t>12~48</a:t>
                      </a:r>
                      <a:r>
                        <a:rPr lang="zh-CN" altLang="en-US" b="0">
                          <a:effectLst/>
                        </a:rPr>
                        <a:t>小时</a:t>
                      </a:r>
                      <a:endParaRPr lang="zh-CN" altLang="en-US" b="0">
                        <a:effectLst/>
                        <a:latin typeface="PingFang SC"/>
                      </a:endParaRPr>
                    </a:p>
                  </a:txBody>
                  <a:tcPr marL="101600" marR="101600" marT="76200" marB="76200" anchor="ctr"/>
                </a:tc>
                <a:tc>
                  <a:txBody>
                    <a:bodyPr/>
                    <a:lstStyle/>
                    <a:p>
                      <a:pPr algn="ctr" fontAlgn="ctr"/>
                      <a:r>
                        <a:rPr lang="zh-CN" altLang="en-US" b="0" dirty="0">
                          <a:effectLst/>
                        </a:rPr>
                        <a:t>长期合规存档（</a:t>
                      </a:r>
                      <a:r>
                        <a:rPr lang="en-US" altLang="zh-CN" b="0" dirty="0">
                          <a:effectLst/>
                        </a:rPr>
                        <a:t>7-10</a:t>
                      </a:r>
                      <a:r>
                        <a:rPr lang="zh-CN" altLang="en-US" b="0" dirty="0">
                          <a:effectLst/>
                        </a:rPr>
                        <a:t>年）、冷备份</a:t>
                      </a:r>
                      <a:endParaRPr lang="zh-CN" altLang="en-US" b="0" dirty="0">
                        <a:effectLst/>
                        <a:latin typeface="PingFang SC"/>
                      </a:endParaRPr>
                    </a:p>
                  </a:txBody>
                  <a:tcPr marL="101600" marR="101600" marT="76200" marB="76200" anchor="ctr"/>
                </a:tc>
                <a:extLst>
                  <a:ext uri="{0D108BD9-81ED-4DB2-BD59-A6C34878D82A}">
                    <a16:rowId xmlns:a16="http://schemas.microsoft.com/office/drawing/2014/main" val="3106955019"/>
                  </a:ext>
                </a:extLst>
              </a:tr>
            </a:tbl>
          </a:graphicData>
        </a:graphic>
      </p:graphicFrame>
      <p:sp>
        <p:nvSpPr>
          <p:cNvPr id="5" name="Rectangle 2">
            <a:extLst>
              <a:ext uri="{FF2B5EF4-FFF2-40B4-BE49-F238E27FC236}">
                <a16:creationId xmlns:a16="http://schemas.microsoft.com/office/drawing/2014/main" id="{89275F40-87EE-1A71-EF7A-AF65E2DB252E}"/>
              </a:ext>
            </a:extLst>
          </p:cNvPr>
          <p:cNvSpPr>
            <a:spLocks noChangeArrowheads="1"/>
          </p:cNvSpPr>
          <p:nvPr/>
        </p:nvSpPr>
        <p:spPr bwMode="auto">
          <a:xfrm>
            <a:off x="957197" y="1869657"/>
            <a:ext cx="65" cy="485324"/>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3155" rIns="0" bIns="10315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FF1FFA4C-60D4-5EA2-9D64-5C0A0E8065A4}"/>
              </a:ext>
            </a:extLst>
          </p:cNvPr>
          <p:cNvSpPr txBox="1"/>
          <p:nvPr/>
        </p:nvSpPr>
        <p:spPr>
          <a:xfrm>
            <a:off x="957197" y="4851205"/>
            <a:ext cx="9713037" cy="1946687"/>
          </a:xfrm>
          <a:prstGeom prst="rect">
            <a:avLst/>
          </a:prstGeom>
          <a:noFill/>
        </p:spPr>
        <p:txBody>
          <a:bodyPr wrap="square">
            <a:spAutoFit/>
          </a:bodyPr>
          <a:lstStyle/>
          <a:p>
            <a:pPr marL="342900" marR="0" lvl="0" indent="-342900" eaLnBrk="1" hangingPunct="1">
              <a:lnSpc>
                <a:spcPct val="100000"/>
              </a:lnSpc>
              <a:spcBef>
                <a:spcPct val="0"/>
              </a:spcBef>
              <a:spcAft>
                <a:spcPts val="300"/>
              </a:spcAft>
              <a:buClrTx/>
              <a:buSzTx/>
              <a:buFont typeface="Arial" panose="020B0604020202020204" pitchFamily="34" charset="0"/>
              <a:buChar char="•"/>
              <a:tabLst/>
            </a:pPr>
            <a:r>
              <a:rPr lang="zh-CN" altLang="zh-CN" dirty="0">
                <a:solidFill>
                  <a:srgbClr val="262626"/>
                </a:solidFill>
                <a:latin typeface="微软雅黑" panose="020B0503020204020204" pitchFamily="34" charset="-122"/>
                <a:ea typeface="微软雅黑" panose="020B0503020204020204" pitchFamily="34" charset="-122"/>
              </a:rPr>
              <a:t>技术特性​​：</a:t>
            </a:r>
          </a:p>
          <a:p>
            <a:pPr marL="0" marR="0" lvl="1" indent="0" eaLnBrk="1" hangingPunct="1">
              <a:lnSpc>
                <a:spcPct val="100000"/>
              </a:lnSpc>
              <a:spcBef>
                <a:spcPct val="0"/>
              </a:spcBef>
              <a:spcAft>
                <a:spcPts val="300"/>
              </a:spcAft>
              <a:buClrTx/>
              <a:buSzTx/>
              <a:tabLst/>
            </a:pPr>
            <a:r>
              <a:rPr lang="zh-CN" altLang="zh-CN" dirty="0">
                <a:solidFill>
                  <a:srgbClr val="262626"/>
                </a:solidFill>
                <a:latin typeface="微软雅黑" panose="020B0503020204020204" pitchFamily="34" charset="-122"/>
                <a:ea typeface="微软雅黑" panose="020B0503020204020204" pitchFamily="34" charset="-122"/>
              </a:rPr>
              <a:t>存储成本​​：比Standard低70%-95%，Deep Archive单价最低。</a:t>
            </a:r>
          </a:p>
          <a:p>
            <a:pPr marL="0" marR="0" lvl="1" indent="0" eaLnBrk="1" hangingPunct="1">
              <a:lnSpc>
                <a:spcPct val="100000"/>
              </a:lnSpc>
              <a:spcBef>
                <a:spcPct val="0"/>
              </a:spcBef>
              <a:spcAft>
                <a:spcPts val="300"/>
              </a:spcAft>
              <a:buClrTx/>
              <a:buSzTx/>
              <a:tabLst/>
            </a:pPr>
            <a:r>
              <a:rPr lang="zh-CN" altLang="zh-CN" dirty="0">
                <a:solidFill>
                  <a:srgbClr val="262626"/>
                </a:solidFill>
                <a:latin typeface="微软雅黑" panose="020B0503020204020204" pitchFamily="34" charset="-122"/>
                <a:ea typeface="微软雅黑" panose="020B0503020204020204" pitchFamily="34" charset="-122"/>
              </a:rPr>
              <a:t>检索费用​​：按速度和数据量阶梯计费（如Expedited检索费用最高）。</a:t>
            </a:r>
          </a:p>
          <a:p>
            <a:pPr marL="342900" marR="0" lvl="0" indent="-342900" eaLnBrk="1" hangingPunct="1">
              <a:lnSpc>
                <a:spcPct val="100000"/>
              </a:lnSpc>
              <a:spcBef>
                <a:spcPct val="0"/>
              </a:spcBef>
              <a:spcAft>
                <a:spcPts val="300"/>
              </a:spcAft>
              <a:buClrTx/>
              <a:buSzTx/>
              <a:buFont typeface="Arial" panose="020B0604020202020204" pitchFamily="34" charset="0"/>
              <a:buChar char="•"/>
              <a:tabLst/>
            </a:pPr>
            <a:r>
              <a:rPr lang="zh-CN" altLang="zh-CN" dirty="0">
                <a:solidFill>
                  <a:srgbClr val="262626"/>
                </a:solidFill>
                <a:latin typeface="微软雅黑" panose="020B0503020204020204" pitchFamily="34" charset="-122"/>
                <a:ea typeface="微软雅黑" panose="020B0503020204020204" pitchFamily="34" charset="-122"/>
              </a:rPr>
              <a:t>操作约束​​：</a:t>
            </a:r>
          </a:p>
          <a:p>
            <a:pPr marL="0" marR="0" lvl="1" indent="0" eaLnBrk="1" hangingPunct="1">
              <a:lnSpc>
                <a:spcPct val="100000"/>
              </a:lnSpc>
              <a:spcBef>
                <a:spcPct val="0"/>
              </a:spcBef>
              <a:spcAft>
                <a:spcPts val="300"/>
              </a:spcAft>
              <a:buClrTx/>
              <a:buSzTx/>
              <a:tabLst/>
            </a:pPr>
            <a:r>
              <a:rPr lang="zh-CN" altLang="zh-CN" dirty="0">
                <a:solidFill>
                  <a:srgbClr val="262626"/>
                </a:solidFill>
                <a:latin typeface="微软雅黑" panose="020B0503020204020204" pitchFamily="34" charset="-122"/>
                <a:ea typeface="微软雅黑" panose="020B0503020204020204" pitchFamily="34" charset="-122"/>
              </a:rPr>
              <a:t>异步取回​​：需发起Restore请求，数据暂存到标准层后访问。</a:t>
            </a:r>
          </a:p>
          <a:p>
            <a:pPr marL="0" marR="0" lvl="1" indent="0" eaLnBrk="1" hangingPunct="1">
              <a:lnSpc>
                <a:spcPct val="100000"/>
              </a:lnSpc>
              <a:spcBef>
                <a:spcPct val="0"/>
              </a:spcBef>
              <a:spcAft>
                <a:spcPts val="300"/>
              </a:spcAft>
              <a:buClrTx/>
              <a:buSzTx/>
              <a:tabLst/>
            </a:pPr>
            <a:r>
              <a:rPr lang="zh-CN" altLang="zh-CN" dirty="0">
                <a:solidFill>
                  <a:srgbClr val="262626"/>
                </a:solidFill>
                <a:latin typeface="微软雅黑" panose="020B0503020204020204" pitchFamily="34" charset="-122"/>
                <a:ea typeface="微软雅黑" panose="020B0503020204020204" pitchFamily="34" charset="-122"/>
              </a:rPr>
              <a:t>生命周期策略​​：可自动将旧数据迁移至归档层（如365天后转Glacier）。</a:t>
            </a:r>
          </a:p>
        </p:txBody>
      </p:sp>
      <p:sp>
        <p:nvSpPr>
          <p:cNvPr id="14" name="文本框 13">
            <a:extLst>
              <a:ext uri="{FF2B5EF4-FFF2-40B4-BE49-F238E27FC236}">
                <a16:creationId xmlns:a16="http://schemas.microsoft.com/office/drawing/2014/main" id="{C1264DE5-8769-FA78-6E01-34AC93D4BB75}"/>
              </a:ext>
            </a:extLst>
          </p:cNvPr>
          <p:cNvSpPr txBox="1"/>
          <p:nvPr/>
        </p:nvSpPr>
        <p:spPr>
          <a:xfrm>
            <a:off x="957197" y="1577357"/>
            <a:ext cx="6097022" cy="120802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zh-CN" altLang="zh-CN" sz="1800" b="1" dirty="0">
                <a:solidFill>
                  <a:srgbClr val="262626"/>
                </a:solidFill>
                <a:latin typeface="微软雅黑" panose="020B0503020204020204" pitchFamily="34" charset="-122"/>
                <a:ea typeface="微软雅黑" panose="020B0503020204020204" pitchFamily="34" charset="-122"/>
              </a:rPr>
              <a:t>​​3. 归档存储（Archival Storage）</a:t>
            </a:r>
            <a:r>
              <a:rPr kumimoji="0" lang="zh-CN" altLang="zh-CN" sz="1200" b="1" i="0" u="none" strike="noStrike" cap="none" normalizeH="0" baseline="0" dirty="0">
                <a:ln>
                  <a:noFill/>
                </a:ln>
                <a:solidFill>
                  <a:schemeClr val="tx1"/>
                </a:solidFill>
                <a:effectLst/>
                <a:latin typeface="Arial" panose="020B0604020202020204" pitchFamily="34" charset="0"/>
                <a:ea typeface="inherit"/>
              </a:rPr>
              <a:t>​</a:t>
            </a:r>
            <a:r>
              <a:rPr kumimoji="0" lang="zh-CN" altLang="zh-CN" sz="1200" b="1" i="0" u="none" strike="noStrike" cap="none" normalizeH="0" baseline="0" dirty="0">
                <a:ln>
                  <a:noFill/>
                </a:ln>
                <a:solidFill>
                  <a:schemeClr val="tx1"/>
                </a:solidFill>
                <a:effectLst/>
                <a:latin typeface="Arial" panose="020B0604020202020204" pitchFamily="34" charset="0"/>
                <a:ea typeface="PingFang SC"/>
              </a:rPr>
              <a:t>​</a:t>
            </a:r>
          </a:p>
          <a:p>
            <a:pPr marR="0" lvl="0" indent="0" eaLnBrk="1" hangingPunct="1">
              <a:lnSpc>
                <a:spcPct val="150000"/>
              </a:lnSpc>
              <a:spcBef>
                <a:spcPct val="0"/>
              </a:spcBef>
              <a:spcAft>
                <a:spcPts val="300"/>
              </a:spcAft>
              <a:buClrTx/>
              <a:buSzTx/>
              <a:buFontTx/>
              <a:buNone/>
              <a:tabLst/>
            </a:pPr>
            <a:r>
              <a:rPr lang="zh-CN" altLang="zh-CN" sz="1800" dirty="0">
                <a:solidFill>
                  <a:srgbClr val="262626"/>
                </a:solidFill>
                <a:latin typeface="微软雅黑" panose="020B0503020204020204" pitchFamily="34" charset="-122"/>
                <a:ea typeface="微软雅黑" panose="020B0503020204020204" pitchFamily="34" charset="-122"/>
              </a:rPr>
              <a:t>分为多级归档，​​检索时间与成本成反比​​：</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2301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A9931-D25E-C01F-571A-2AD16E82DEC9}"/>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0FACF763-38BD-4D05-E66B-058735A16593}"/>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F014A210-B68E-522B-3C04-E3DD1D584132}"/>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en-US" altLang="zh-CN" sz="2800" b="1" dirty="0">
                <a:solidFill>
                  <a:srgbClr val="000000"/>
                </a:solidFill>
                <a:latin typeface="Microsoft YaHei" pitchFamily="34" charset="0"/>
                <a:ea typeface="Microsoft YaHei" pitchFamily="34" charset="-122"/>
                <a:cs typeface="Microsoft YaHei" pitchFamily="34" charset="-120"/>
              </a:rPr>
              <a:t>S3 API</a:t>
            </a:r>
            <a:r>
              <a:rPr lang="zh-CN" altLang="en-US" sz="2800" b="1" dirty="0">
                <a:solidFill>
                  <a:srgbClr val="000000"/>
                </a:solidFill>
                <a:latin typeface="Microsoft YaHei" pitchFamily="34" charset="0"/>
                <a:ea typeface="Microsoft YaHei" pitchFamily="34" charset="-122"/>
                <a:cs typeface="Microsoft YaHei" pitchFamily="34" charset="-120"/>
              </a:rPr>
              <a:t>详解​</a:t>
            </a:r>
            <a:endParaRPr lang="en-US" sz="2800" dirty="0"/>
          </a:p>
        </p:txBody>
      </p:sp>
      <p:graphicFrame>
        <p:nvGraphicFramePr>
          <p:cNvPr id="3" name="表格 2">
            <a:extLst>
              <a:ext uri="{FF2B5EF4-FFF2-40B4-BE49-F238E27FC236}">
                <a16:creationId xmlns:a16="http://schemas.microsoft.com/office/drawing/2014/main" id="{E2CE083B-9EDD-A90F-845D-B2752C1292FA}"/>
              </a:ext>
            </a:extLst>
          </p:cNvPr>
          <p:cNvGraphicFramePr>
            <a:graphicFrameLocks noGrp="1"/>
          </p:cNvGraphicFramePr>
          <p:nvPr>
            <p:extLst>
              <p:ext uri="{D42A27DB-BD31-4B8C-83A1-F6EECF244321}">
                <p14:modId xmlns:p14="http://schemas.microsoft.com/office/powerpoint/2010/main" val="2443252120"/>
              </p:ext>
            </p:extLst>
          </p:nvPr>
        </p:nvGraphicFramePr>
        <p:xfrm>
          <a:off x="838200" y="2393952"/>
          <a:ext cx="10515600" cy="213360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809221994"/>
                    </a:ext>
                  </a:extLst>
                </a:gridCol>
                <a:gridCol w="3505200">
                  <a:extLst>
                    <a:ext uri="{9D8B030D-6E8A-4147-A177-3AD203B41FA5}">
                      <a16:colId xmlns:a16="http://schemas.microsoft.com/office/drawing/2014/main" val="663609990"/>
                    </a:ext>
                  </a:extLst>
                </a:gridCol>
                <a:gridCol w="3505200">
                  <a:extLst>
                    <a:ext uri="{9D8B030D-6E8A-4147-A177-3AD203B41FA5}">
                      <a16:colId xmlns:a16="http://schemas.microsoft.com/office/drawing/2014/main" val="2276679091"/>
                    </a:ext>
                  </a:extLst>
                </a:gridCol>
              </a:tblGrid>
              <a:tr h="0">
                <a:tc>
                  <a:txBody>
                    <a:bodyPr/>
                    <a:lstStyle/>
                    <a:p>
                      <a:pPr algn="ctr" fontAlgn="ctr"/>
                      <a:r>
                        <a:rPr lang="zh-CN" altLang="en-US" b="1" dirty="0">
                          <a:effectLst/>
                        </a:rPr>
                        <a:t>​​操作​​</a:t>
                      </a:r>
                      <a:endParaRPr lang="zh-CN" altLang="en-US" b="1" dirty="0">
                        <a:effectLst/>
                        <a:latin typeface="PingFang SC"/>
                      </a:endParaRPr>
                    </a:p>
                  </a:txBody>
                  <a:tcPr marL="101600" marR="101600" marT="76200" marB="76200" anchor="ctr"/>
                </a:tc>
                <a:tc>
                  <a:txBody>
                    <a:bodyPr/>
                    <a:lstStyle/>
                    <a:p>
                      <a:pPr algn="ctr" fontAlgn="ctr"/>
                      <a:r>
                        <a:rPr lang="en-US" b="1">
                          <a:effectLst/>
                        </a:rPr>
                        <a:t>​​HTTP</a:t>
                      </a:r>
                      <a:r>
                        <a:rPr lang="zh-CN" altLang="en-US" b="1">
                          <a:effectLst/>
                        </a:rPr>
                        <a:t>方法​​</a:t>
                      </a:r>
                      <a:endParaRPr lang="zh-CN" altLang="en-US" b="1">
                        <a:effectLst/>
                        <a:latin typeface="PingFang SC"/>
                      </a:endParaRPr>
                    </a:p>
                  </a:txBody>
                  <a:tcPr marL="101600" marR="101600" marT="76200" marB="76200" anchor="ctr"/>
                </a:tc>
                <a:tc>
                  <a:txBody>
                    <a:bodyPr/>
                    <a:lstStyle/>
                    <a:p>
                      <a:pPr algn="ctr" fontAlgn="ctr"/>
                      <a:r>
                        <a:rPr lang="zh-CN" altLang="en-US" b="1">
                          <a:effectLst/>
                        </a:rPr>
                        <a:t>​​示例</a:t>
                      </a:r>
                      <a:r>
                        <a:rPr lang="en-US" b="1">
                          <a:effectLst/>
                        </a:rPr>
                        <a:t>URL​​</a:t>
                      </a:r>
                      <a:endParaRPr lang="en-US" b="1">
                        <a:effectLst/>
                        <a:latin typeface="PingFang SC"/>
                      </a:endParaRPr>
                    </a:p>
                  </a:txBody>
                  <a:tcPr marL="101600" marR="101600" marT="76200" marB="76200" anchor="ctr"/>
                </a:tc>
                <a:extLst>
                  <a:ext uri="{0D108BD9-81ED-4DB2-BD59-A6C34878D82A}">
                    <a16:rowId xmlns:a16="http://schemas.microsoft.com/office/drawing/2014/main" val="382505927"/>
                  </a:ext>
                </a:extLst>
              </a:tr>
              <a:tr h="0">
                <a:tc>
                  <a:txBody>
                    <a:bodyPr/>
                    <a:lstStyle/>
                    <a:p>
                      <a:pPr algn="ctr" fontAlgn="ctr"/>
                      <a:r>
                        <a:rPr lang="zh-CN" altLang="en-US" b="0" dirty="0">
                          <a:effectLst/>
                        </a:rPr>
                        <a:t>上传对象</a:t>
                      </a:r>
                      <a:endParaRPr lang="zh-CN" altLang="en-US" b="0" dirty="0">
                        <a:effectLst/>
                        <a:latin typeface="PingFang SC"/>
                      </a:endParaRPr>
                    </a:p>
                  </a:txBody>
                  <a:tcPr marL="101600" marR="101600" marT="76200" marB="76200" anchor="ctr"/>
                </a:tc>
                <a:tc>
                  <a:txBody>
                    <a:bodyPr/>
                    <a:lstStyle/>
                    <a:p>
                      <a:pPr algn="ctr" fontAlgn="ctr"/>
                      <a:r>
                        <a:rPr lang="en-US" b="0">
                          <a:effectLst/>
                        </a:rPr>
                        <a:t>PUT</a:t>
                      </a:r>
                      <a:endParaRPr lang="en-US" b="0">
                        <a:effectLst/>
                        <a:latin typeface="PingFang SC"/>
                      </a:endParaRPr>
                    </a:p>
                  </a:txBody>
                  <a:tcPr marL="101600" marR="101600" marT="76200" marB="76200" anchor="ctr"/>
                </a:tc>
                <a:tc>
                  <a:txBody>
                    <a:bodyPr/>
                    <a:lstStyle/>
                    <a:p>
                      <a:pPr algn="ctr" fontAlgn="ctr"/>
                      <a:r>
                        <a:rPr lang="en-US" b="0">
                          <a:effectLst/>
                        </a:rPr>
                        <a:t>PUT /{bucket}/{key}</a:t>
                      </a:r>
                      <a:endParaRPr lang="en-US" b="0">
                        <a:effectLst/>
                        <a:latin typeface="PingFang SC"/>
                      </a:endParaRPr>
                    </a:p>
                  </a:txBody>
                  <a:tcPr marL="101600" marR="101600" marT="76200" marB="76200" anchor="ctr"/>
                </a:tc>
                <a:extLst>
                  <a:ext uri="{0D108BD9-81ED-4DB2-BD59-A6C34878D82A}">
                    <a16:rowId xmlns:a16="http://schemas.microsoft.com/office/drawing/2014/main" val="3019223003"/>
                  </a:ext>
                </a:extLst>
              </a:tr>
              <a:tr h="0">
                <a:tc>
                  <a:txBody>
                    <a:bodyPr/>
                    <a:lstStyle/>
                    <a:p>
                      <a:pPr algn="ctr" fontAlgn="ctr"/>
                      <a:r>
                        <a:rPr lang="zh-CN" altLang="en-US" b="0">
                          <a:effectLst/>
                        </a:rPr>
                        <a:t>下载对象</a:t>
                      </a:r>
                      <a:endParaRPr lang="zh-CN" altLang="en-US" b="0">
                        <a:effectLst/>
                        <a:latin typeface="PingFang SC"/>
                      </a:endParaRPr>
                    </a:p>
                  </a:txBody>
                  <a:tcPr marL="101600" marR="101600" marT="76200" marB="76200" anchor="ctr"/>
                </a:tc>
                <a:tc>
                  <a:txBody>
                    <a:bodyPr/>
                    <a:lstStyle/>
                    <a:p>
                      <a:pPr algn="ctr" fontAlgn="ctr"/>
                      <a:r>
                        <a:rPr lang="en-US" b="0">
                          <a:effectLst/>
                        </a:rPr>
                        <a:t>GET</a:t>
                      </a:r>
                      <a:endParaRPr lang="en-US" b="0">
                        <a:effectLst/>
                        <a:latin typeface="PingFang SC"/>
                      </a:endParaRPr>
                    </a:p>
                  </a:txBody>
                  <a:tcPr marL="101600" marR="101600" marT="76200" marB="76200" anchor="ctr"/>
                </a:tc>
                <a:tc>
                  <a:txBody>
                    <a:bodyPr/>
                    <a:lstStyle/>
                    <a:p>
                      <a:pPr algn="ctr" fontAlgn="ctr"/>
                      <a:r>
                        <a:rPr lang="en-US" b="0">
                          <a:effectLst/>
                        </a:rPr>
                        <a:t>GET /{bucket}/{key}</a:t>
                      </a:r>
                      <a:endParaRPr lang="en-US" b="0">
                        <a:effectLst/>
                        <a:latin typeface="PingFang SC"/>
                      </a:endParaRPr>
                    </a:p>
                  </a:txBody>
                  <a:tcPr marL="101600" marR="101600" marT="76200" marB="76200" anchor="ctr"/>
                </a:tc>
                <a:extLst>
                  <a:ext uri="{0D108BD9-81ED-4DB2-BD59-A6C34878D82A}">
                    <a16:rowId xmlns:a16="http://schemas.microsoft.com/office/drawing/2014/main" val="1854064555"/>
                  </a:ext>
                </a:extLst>
              </a:tr>
              <a:tr h="0">
                <a:tc>
                  <a:txBody>
                    <a:bodyPr/>
                    <a:lstStyle/>
                    <a:p>
                      <a:pPr algn="ctr" fontAlgn="ctr"/>
                      <a:r>
                        <a:rPr lang="zh-CN" altLang="en-US" b="0">
                          <a:effectLst/>
                        </a:rPr>
                        <a:t>删除对象</a:t>
                      </a:r>
                      <a:endParaRPr lang="zh-CN" altLang="en-US" b="0">
                        <a:effectLst/>
                        <a:latin typeface="PingFang SC"/>
                      </a:endParaRPr>
                    </a:p>
                  </a:txBody>
                  <a:tcPr marL="101600" marR="101600" marT="76200" marB="76200" anchor="ctr"/>
                </a:tc>
                <a:tc>
                  <a:txBody>
                    <a:bodyPr/>
                    <a:lstStyle/>
                    <a:p>
                      <a:pPr algn="ctr" fontAlgn="ctr"/>
                      <a:r>
                        <a:rPr lang="en-US" b="0">
                          <a:effectLst/>
                        </a:rPr>
                        <a:t>DELETE</a:t>
                      </a:r>
                      <a:endParaRPr lang="en-US" b="0">
                        <a:effectLst/>
                        <a:latin typeface="PingFang SC"/>
                      </a:endParaRPr>
                    </a:p>
                  </a:txBody>
                  <a:tcPr marL="101600" marR="101600" marT="76200" marB="76200" anchor="ctr"/>
                </a:tc>
                <a:tc>
                  <a:txBody>
                    <a:bodyPr/>
                    <a:lstStyle/>
                    <a:p>
                      <a:pPr algn="ctr" fontAlgn="ctr"/>
                      <a:r>
                        <a:rPr lang="en-US" b="0" dirty="0">
                          <a:effectLst/>
                        </a:rPr>
                        <a:t>DELETE /{bucket}/{key}</a:t>
                      </a:r>
                      <a:endParaRPr lang="en-US" b="0" dirty="0">
                        <a:effectLst/>
                        <a:latin typeface="PingFang SC"/>
                      </a:endParaRPr>
                    </a:p>
                  </a:txBody>
                  <a:tcPr marL="101600" marR="101600" marT="76200" marB="76200" anchor="ctr"/>
                </a:tc>
                <a:extLst>
                  <a:ext uri="{0D108BD9-81ED-4DB2-BD59-A6C34878D82A}">
                    <a16:rowId xmlns:a16="http://schemas.microsoft.com/office/drawing/2014/main" val="1336798956"/>
                  </a:ext>
                </a:extLst>
              </a:tr>
              <a:tr h="0">
                <a:tc>
                  <a:txBody>
                    <a:bodyPr/>
                    <a:lstStyle/>
                    <a:p>
                      <a:pPr algn="ctr" fontAlgn="ctr"/>
                      <a:r>
                        <a:rPr lang="zh-CN" altLang="en-US" b="0">
                          <a:effectLst/>
                        </a:rPr>
                        <a:t>列出</a:t>
                      </a:r>
                      <a:r>
                        <a:rPr lang="en-US" b="0">
                          <a:effectLst/>
                        </a:rPr>
                        <a:t>Bucket</a:t>
                      </a:r>
                      <a:r>
                        <a:rPr lang="zh-CN" altLang="en-US" b="0">
                          <a:effectLst/>
                        </a:rPr>
                        <a:t>内容</a:t>
                      </a:r>
                      <a:endParaRPr lang="zh-CN" altLang="en-US" b="0">
                        <a:effectLst/>
                        <a:latin typeface="PingFang SC"/>
                      </a:endParaRPr>
                    </a:p>
                  </a:txBody>
                  <a:tcPr marL="101600" marR="101600" marT="76200" marB="76200" anchor="ctr"/>
                </a:tc>
                <a:tc>
                  <a:txBody>
                    <a:bodyPr/>
                    <a:lstStyle/>
                    <a:p>
                      <a:pPr algn="ctr" fontAlgn="ctr"/>
                      <a:r>
                        <a:rPr lang="en-US" b="0">
                          <a:effectLst/>
                        </a:rPr>
                        <a:t>GET</a:t>
                      </a:r>
                      <a:endParaRPr lang="en-US" b="0">
                        <a:effectLst/>
                        <a:latin typeface="PingFang SC"/>
                      </a:endParaRPr>
                    </a:p>
                  </a:txBody>
                  <a:tcPr marL="101600" marR="101600" marT="76200" marB="76200" anchor="ctr"/>
                </a:tc>
                <a:tc>
                  <a:txBody>
                    <a:bodyPr/>
                    <a:lstStyle/>
                    <a:p>
                      <a:pPr algn="ctr" fontAlgn="ctr"/>
                      <a:r>
                        <a:rPr lang="en-US" b="0" dirty="0">
                          <a:effectLst/>
                        </a:rPr>
                        <a:t>GET /{bucket}?list-type=2</a:t>
                      </a:r>
                      <a:endParaRPr lang="en-US" b="0" dirty="0">
                        <a:effectLst/>
                        <a:latin typeface="PingFang SC"/>
                      </a:endParaRPr>
                    </a:p>
                  </a:txBody>
                  <a:tcPr marL="101600" marR="101600" marT="76200" marB="76200" anchor="ctr"/>
                </a:tc>
                <a:extLst>
                  <a:ext uri="{0D108BD9-81ED-4DB2-BD59-A6C34878D82A}">
                    <a16:rowId xmlns:a16="http://schemas.microsoft.com/office/drawing/2014/main" val="147223015"/>
                  </a:ext>
                </a:extLst>
              </a:tr>
            </a:tbl>
          </a:graphicData>
        </a:graphic>
      </p:graphicFrame>
      <p:sp>
        <p:nvSpPr>
          <p:cNvPr id="5" name="Rectangle 1">
            <a:extLst>
              <a:ext uri="{FF2B5EF4-FFF2-40B4-BE49-F238E27FC236}">
                <a16:creationId xmlns:a16="http://schemas.microsoft.com/office/drawing/2014/main" id="{9F16B77F-2BE7-4CB0-B373-05DD779C4308}"/>
              </a:ext>
            </a:extLst>
          </p:cNvPr>
          <p:cNvSpPr>
            <a:spLocks noChangeArrowheads="1"/>
          </p:cNvSpPr>
          <p:nvPr/>
        </p:nvSpPr>
        <p:spPr bwMode="auto">
          <a:xfrm>
            <a:off x="633126" y="2715811"/>
            <a:ext cx="65" cy="477054"/>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300" b="1" i="0" u="none" strike="noStrike" cap="none" normalizeH="0" baseline="0" dirty="0">
              <a:ln>
                <a:noFill/>
              </a:ln>
              <a:solidFill>
                <a:schemeClr val="tx1"/>
              </a:solidFill>
              <a:effectLst/>
              <a:latin typeface="Arial" panose="020B0604020202020204" pitchFamily="34" charset="0"/>
              <a:ea typeface="PingFang SC"/>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B8C008F8-9B4F-DBCF-5F67-89C30F45EBFC}"/>
              </a:ext>
            </a:extLst>
          </p:cNvPr>
          <p:cNvSpPr txBox="1"/>
          <p:nvPr/>
        </p:nvSpPr>
        <p:spPr>
          <a:xfrm>
            <a:off x="838200" y="4779744"/>
            <a:ext cx="9988550" cy="1884106"/>
          </a:xfrm>
          <a:prstGeom prst="rect">
            <a:avLst/>
          </a:prstGeom>
          <a:noFill/>
        </p:spPr>
        <p:txBody>
          <a:bodyPr wrap="square">
            <a:spAutoFit/>
          </a:bodyPr>
          <a:lstStyle/>
          <a:p>
            <a:pPr marR="0" lvl="0" indent="0" fontAlgn="base">
              <a:lnSpc>
                <a:spcPct val="150000"/>
              </a:lnSpc>
              <a:spcBef>
                <a:spcPct val="0"/>
              </a:spcBef>
              <a:spcAft>
                <a:spcPct val="0"/>
              </a:spcAft>
              <a:buClrTx/>
              <a:buSzTx/>
              <a:buFontTx/>
              <a:buNone/>
              <a:tabLst/>
            </a:pPr>
            <a:r>
              <a:rPr lang="zh-CN" altLang="zh-CN" sz="2000" dirty="0">
                <a:solidFill>
                  <a:srgbClr val="262626"/>
                </a:solidFill>
                <a:latin typeface="微软雅黑" panose="020B0503020204020204" pitchFamily="34" charset="-122"/>
                <a:ea typeface="微软雅黑" panose="020B0503020204020204" pitchFamily="34" charset="-122"/>
              </a:rPr>
              <a:t>​​关键API功能​​</a:t>
            </a:r>
          </a:p>
          <a:p>
            <a:pPr marR="0" lvl="0" indent="0" fontAlgn="base">
              <a:lnSpc>
                <a:spcPct val="150000"/>
              </a:lnSpc>
              <a:spcBef>
                <a:spcPct val="0"/>
              </a:spcBef>
              <a:spcAft>
                <a:spcPct val="0"/>
              </a:spcAft>
              <a:buClrTx/>
              <a:buSzTx/>
              <a:buFontTx/>
              <a:buChar char="•"/>
              <a:tabLst/>
            </a:pPr>
            <a:r>
              <a:rPr lang="zh-CN" altLang="zh-CN"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分块上传​​：大文件拆分为多块上传，支持断点续传。</a:t>
            </a:r>
          </a:p>
          <a:p>
            <a:pPr marR="0" lvl="0" indent="0" fontAlgn="base">
              <a:lnSpc>
                <a:spcPct val="150000"/>
              </a:lnSpc>
              <a:spcBef>
                <a:spcPct val="0"/>
              </a:spcBef>
              <a:spcAft>
                <a:spcPct val="0"/>
              </a:spcAft>
              <a:buClrTx/>
              <a:buSzTx/>
              <a:buFontTx/>
              <a:buChar char="•"/>
              <a:tabLst/>
            </a:pPr>
            <a:r>
              <a:rPr lang="zh-CN" altLang="zh-CN"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预签名URL​​：生成临时访问链接，用于安全共享私有文件。</a:t>
            </a:r>
          </a:p>
          <a:p>
            <a:pPr marR="0" lvl="0" indent="0" fontAlgn="base">
              <a:lnSpc>
                <a:spcPct val="150000"/>
              </a:lnSpc>
              <a:spcBef>
                <a:spcPct val="0"/>
              </a:spcBef>
              <a:spcAft>
                <a:spcPct val="0"/>
              </a:spcAft>
              <a:buClrTx/>
              <a:buSzTx/>
              <a:buFontTx/>
              <a:buChar char="•"/>
              <a:tabLst/>
            </a:pPr>
            <a:r>
              <a:rPr lang="zh-CN" altLang="zh-CN"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权限控制​​：通过ACL（访问控制列表）或IAM策略管理Bucket/Object权限。</a:t>
            </a:r>
          </a:p>
        </p:txBody>
      </p:sp>
      <p:sp>
        <p:nvSpPr>
          <p:cNvPr id="10" name="文本框 9">
            <a:extLst>
              <a:ext uri="{FF2B5EF4-FFF2-40B4-BE49-F238E27FC236}">
                <a16:creationId xmlns:a16="http://schemas.microsoft.com/office/drawing/2014/main" id="{41F92858-78EF-C192-D37D-9C8B86C08D80}"/>
              </a:ext>
            </a:extLst>
          </p:cNvPr>
          <p:cNvSpPr txBox="1"/>
          <p:nvPr/>
        </p:nvSpPr>
        <p:spPr>
          <a:xfrm>
            <a:off x="774700" y="1821935"/>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inherit"/>
              </a:rPr>
              <a:t>API核心操作​</a:t>
            </a:r>
            <a:r>
              <a:rPr kumimoji="0" lang="zh-CN" altLang="zh-CN" sz="1800" b="0" i="0" u="none" strike="noStrike" cap="none" normalizeH="0" baseline="0" dirty="0">
                <a:ln>
                  <a:noFill/>
                </a:ln>
                <a:solidFill>
                  <a:schemeClr val="tx1"/>
                </a:solidFill>
                <a:effectLst/>
                <a:latin typeface="Arial" panose="020B0604020202020204" pitchFamily="34" charset="0"/>
                <a:ea typeface="PingFang SC"/>
              </a:rPr>
              <a:t>​（HTTP方法 + URL）：</a:t>
            </a:r>
            <a:endParaRPr kumimoji="0" lang="zh-CN" altLang="zh-CN" sz="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0932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753C2-2DA6-3318-ADE6-7801623FEAFC}"/>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FFAFAE32-14AE-55F1-84E7-68AE47F61932}"/>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81771B0D-7075-5BCC-45A7-016FB836DA2B}"/>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对象存储的优势</a:t>
            </a:r>
            <a:endParaRPr lang="en-US" sz="2800" dirty="0"/>
          </a:p>
        </p:txBody>
      </p:sp>
      <p:sp>
        <p:nvSpPr>
          <p:cNvPr id="4" name="文本框 3">
            <a:extLst>
              <a:ext uri="{FF2B5EF4-FFF2-40B4-BE49-F238E27FC236}">
                <a16:creationId xmlns:a16="http://schemas.microsoft.com/office/drawing/2014/main" id="{67B56612-0E4B-1B51-FFE6-6ECC0B4BF99D}"/>
              </a:ext>
            </a:extLst>
          </p:cNvPr>
          <p:cNvSpPr txBox="1"/>
          <p:nvPr/>
        </p:nvSpPr>
        <p:spPr>
          <a:xfrm>
            <a:off x="848938" y="2429794"/>
            <a:ext cx="10371383" cy="3077253"/>
          </a:xfrm>
          <a:prstGeom prst="rect">
            <a:avLst/>
          </a:prstGeom>
          <a:noFill/>
        </p:spPr>
        <p:txBody>
          <a:bodyPr wrap="square">
            <a:spAutoFit/>
          </a:bodyPr>
          <a:lstStyle/>
          <a:p>
            <a:pPr marL="457200" indent="-457200">
              <a:lnSpc>
                <a:spcPct val="200000"/>
              </a:lnSpc>
              <a:buAutoNum type="arabicPeriod"/>
            </a:pPr>
            <a:r>
              <a:rPr lang="zh-CN" altLang="en-US" sz="2000" dirty="0">
                <a:solidFill>
                  <a:srgbClr val="262626"/>
                </a:solidFill>
                <a:latin typeface="微软雅黑" panose="020B0503020204020204" pitchFamily="34" charset="-122"/>
                <a:ea typeface="微软雅黑" panose="020B0503020204020204" pitchFamily="34" charset="-122"/>
              </a:rPr>
              <a:t>近乎无限的可扩展性</a:t>
            </a:r>
            <a:endParaRPr lang="en-US" altLang="zh-CN" sz="2000" dirty="0">
              <a:solidFill>
                <a:srgbClr val="262626"/>
              </a:solidFill>
              <a:latin typeface="微软雅黑" panose="020B0503020204020204" pitchFamily="34" charset="-122"/>
              <a:ea typeface="微软雅黑" panose="020B0503020204020204" pitchFamily="34" charset="-122"/>
            </a:endParaRPr>
          </a:p>
          <a:p>
            <a:pPr marL="457200" indent="-457200">
              <a:lnSpc>
                <a:spcPct val="200000"/>
              </a:lnSpc>
              <a:buAutoNum type="arabicPeriod"/>
            </a:pPr>
            <a:r>
              <a:rPr lang="zh-CN" altLang="en-US" sz="2000" dirty="0">
                <a:solidFill>
                  <a:srgbClr val="262626"/>
                </a:solidFill>
                <a:latin typeface="微软雅黑" panose="020B0503020204020204" pitchFamily="34" charset="-122"/>
                <a:ea typeface="微软雅黑" panose="020B0503020204020204" pitchFamily="34" charset="-122"/>
              </a:rPr>
              <a:t>为数据湖、云原生应用程序、分析、日志文件和机器学习（</a:t>
            </a:r>
            <a:r>
              <a:rPr lang="en-US" altLang="zh-CN" sz="2000" dirty="0">
                <a:solidFill>
                  <a:srgbClr val="262626"/>
                </a:solidFill>
                <a:latin typeface="微软雅黑" panose="020B0503020204020204" pitchFamily="34" charset="-122"/>
                <a:ea typeface="微软雅黑" panose="020B0503020204020204" pitchFamily="34" charset="-122"/>
              </a:rPr>
              <a:t>ML</a:t>
            </a:r>
            <a:r>
              <a:rPr lang="zh-CN" altLang="en-US" sz="2000" dirty="0">
                <a:solidFill>
                  <a:srgbClr val="262626"/>
                </a:solidFill>
                <a:latin typeface="微软雅黑" panose="020B0503020204020204" pitchFamily="34" charset="-122"/>
                <a:ea typeface="微软雅黑" panose="020B0503020204020204" pitchFamily="34" charset="-122"/>
              </a:rPr>
              <a:t>）等使用场景存储大量数据的成本较低。</a:t>
            </a:r>
            <a:endParaRPr lang="en-US" altLang="zh-CN" sz="2000" dirty="0">
              <a:solidFill>
                <a:srgbClr val="262626"/>
              </a:solidFill>
              <a:latin typeface="微软雅黑" panose="020B0503020204020204" pitchFamily="34" charset="-122"/>
              <a:ea typeface="微软雅黑" panose="020B0503020204020204" pitchFamily="34" charset="-122"/>
            </a:endParaRPr>
          </a:p>
          <a:p>
            <a:pPr marL="457200" indent="-457200">
              <a:lnSpc>
                <a:spcPct val="200000"/>
              </a:lnSpc>
              <a:buAutoNum type="arabicPeriod"/>
            </a:pPr>
            <a:r>
              <a:rPr lang="zh-CN" altLang="en-US" sz="2000" dirty="0">
                <a:solidFill>
                  <a:srgbClr val="262626"/>
                </a:solidFill>
                <a:latin typeface="微软雅黑" panose="020B0503020204020204" pitchFamily="34" charset="-122"/>
                <a:ea typeface="微软雅黑" panose="020B0503020204020204" pitchFamily="34" charset="-122"/>
              </a:rPr>
              <a:t>提供更高的数据持久性和弹性，因为它可以在多台设备上、跨多个系统，甚至跨多个数据中心和区域存储对象。这可以实现近乎无限的规模，同时提高数据的弹性和可用性。</a:t>
            </a:r>
          </a:p>
        </p:txBody>
      </p:sp>
    </p:spTree>
    <p:extLst>
      <p:ext uri="{BB962C8B-B14F-4D97-AF65-F5344CB8AC3E}">
        <p14:creationId xmlns:p14="http://schemas.microsoft.com/office/powerpoint/2010/main" val="3379423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EC6BA-0CA3-0306-7C28-257910D8266D}"/>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BE4DAAEB-71A7-E726-E6F3-21BAEE32B705}"/>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1E53E481-58E5-435D-39B2-BEC7EF2D9349}"/>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什么是文件存储</a:t>
            </a:r>
            <a:endParaRPr lang="en-US" sz="2800" dirty="0"/>
          </a:p>
        </p:txBody>
      </p:sp>
      <p:sp>
        <p:nvSpPr>
          <p:cNvPr id="4" name="文本框 3">
            <a:extLst>
              <a:ext uri="{FF2B5EF4-FFF2-40B4-BE49-F238E27FC236}">
                <a16:creationId xmlns:a16="http://schemas.microsoft.com/office/drawing/2014/main" id="{60304D11-2DB9-F7EE-F0DF-A51F0CA8C6E5}"/>
              </a:ext>
            </a:extLst>
          </p:cNvPr>
          <p:cNvSpPr txBox="1"/>
          <p:nvPr/>
        </p:nvSpPr>
        <p:spPr>
          <a:xfrm>
            <a:off x="836665" y="2239550"/>
            <a:ext cx="10371383" cy="3269613"/>
          </a:xfrm>
          <a:prstGeom prst="rect">
            <a:avLst/>
          </a:prstGeom>
          <a:noFill/>
        </p:spPr>
        <p:txBody>
          <a:bodyPr wrap="square">
            <a:spAutoFit/>
          </a:bodyPr>
          <a:lstStyle/>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文件存储是一种分层存储方法，用于在计算机硬盘驱动器或网络连接存储 </a:t>
            </a:r>
            <a:r>
              <a:rPr lang="en-US" altLang="zh-CN" sz="2000" dirty="0">
                <a:solidFill>
                  <a:srgbClr val="262626"/>
                </a:solidFill>
                <a:latin typeface="微软雅黑" panose="020B0503020204020204" pitchFamily="34" charset="-122"/>
                <a:ea typeface="微软雅黑" panose="020B0503020204020204" pitchFamily="34" charset="-122"/>
              </a:rPr>
              <a:t>(NAS) </a:t>
            </a:r>
            <a:r>
              <a:rPr lang="zh-CN" altLang="en-US" sz="2000" dirty="0">
                <a:solidFill>
                  <a:srgbClr val="262626"/>
                </a:solidFill>
                <a:latin typeface="微软雅黑" panose="020B0503020204020204" pitchFamily="34" charset="-122"/>
                <a:ea typeface="微软雅黑" panose="020B0503020204020204" pitchFamily="34" charset="-122"/>
              </a:rPr>
              <a:t>设备上组织和存储数据。 它将数据存储在文件中，将文件组织到文件夹中，并将文件夹组织到目录和子目录层次结构中。 要找到某个文件，您或计算机系统需要知道路径 </a:t>
            </a: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从目录到子目录到文件夹最后找到文件。</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分层文件存储可以轻松组织大量结构化数据。 但是，随着文件数量的增加，文件检索过程可能变得繁琐而耗时，而扩容的成本非常高。在某种程度上，可借助基于云的文件存储服务，缓解这些扩展和性能问题。</a:t>
            </a:r>
          </a:p>
        </p:txBody>
      </p:sp>
    </p:spTree>
    <p:extLst>
      <p:ext uri="{BB962C8B-B14F-4D97-AF65-F5344CB8AC3E}">
        <p14:creationId xmlns:p14="http://schemas.microsoft.com/office/powerpoint/2010/main" val="55023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16E9-1BCC-60D9-BF57-93560E9A1046}"/>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1CB758EE-BD38-9F46-C93B-12F108343A67}"/>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DDE3B8A0-496B-3E10-6181-37D67EEEB0BD}"/>
              </a:ext>
            </a:extLst>
          </p:cNvPr>
          <p:cNvSpPr/>
          <p:nvPr/>
        </p:nvSpPr>
        <p:spPr>
          <a:xfrm>
            <a:off x="762000" y="618067"/>
            <a:ext cx="10668000" cy="533400"/>
          </a:xfrm>
          <a:prstGeom prst="rect">
            <a:avLst/>
          </a:prstGeom>
          <a:noFill/>
          <a:ln/>
        </p:spPr>
        <p:txBody>
          <a:bodyPr vert="horz" wrap="square" lIns="0" tIns="0" rIns="0" bIns="0" rtlCol="0" anchor="ctr"/>
          <a:lstStyle/>
          <a:p>
            <a:pPr>
              <a:lnSpc>
                <a:spcPts val="4200"/>
              </a:lnSpc>
            </a:pPr>
            <a:r>
              <a:rPr lang="zh-CN" altLang="en-US" sz="3000" b="1" dirty="0">
                <a:solidFill>
                  <a:srgbClr val="000000"/>
                </a:solidFill>
                <a:latin typeface="Microsoft YaHei" pitchFamily="34" charset="0"/>
                <a:ea typeface="Microsoft YaHei" pitchFamily="34" charset="-122"/>
                <a:cs typeface="Microsoft YaHei" pitchFamily="34" charset="-120"/>
              </a:rPr>
              <a:t>文件存储演进：从</a:t>
            </a:r>
            <a:r>
              <a:rPr lang="en-US" altLang="zh-CN" sz="3000" b="1" dirty="0">
                <a:solidFill>
                  <a:srgbClr val="000000"/>
                </a:solidFill>
                <a:latin typeface="Microsoft YaHei" pitchFamily="34" charset="0"/>
                <a:ea typeface="Microsoft YaHei" pitchFamily="34" charset="-122"/>
                <a:cs typeface="Microsoft YaHei" pitchFamily="34" charset="-120"/>
              </a:rPr>
              <a:t>NAS</a:t>
            </a:r>
            <a:r>
              <a:rPr lang="zh-CN" altLang="en-US" sz="3000" b="1" dirty="0">
                <a:solidFill>
                  <a:srgbClr val="000000"/>
                </a:solidFill>
                <a:latin typeface="Microsoft YaHei" pitchFamily="34" charset="0"/>
                <a:ea typeface="Microsoft YaHei" pitchFamily="34" charset="-122"/>
                <a:cs typeface="Microsoft YaHei" pitchFamily="34" charset="-120"/>
              </a:rPr>
              <a:t>到</a:t>
            </a:r>
            <a:r>
              <a:rPr lang="en-US" altLang="zh-CN" sz="3000" b="1" dirty="0">
                <a:solidFill>
                  <a:srgbClr val="000000"/>
                </a:solidFill>
                <a:latin typeface="Microsoft YaHei" pitchFamily="34" charset="0"/>
                <a:ea typeface="Microsoft YaHei" pitchFamily="34" charset="-122"/>
                <a:cs typeface="Microsoft YaHei" pitchFamily="34" charset="-120"/>
              </a:rPr>
              <a:t>HDFS​</a:t>
            </a:r>
            <a:endParaRPr lang="en-US" sz="3000" dirty="0"/>
          </a:p>
        </p:txBody>
      </p:sp>
      <p:sp>
        <p:nvSpPr>
          <p:cNvPr id="5" name="文本框 4">
            <a:extLst>
              <a:ext uri="{FF2B5EF4-FFF2-40B4-BE49-F238E27FC236}">
                <a16:creationId xmlns:a16="http://schemas.microsoft.com/office/drawing/2014/main" id="{ABDE7787-A17C-E8B4-A495-071830F9CF74}"/>
              </a:ext>
            </a:extLst>
          </p:cNvPr>
          <p:cNvSpPr txBox="1"/>
          <p:nvPr/>
        </p:nvSpPr>
        <p:spPr>
          <a:xfrm>
            <a:off x="647700" y="1931205"/>
            <a:ext cx="10668000" cy="4916731"/>
          </a:xfrm>
          <a:prstGeom prst="rect">
            <a:avLst/>
          </a:prstGeom>
          <a:noFill/>
        </p:spPr>
        <p:txBody>
          <a:bodyPr wrap="square">
            <a:spAutoFit/>
          </a:bodyPr>
          <a:lstStyle/>
          <a:p>
            <a:pPr fontAlgn="base">
              <a:lnSpc>
                <a:spcPct val="150000"/>
              </a:lnSpc>
              <a:spcBef>
                <a:spcPts val="900"/>
              </a:spcBef>
              <a:spcAft>
                <a:spcPts val="900"/>
              </a:spcAft>
              <a:buNone/>
            </a:pPr>
            <a:r>
              <a:rPr lang="en-US" altLang="zh-CN" sz="2000" dirty="0">
                <a:solidFill>
                  <a:srgbClr val="262626"/>
                </a:solidFill>
                <a:latin typeface="微软雅黑" panose="020B0503020204020204" pitchFamily="34" charset="-122"/>
                <a:ea typeface="微软雅黑" panose="020B0503020204020204" pitchFamily="34" charset="-122"/>
              </a:rPr>
              <a:t>        NAS</a:t>
            </a:r>
            <a:r>
              <a:rPr lang="zh-CN" altLang="en-US" sz="2000" dirty="0">
                <a:solidFill>
                  <a:srgbClr val="262626"/>
                </a:solidFill>
                <a:latin typeface="微软雅黑" panose="020B0503020204020204" pitchFamily="34" charset="-122"/>
                <a:ea typeface="微软雅黑" panose="020B0503020204020204" pitchFamily="34" charset="-122"/>
              </a:rPr>
              <a:t>作为集中式文件存储的核心，凭借易用性和强一致性支撑了早期企业数据管理，但其依赖专用硬件、垂直扩展成本高，难以应对互联网时代爆发的海量数据（如</a:t>
            </a:r>
            <a:r>
              <a:rPr lang="en-US" altLang="zh-CN" sz="2000" dirty="0">
                <a:solidFill>
                  <a:srgbClr val="262626"/>
                </a:solidFill>
                <a:latin typeface="微软雅黑" panose="020B0503020204020204" pitchFamily="34" charset="-122"/>
                <a:ea typeface="微软雅黑" panose="020B0503020204020204" pitchFamily="34" charset="-122"/>
              </a:rPr>
              <a:t>PB</a:t>
            </a:r>
            <a:r>
              <a:rPr lang="zh-CN" altLang="en-US" sz="2000" dirty="0">
                <a:solidFill>
                  <a:srgbClr val="262626"/>
                </a:solidFill>
                <a:latin typeface="微软雅黑" panose="020B0503020204020204" pitchFamily="34" charset="-122"/>
                <a:ea typeface="微软雅黑" panose="020B0503020204020204" pitchFamily="34" charset="-122"/>
              </a:rPr>
              <a:t>级日志、非结构化数据）。随着数据规模激增和分布式计算（如</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）兴起，传统存储的带宽瓶颈、扩展性不足等问题凸显，亟需一种低成本、高扩展的存储架构与新型计算模式深度协同。</a:t>
            </a:r>
            <a:br>
              <a:rPr lang="zh-CN" altLang="en-US" sz="2000" dirty="0">
                <a:solidFill>
                  <a:srgbClr val="262626"/>
                </a:solidFill>
                <a:latin typeface="微软雅黑" panose="020B0503020204020204" pitchFamily="34" charset="-122"/>
                <a:ea typeface="微软雅黑" panose="020B0503020204020204" pitchFamily="34" charset="-122"/>
              </a:rPr>
            </a:br>
            <a:r>
              <a:rPr lang="zh-CN" altLang="en-US" sz="2000" dirty="0">
                <a:solidFill>
                  <a:srgbClr val="262626"/>
                </a:solidFill>
                <a:latin typeface="微软雅黑" panose="020B0503020204020204" pitchFamily="34" charset="-122"/>
                <a:ea typeface="微软雅黑" panose="020B0503020204020204" pitchFamily="34" charset="-122"/>
              </a:rPr>
              <a:t>        </a:t>
            </a:r>
            <a:r>
              <a:rPr lang="en-US" altLang="zh-CN" sz="2000" dirty="0">
                <a:solidFill>
                  <a:srgbClr val="262626"/>
                </a:solidFill>
                <a:latin typeface="微软雅黑" panose="020B0503020204020204" pitchFamily="34" charset="-122"/>
                <a:ea typeface="微软雅黑" panose="020B0503020204020204" pitchFamily="34" charset="-122"/>
              </a:rPr>
              <a:t>HDFS</a:t>
            </a:r>
            <a:r>
              <a:rPr lang="zh-CN" altLang="en-US" sz="2000" dirty="0">
                <a:solidFill>
                  <a:srgbClr val="262626"/>
                </a:solidFill>
                <a:latin typeface="微软雅黑" panose="020B0503020204020204" pitchFamily="34" charset="-122"/>
                <a:ea typeface="微软雅黑" panose="020B0503020204020204" pitchFamily="34" charset="-122"/>
              </a:rPr>
              <a:t>通过分布式架构、数据分块存储和容错机制，利用廉价硬件集群实现水平扩展，解决了</a:t>
            </a:r>
            <a:r>
              <a:rPr lang="en-US" altLang="zh-CN" sz="2000" dirty="0">
                <a:solidFill>
                  <a:srgbClr val="262626"/>
                </a:solidFill>
                <a:latin typeface="微软雅黑" panose="020B0503020204020204" pitchFamily="34" charset="-122"/>
                <a:ea typeface="微软雅黑" panose="020B0503020204020204" pitchFamily="34" charset="-122"/>
              </a:rPr>
              <a:t>NAS</a:t>
            </a:r>
            <a:r>
              <a:rPr lang="zh-CN" altLang="en-US" sz="2000" dirty="0">
                <a:solidFill>
                  <a:srgbClr val="262626"/>
                </a:solidFill>
                <a:latin typeface="微软雅黑" panose="020B0503020204020204" pitchFamily="34" charset="-122"/>
                <a:ea typeface="微软雅黑" panose="020B0503020204020204" pitchFamily="34" charset="-122"/>
              </a:rPr>
              <a:t>的扩展性困境。其设计贴合大数据批处理场景，以高吞吐、数据本地化等特性支撑离线计算，并与</a:t>
            </a:r>
            <a:r>
              <a:rPr lang="en-US" altLang="zh-CN" sz="2000" dirty="0">
                <a:solidFill>
                  <a:srgbClr val="262626"/>
                </a:solidFill>
                <a:latin typeface="微软雅黑" panose="020B0503020204020204" pitchFamily="34" charset="-122"/>
                <a:ea typeface="微软雅黑" panose="020B0503020204020204" pitchFamily="34" charset="-122"/>
              </a:rPr>
              <a:t>Hadoop</a:t>
            </a:r>
            <a:r>
              <a:rPr lang="zh-CN" altLang="en-US" sz="2000" dirty="0">
                <a:solidFill>
                  <a:srgbClr val="262626"/>
                </a:solidFill>
                <a:latin typeface="微软雅黑" panose="020B0503020204020204" pitchFamily="34" charset="-122"/>
                <a:ea typeface="微软雅黑" panose="020B0503020204020204" pitchFamily="34" charset="-122"/>
              </a:rPr>
              <a:t>生态深度集成，成为数据湖基座。然而，</a:t>
            </a:r>
            <a:r>
              <a:rPr lang="en-US" altLang="zh-CN" sz="2000" dirty="0">
                <a:solidFill>
                  <a:srgbClr val="262626"/>
                </a:solidFill>
                <a:latin typeface="微软雅黑" panose="020B0503020204020204" pitchFamily="34" charset="-122"/>
                <a:ea typeface="微软雅黑" panose="020B0503020204020204" pitchFamily="34" charset="-122"/>
              </a:rPr>
              <a:t>HDFS</a:t>
            </a:r>
            <a:r>
              <a:rPr lang="zh-CN" altLang="en-US" sz="2000" dirty="0">
                <a:solidFill>
                  <a:srgbClr val="262626"/>
                </a:solidFill>
                <a:latin typeface="微软雅黑" panose="020B0503020204020204" pitchFamily="34" charset="-122"/>
                <a:ea typeface="微软雅黑" panose="020B0503020204020204" pitchFamily="34" charset="-122"/>
              </a:rPr>
              <a:t>的高延迟和小文件短板也催生了对象存储、实时数据库等新技术，未来存储将趋向分层化（热数据用</a:t>
            </a:r>
            <a:r>
              <a:rPr lang="en-US" altLang="zh-CN" sz="2000" dirty="0">
                <a:solidFill>
                  <a:srgbClr val="262626"/>
                </a:solidFill>
                <a:latin typeface="微软雅黑" panose="020B0503020204020204" pitchFamily="34" charset="-122"/>
                <a:ea typeface="微软雅黑" panose="020B0503020204020204" pitchFamily="34" charset="-122"/>
              </a:rPr>
              <a:t>NAS</a:t>
            </a:r>
            <a:r>
              <a:rPr lang="zh-CN" altLang="en-US" sz="2000" dirty="0">
                <a:solidFill>
                  <a:srgbClr val="262626"/>
                </a:solidFill>
                <a:latin typeface="微软雅黑" panose="020B0503020204020204" pitchFamily="34" charset="-122"/>
                <a:ea typeface="微软雅黑" panose="020B0503020204020204" pitchFamily="34" charset="-122"/>
              </a:rPr>
              <a:t>，冷数据用分布式</a:t>
            </a:r>
            <a:r>
              <a:rPr lang="en-US" altLang="zh-CN" sz="2000" dirty="0">
                <a:solidFill>
                  <a:srgbClr val="262626"/>
                </a:solidFill>
                <a:latin typeface="微软雅黑" panose="020B0503020204020204" pitchFamily="34" charset="-122"/>
                <a:ea typeface="微软雅黑" panose="020B0503020204020204" pitchFamily="34" charset="-122"/>
              </a:rPr>
              <a:t>/</a:t>
            </a:r>
            <a:r>
              <a:rPr lang="zh-CN" altLang="en-US" sz="2000" dirty="0">
                <a:solidFill>
                  <a:srgbClr val="262626"/>
                </a:solidFill>
                <a:latin typeface="微软雅黑" panose="020B0503020204020204" pitchFamily="34" charset="-122"/>
                <a:ea typeface="微软雅黑" panose="020B0503020204020204" pitchFamily="34" charset="-122"/>
              </a:rPr>
              <a:t>云存储）和服务化，以平衡性能、成本与场景适配。</a:t>
            </a:r>
          </a:p>
          <a:p>
            <a:pPr>
              <a:buNone/>
            </a:pPr>
            <a:br>
              <a:rPr lang="zh-CN" altLang="en-US" b="0" i="0" dirty="0">
                <a:effectLst/>
                <a:latin typeface="PingFang SC"/>
              </a:rPr>
            </a:br>
            <a:endParaRPr lang="zh-CN" altLang="en-US" dirty="0"/>
          </a:p>
        </p:txBody>
      </p:sp>
    </p:spTree>
    <p:extLst>
      <p:ext uri="{BB962C8B-B14F-4D97-AF65-F5344CB8AC3E}">
        <p14:creationId xmlns:p14="http://schemas.microsoft.com/office/powerpoint/2010/main" val="1872191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8060E-C56E-39B9-EA06-2624243B9172}"/>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2E155FEF-B6A3-83D1-196D-EFBD271BFA1B}"/>
              </a:ext>
            </a:extLst>
          </p:cNvPr>
          <p:cNvPicPr>
            <a:picLocks noChangeAspect="1"/>
          </p:cNvPicPr>
          <p:nvPr/>
        </p:nvPicPr>
        <p:blipFill>
          <a:blip r:embed="rId3"/>
          <a:srcRect t="3571" b="3571"/>
          <a:stretch/>
        </p:blipFill>
        <p:spPr>
          <a:xfrm>
            <a:off x="0" y="0"/>
            <a:ext cx="12192000" cy="1651000"/>
          </a:xfrm>
          <a:prstGeom prst="rect">
            <a:avLst/>
          </a:prstGeom>
        </p:spPr>
      </p:pic>
      <p:sp>
        <p:nvSpPr>
          <p:cNvPr id="2" name="Text 4">
            <a:extLst>
              <a:ext uri="{FF2B5EF4-FFF2-40B4-BE49-F238E27FC236}">
                <a16:creationId xmlns:a16="http://schemas.microsoft.com/office/drawing/2014/main" id="{8A99047F-6F03-C49D-F7D3-A69DD976AA7C}"/>
              </a:ext>
            </a:extLst>
          </p:cNvPr>
          <p:cNvSpPr/>
          <p:nvPr/>
        </p:nvSpPr>
        <p:spPr>
          <a:xfrm>
            <a:off x="620426" y="656650"/>
            <a:ext cx="6108700" cy="568709"/>
          </a:xfrm>
          <a:prstGeom prst="rect">
            <a:avLst/>
          </a:prstGeom>
          <a:noFill/>
          <a:ln/>
        </p:spPr>
        <p:txBody>
          <a:bodyPr vert="horz" wrap="square" lIns="0" tIns="0" rIns="0" bIns="0" rtlCol="0" anchor="ctr"/>
          <a:lstStyle/>
          <a:p>
            <a:pPr>
              <a:lnSpc>
                <a:spcPts val="2200"/>
              </a:lnSpc>
            </a:pPr>
            <a:r>
              <a:rPr lang="zh-CN" altLang="en-US" sz="2800" b="1" dirty="0">
                <a:solidFill>
                  <a:srgbClr val="000000"/>
                </a:solidFill>
                <a:latin typeface="Microsoft YaHei" pitchFamily="34" charset="0"/>
                <a:ea typeface="Microsoft YaHei" pitchFamily="34" charset="-122"/>
                <a:cs typeface="Microsoft YaHei" pitchFamily="34" charset="-120"/>
              </a:rPr>
              <a:t>文件存储的优势</a:t>
            </a:r>
            <a:endParaRPr lang="en-US" sz="2800" dirty="0"/>
          </a:p>
        </p:txBody>
      </p:sp>
      <p:sp>
        <p:nvSpPr>
          <p:cNvPr id="4" name="文本框 3">
            <a:extLst>
              <a:ext uri="{FF2B5EF4-FFF2-40B4-BE49-F238E27FC236}">
                <a16:creationId xmlns:a16="http://schemas.microsoft.com/office/drawing/2014/main" id="{05D52857-0386-AF50-A1F3-F3912DD8D702}"/>
              </a:ext>
            </a:extLst>
          </p:cNvPr>
          <p:cNvSpPr txBox="1"/>
          <p:nvPr/>
        </p:nvSpPr>
        <p:spPr>
          <a:xfrm>
            <a:off x="910308" y="1828376"/>
            <a:ext cx="10371383" cy="4315669"/>
          </a:xfrm>
          <a:prstGeom prst="rect">
            <a:avLst/>
          </a:prstGeom>
          <a:noFill/>
        </p:spPr>
        <p:txBody>
          <a:bodyPr wrap="square">
            <a:spAutoFit/>
          </a:bodyPr>
          <a:lstStyle/>
          <a:p>
            <a:pPr marL="457200" indent="-457200">
              <a:lnSpc>
                <a:spcPct val="200000"/>
              </a:lnSpc>
              <a:buAutoNum type="arabicPeriod"/>
            </a:pPr>
            <a:r>
              <a:rPr lang="zh-CN" altLang="en-US" sz="2000" b="1" dirty="0">
                <a:solidFill>
                  <a:srgbClr val="262626"/>
                </a:solidFill>
                <a:latin typeface="微软雅黑" panose="020B0503020204020204" pitchFamily="34" charset="-122"/>
                <a:ea typeface="微软雅黑" panose="020B0503020204020204" pitchFamily="34" charset="-122"/>
              </a:rPr>
              <a:t>简单</a:t>
            </a:r>
            <a:r>
              <a:rPr lang="zh-CN" altLang="en-US" sz="2000" dirty="0">
                <a:solidFill>
                  <a:srgbClr val="262626"/>
                </a:solidFill>
                <a:latin typeface="微软雅黑" panose="020B0503020204020204" pitchFamily="34" charset="-122"/>
                <a:ea typeface="微软雅黑" panose="020B0503020204020204" pitchFamily="34" charset="-122"/>
              </a:rPr>
              <a:t>：只需命名文件，用元数据进行标记，并将它们存储在目录和子目录层次结构下的文件夹中即可。 不需要为了访问数据而编写应用或代码。</a:t>
            </a:r>
            <a:endParaRPr lang="en-US" altLang="zh-CN" sz="2000" dirty="0">
              <a:solidFill>
                <a:srgbClr val="262626"/>
              </a:solidFill>
              <a:latin typeface="微软雅黑" panose="020B0503020204020204" pitchFamily="34" charset="-122"/>
              <a:ea typeface="微软雅黑" panose="020B0503020204020204" pitchFamily="34" charset="-122"/>
            </a:endParaRPr>
          </a:p>
          <a:p>
            <a:pPr marL="457200" indent="-457200">
              <a:lnSpc>
                <a:spcPct val="200000"/>
              </a:lnSpc>
              <a:buAutoNum type="arabicPeriod"/>
            </a:pPr>
            <a:r>
              <a:rPr lang="zh-CN" altLang="en-US" sz="2000" b="1" dirty="0">
                <a:solidFill>
                  <a:srgbClr val="262626"/>
                </a:solidFill>
                <a:latin typeface="微软雅黑" panose="020B0503020204020204" pitchFamily="34" charset="-122"/>
                <a:ea typeface="微软雅黑" panose="020B0503020204020204" pitchFamily="34" charset="-122"/>
              </a:rPr>
              <a:t>文件共享</a:t>
            </a:r>
            <a:r>
              <a:rPr lang="zh-CN" altLang="en-US" sz="2000" dirty="0">
                <a:solidFill>
                  <a:srgbClr val="262626"/>
                </a:solidFill>
                <a:latin typeface="微软雅黑" panose="020B0503020204020204" pitchFamily="34" charset="-122"/>
                <a:ea typeface="微软雅黑" panose="020B0503020204020204" pitchFamily="34" charset="-122"/>
              </a:rPr>
              <a:t>：文件存储是在局域网 </a:t>
            </a:r>
            <a:r>
              <a:rPr lang="en-US" altLang="zh-CN" sz="2000" dirty="0">
                <a:solidFill>
                  <a:srgbClr val="262626"/>
                </a:solidFill>
                <a:latin typeface="微软雅黑" panose="020B0503020204020204" pitchFamily="34" charset="-122"/>
                <a:ea typeface="微软雅黑" panose="020B0503020204020204" pitchFamily="34" charset="-122"/>
              </a:rPr>
              <a:t>(LAN) </a:t>
            </a:r>
            <a:r>
              <a:rPr lang="zh-CN" altLang="en-US" sz="2000" dirty="0">
                <a:solidFill>
                  <a:srgbClr val="262626"/>
                </a:solidFill>
                <a:latin typeface="微软雅黑" panose="020B0503020204020204" pitchFamily="34" charset="-122"/>
                <a:ea typeface="微软雅黑" panose="020B0503020204020204" pitchFamily="34" charset="-122"/>
              </a:rPr>
              <a:t>内集中和共享文件的理想选择。</a:t>
            </a:r>
            <a:endParaRPr lang="en-US" altLang="zh-CN" sz="2000" dirty="0">
              <a:solidFill>
                <a:srgbClr val="262626"/>
              </a:solidFill>
              <a:latin typeface="微软雅黑" panose="020B0503020204020204" pitchFamily="34" charset="-122"/>
              <a:ea typeface="微软雅黑" panose="020B0503020204020204" pitchFamily="34" charset="-122"/>
            </a:endParaRPr>
          </a:p>
          <a:p>
            <a:pPr marL="457200" indent="-457200">
              <a:lnSpc>
                <a:spcPct val="200000"/>
              </a:lnSpc>
              <a:buAutoNum type="arabicPeriod"/>
            </a:pPr>
            <a:r>
              <a:rPr lang="zh-CN" altLang="en-US" sz="2000" b="1" dirty="0">
                <a:solidFill>
                  <a:srgbClr val="262626"/>
                </a:solidFill>
                <a:latin typeface="微软雅黑" panose="020B0503020204020204" pitchFamily="34" charset="-122"/>
                <a:ea typeface="微软雅黑" panose="020B0503020204020204" pitchFamily="34" charset="-122"/>
              </a:rPr>
              <a:t>数据保护</a:t>
            </a:r>
            <a:r>
              <a:rPr lang="zh-CN" altLang="en-US" sz="2000" dirty="0">
                <a:solidFill>
                  <a:srgbClr val="262626"/>
                </a:solidFill>
                <a:latin typeface="微软雅黑" panose="020B0503020204020204" pitchFamily="34" charset="-122"/>
                <a:ea typeface="微软雅黑" panose="020B0503020204020204" pitchFamily="34" charset="-122"/>
              </a:rPr>
              <a:t>：可以在网络计算机出现故障时提供一定程度的数据保护。 基于云的文件存储服务将文件复制到分布于多个地理位置的数据中心，从而提供数据保护和灾难恢复能力。</a:t>
            </a:r>
            <a:endParaRPr lang="en-US" altLang="zh-CN" sz="2000" dirty="0">
              <a:solidFill>
                <a:srgbClr val="262626"/>
              </a:solidFill>
              <a:latin typeface="微软雅黑" panose="020B0503020204020204" pitchFamily="34" charset="-122"/>
              <a:ea typeface="微软雅黑" panose="020B0503020204020204" pitchFamily="34" charset="-122"/>
            </a:endParaRPr>
          </a:p>
          <a:p>
            <a:pPr marL="457200" indent="-457200">
              <a:lnSpc>
                <a:spcPct val="200000"/>
              </a:lnSpc>
              <a:buAutoNum type="arabicPeriod"/>
            </a:pPr>
            <a:r>
              <a:rPr lang="zh-CN" altLang="en-US" sz="2000" b="1" dirty="0">
                <a:solidFill>
                  <a:srgbClr val="262626"/>
                </a:solidFill>
                <a:latin typeface="微软雅黑" panose="020B0503020204020204" pitchFamily="34" charset="-122"/>
                <a:ea typeface="微软雅黑" panose="020B0503020204020204" pitchFamily="34" charset="-122"/>
              </a:rPr>
              <a:t>熟悉的协议</a:t>
            </a:r>
            <a:r>
              <a:rPr lang="zh-CN" altLang="en-US" sz="2000" dirty="0">
                <a:solidFill>
                  <a:srgbClr val="262626"/>
                </a:solidFill>
                <a:latin typeface="微软雅黑" panose="020B0503020204020204" pitchFamily="34" charset="-122"/>
                <a:ea typeface="微软雅黑" panose="020B0503020204020204" pitchFamily="34" charset="-122"/>
              </a:rPr>
              <a:t>：文件存储系统依赖于标准计算协议，例如网络文件系统 </a:t>
            </a:r>
            <a:r>
              <a:rPr lang="en-US" altLang="zh-CN" sz="2000" dirty="0">
                <a:solidFill>
                  <a:srgbClr val="262626"/>
                </a:solidFill>
                <a:latin typeface="微软雅黑" panose="020B0503020204020204" pitchFamily="34" charset="-122"/>
                <a:ea typeface="微软雅黑" panose="020B0503020204020204" pitchFamily="34" charset="-122"/>
              </a:rPr>
              <a:t>(NFS)</a:t>
            </a:r>
            <a:r>
              <a:rPr lang="zh-CN" altLang="en-US" sz="2000" dirty="0">
                <a:solidFill>
                  <a:srgbClr val="262626"/>
                </a:solidFill>
                <a:latin typeface="微软雅黑" panose="020B0503020204020204" pitchFamily="34" charset="-122"/>
                <a:ea typeface="微软雅黑" panose="020B0503020204020204" pitchFamily="34" charset="-122"/>
              </a:rPr>
              <a:t>、通用互联网文件系统 </a:t>
            </a:r>
            <a:r>
              <a:rPr lang="en-US" altLang="zh-CN" sz="2000" dirty="0">
                <a:solidFill>
                  <a:srgbClr val="262626"/>
                </a:solidFill>
                <a:latin typeface="微软雅黑" panose="020B0503020204020204" pitchFamily="34" charset="-122"/>
                <a:ea typeface="微软雅黑" panose="020B0503020204020204" pitchFamily="34" charset="-122"/>
              </a:rPr>
              <a:t>(CIFS) </a:t>
            </a:r>
            <a:r>
              <a:rPr lang="zh-CN" altLang="en-US" sz="2000" dirty="0">
                <a:solidFill>
                  <a:srgbClr val="262626"/>
                </a:solidFill>
                <a:latin typeface="微软雅黑" panose="020B0503020204020204" pitchFamily="34" charset="-122"/>
                <a:ea typeface="微软雅黑" panose="020B0503020204020204" pitchFamily="34" charset="-122"/>
              </a:rPr>
              <a:t>或服务器消息块 </a:t>
            </a:r>
            <a:r>
              <a:rPr lang="en-US" altLang="zh-CN" sz="2000" dirty="0">
                <a:solidFill>
                  <a:srgbClr val="262626"/>
                </a:solidFill>
                <a:latin typeface="微软雅黑" panose="020B0503020204020204" pitchFamily="34" charset="-122"/>
                <a:ea typeface="微软雅黑" panose="020B0503020204020204" pitchFamily="34" charset="-122"/>
              </a:rPr>
              <a:t>(SMB)</a:t>
            </a:r>
            <a:r>
              <a:rPr lang="zh-CN" altLang="en-US" sz="2000" dirty="0">
                <a:solidFill>
                  <a:srgbClr val="262626"/>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163405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t="3571" b="3571"/>
          <a:stretch/>
        </p:blipFill>
        <p:spPr>
          <a:xfrm>
            <a:off x="0" y="0"/>
            <a:ext cx="12192000" cy="1651000"/>
          </a:xfrm>
          <a:prstGeom prst="rect">
            <a:avLst/>
          </a:prstGeom>
        </p:spPr>
      </p:pic>
      <p:sp>
        <p:nvSpPr>
          <p:cNvPr id="4" name="Text 1"/>
          <p:cNvSpPr/>
          <p:nvPr/>
        </p:nvSpPr>
        <p:spPr>
          <a:xfrm>
            <a:off x="762000" y="566844"/>
            <a:ext cx="10668000" cy="533400"/>
          </a:xfrm>
          <a:prstGeom prst="rect">
            <a:avLst/>
          </a:prstGeom>
          <a:noFill/>
          <a:ln/>
        </p:spPr>
        <p:txBody>
          <a:bodyPr vert="horz" wrap="square" lIns="0" tIns="0" rIns="0" bIns="0" rtlCol="0" anchor="ctr"/>
          <a:lstStyle/>
          <a:p>
            <a:pPr>
              <a:lnSpc>
                <a:spcPts val="4200"/>
              </a:lnSpc>
            </a:pPr>
            <a:r>
              <a:rPr lang="zh-CN" altLang="en-US" sz="2800" b="1" dirty="0">
                <a:solidFill>
                  <a:srgbClr val="000000"/>
                </a:solidFill>
                <a:latin typeface="Microsoft YaHei" pitchFamily="34" charset="0"/>
                <a:ea typeface="Microsoft YaHei" pitchFamily="34" charset="-122"/>
              </a:rPr>
              <a:t>对象存储</a:t>
            </a:r>
            <a:r>
              <a:rPr lang="en-US" altLang="zh-CN" sz="2800" b="1" dirty="0">
                <a:solidFill>
                  <a:srgbClr val="000000"/>
                </a:solidFill>
                <a:latin typeface="Microsoft YaHei" pitchFamily="34" charset="0"/>
                <a:ea typeface="Microsoft YaHei" pitchFamily="34" charset="-122"/>
              </a:rPr>
              <a:t>vs</a:t>
            </a:r>
            <a:r>
              <a:rPr lang="zh-CN" altLang="en-US" sz="2800" b="1" dirty="0">
                <a:solidFill>
                  <a:srgbClr val="000000"/>
                </a:solidFill>
                <a:latin typeface="Microsoft YaHei" pitchFamily="34" charset="0"/>
                <a:ea typeface="Microsoft YaHei" pitchFamily="34" charset="-122"/>
              </a:rPr>
              <a:t>文件存储</a:t>
            </a:r>
            <a:endParaRPr lang="en-US" sz="2800" b="1" dirty="0">
              <a:solidFill>
                <a:srgbClr val="000000"/>
              </a:solidFill>
              <a:latin typeface="Microsoft YaHei" pitchFamily="34" charset="0"/>
              <a:ea typeface="Microsoft YaHei" pitchFamily="34" charset="-122"/>
            </a:endParaRPr>
          </a:p>
        </p:txBody>
      </p:sp>
      <p:sp>
        <p:nvSpPr>
          <p:cNvPr id="5" name="Text 2"/>
          <p:cNvSpPr/>
          <p:nvPr/>
        </p:nvSpPr>
        <p:spPr>
          <a:xfrm>
            <a:off x="762000" y="990600"/>
            <a:ext cx="10668000" cy="279400"/>
          </a:xfrm>
          <a:prstGeom prst="rect">
            <a:avLst/>
          </a:prstGeom>
          <a:noFill/>
          <a:ln/>
        </p:spPr>
        <p:txBody>
          <a:bodyPr vert="horz" wrap="square" lIns="0" tIns="0" rIns="0" bIns="0" rtlCol="0" anchor="ctr"/>
          <a:lstStyle/>
          <a:p>
            <a:pPr>
              <a:lnSpc>
                <a:spcPts val="2200"/>
              </a:lnSpc>
            </a:pPr>
            <a:endParaRPr lang="en-US" sz="1600" dirty="0"/>
          </a:p>
        </p:txBody>
      </p:sp>
      <p:graphicFrame>
        <p:nvGraphicFramePr>
          <p:cNvPr id="2" name="表格 1">
            <a:extLst>
              <a:ext uri="{FF2B5EF4-FFF2-40B4-BE49-F238E27FC236}">
                <a16:creationId xmlns:a16="http://schemas.microsoft.com/office/drawing/2014/main" id="{9F614720-376C-D58D-5DC4-69BEC254E523}"/>
              </a:ext>
            </a:extLst>
          </p:cNvPr>
          <p:cNvGraphicFramePr>
            <a:graphicFrameLocks noGrp="1"/>
          </p:cNvGraphicFramePr>
          <p:nvPr>
            <p:extLst>
              <p:ext uri="{D42A27DB-BD31-4B8C-83A1-F6EECF244321}">
                <p14:modId xmlns:p14="http://schemas.microsoft.com/office/powerpoint/2010/main" val="491353620"/>
              </p:ext>
            </p:extLst>
          </p:nvPr>
        </p:nvGraphicFramePr>
        <p:xfrm>
          <a:off x="613180" y="1842047"/>
          <a:ext cx="10965640" cy="4609505"/>
        </p:xfrm>
        <a:graphic>
          <a:graphicData uri="http://schemas.openxmlformats.org/drawingml/2006/table">
            <a:tbl>
              <a:tblPr>
                <a:tableStyleId>{616DA210-FB5B-4158-B5E0-FEB733F419BA}</a:tableStyleId>
              </a:tblPr>
              <a:tblGrid>
                <a:gridCol w="1846188">
                  <a:extLst>
                    <a:ext uri="{9D8B030D-6E8A-4147-A177-3AD203B41FA5}">
                      <a16:colId xmlns:a16="http://schemas.microsoft.com/office/drawing/2014/main" val="3349427897"/>
                    </a:ext>
                  </a:extLst>
                </a:gridCol>
                <a:gridCol w="4137813">
                  <a:extLst>
                    <a:ext uri="{9D8B030D-6E8A-4147-A177-3AD203B41FA5}">
                      <a16:colId xmlns:a16="http://schemas.microsoft.com/office/drawing/2014/main" val="3731654346"/>
                    </a:ext>
                  </a:extLst>
                </a:gridCol>
                <a:gridCol w="4981639">
                  <a:extLst>
                    <a:ext uri="{9D8B030D-6E8A-4147-A177-3AD203B41FA5}">
                      <a16:colId xmlns:a16="http://schemas.microsoft.com/office/drawing/2014/main" val="2937233744"/>
                    </a:ext>
                  </a:extLst>
                </a:gridCol>
              </a:tblGrid>
              <a:tr h="456727">
                <a:tc>
                  <a:txBody>
                    <a:bodyPr/>
                    <a:lstStyle/>
                    <a:p>
                      <a:pPr algn="ctr" fontAlgn="t">
                        <a:buNone/>
                      </a:pPr>
                      <a:endParaRPr lang="zh-CN" altLang="en-US" dirty="0"/>
                    </a:p>
                  </a:txBody>
                  <a:tcPr marL="99747" marR="105615" marT="105615" marB="105615" anchor="ctr"/>
                </a:tc>
                <a:tc>
                  <a:txBody>
                    <a:bodyPr/>
                    <a:lstStyle/>
                    <a:p>
                      <a:pPr algn="ctr" fontAlgn="t">
                        <a:buNone/>
                      </a:pPr>
                      <a:r>
                        <a:rPr lang="zh-CN" altLang="en-US" dirty="0"/>
                        <a:t>对象存储</a:t>
                      </a:r>
                    </a:p>
                  </a:txBody>
                  <a:tcPr marL="99747" marR="105615" marT="105615" marB="105615" anchor="ctr"/>
                </a:tc>
                <a:tc>
                  <a:txBody>
                    <a:bodyPr/>
                    <a:lstStyle/>
                    <a:p>
                      <a:pPr algn="ctr" fontAlgn="t">
                        <a:buNone/>
                      </a:pPr>
                      <a:r>
                        <a:rPr lang="zh-CN" altLang="en-US" dirty="0"/>
                        <a:t>文件存储</a:t>
                      </a:r>
                    </a:p>
                  </a:txBody>
                  <a:tcPr marL="99747" marR="105615" marT="105615" marB="105615" anchor="ctr"/>
                </a:tc>
                <a:extLst>
                  <a:ext uri="{0D108BD9-81ED-4DB2-BD59-A6C34878D82A}">
                    <a16:rowId xmlns:a16="http://schemas.microsoft.com/office/drawing/2014/main" val="801483792"/>
                  </a:ext>
                </a:extLst>
              </a:tr>
              <a:tr h="556335">
                <a:tc>
                  <a:txBody>
                    <a:bodyPr/>
                    <a:lstStyle/>
                    <a:p>
                      <a:pPr algn="ctr" fontAlgn="t">
                        <a:buNone/>
                      </a:pPr>
                      <a:r>
                        <a:rPr lang="zh-CN" altLang="en-US" dirty="0"/>
                        <a:t>存储空间类型</a:t>
                      </a:r>
                    </a:p>
                  </a:txBody>
                  <a:tcPr marL="99747" marR="105615" marT="105615" marB="105615" anchor="ctr"/>
                </a:tc>
                <a:tc>
                  <a:txBody>
                    <a:bodyPr/>
                    <a:lstStyle/>
                    <a:p>
                      <a:pPr algn="l" fontAlgn="t">
                        <a:buNone/>
                      </a:pPr>
                      <a:r>
                        <a:rPr lang="zh-CN" altLang="en-US" dirty="0"/>
                        <a:t>存储在可扩缩存储桶中的对象</a:t>
                      </a:r>
                    </a:p>
                  </a:txBody>
                  <a:tcPr marL="99747" marR="105615" marT="105615" marB="105615" anchor="ctr"/>
                </a:tc>
                <a:tc>
                  <a:txBody>
                    <a:bodyPr/>
                    <a:lstStyle/>
                    <a:p>
                      <a:pPr algn="l" fontAlgn="t">
                        <a:buNone/>
                      </a:pPr>
                      <a:r>
                        <a:rPr lang="zh-CN" altLang="en-US" dirty="0"/>
                        <a:t>以分层方式整理文件夹和目录中的文件</a:t>
                      </a:r>
                    </a:p>
                  </a:txBody>
                  <a:tcPr marL="99747" marR="105615" marT="105615" marB="105615" anchor="ctr"/>
                </a:tc>
                <a:extLst>
                  <a:ext uri="{0D108BD9-81ED-4DB2-BD59-A6C34878D82A}">
                    <a16:rowId xmlns:a16="http://schemas.microsoft.com/office/drawing/2014/main" val="3438466157"/>
                  </a:ext>
                </a:extLst>
              </a:tr>
              <a:tr h="456727">
                <a:tc>
                  <a:txBody>
                    <a:bodyPr/>
                    <a:lstStyle/>
                    <a:p>
                      <a:pPr algn="ctr" fontAlgn="t">
                        <a:buNone/>
                      </a:pPr>
                      <a:r>
                        <a:rPr lang="zh-CN" altLang="en-US" dirty="0"/>
                        <a:t>数据量</a:t>
                      </a:r>
                    </a:p>
                  </a:txBody>
                  <a:tcPr marL="99747" marR="105615" marT="105615" marB="105615" anchor="ctr"/>
                </a:tc>
                <a:tc>
                  <a:txBody>
                    <a:bodyPr/>
                    <a:lstStyle/>
                    <a:p>
                      <a:pPr algn="l" fontAlgn="t">
                        <a:buNone/>
                      </a:pPr>
                      <a:r>
                        <a:rPr lang="zh-CN" altLang="en-US" dirty="0"/>
                        <a:t>支持高数据量</a:t>
                      </a:r>
                    </a:p>
                  </a:txBody>
                  <a:tcPr marL="99747" marR="105615" marT="105615" marB="105615" anchor="ctr"/>
                </a:tc>
                <a:tc>
                  <a:txBody>
                    <a:bodyPr/>
                    <a:lstStyle/>
                    <a:p>
                      <a:pPr algn="l" fontAlgn="t">
                        <a:buNone/>
                      </a:pPr>
                      <a:r>
                        <a:rPr lang="zh-CN" altLang="en-US" dirty="0"/>
                        <a:t>较适合数据量较少的情况</a:t>
                      </a:r>
                    </a:p>
                  </a:txBody>
                  <a:tcPr marL="99747" marR="105615" marT="105615" marB="105615" anchor="ctr"/>
                </a:tc>
                <a:extLst>
                  <a:ext uri="{0D108BD9-81ED-4DB2-BD59-A6C34878D82A}">
                    <a16:rowId xmlns:a16="http://schemas.microsoft.com/office/drawing/2014/main" val="3450887824"/>
                  </a:ext>
                </a:extLst>
              </a:tr>
              <a:tr h="556335">
                <a:tc>
                  <a:txBody>
                    <a:bodyPr/>
                    <a:lstStyle/>
                    <a:p>
                      <a:pPr algn="ctr" fontAlgn="t">
                        <a:buNone/>
                      </a:pPr>
                      <a:r>
                        <a:rPr lang="zh-CN" altLang="en-US"/>
                        <a:t>数据管理</a:t>
                      </a:r>
                    </a:p>
                  </a:txBody>
                  <a:tcPr marL="99747" marR="105615" marT="105615" marB="105615" anchor="ctr"/>
                </a:tc>
                <a:tc>
                  <a:txBody>
                    <a:bodyPr/>
                    <a:lstStyle/>
                    <a:p>
                      <a:pPr algn="l" fontAlgn="t">
                        <a:buNone/>
                      </a:pPr>
                      <a:r>
                        <a:rPr lang="zh-CN" altLang="en-US" dirty="0"/>
                        <a:t>自定义元数据可提供轻松的搜索功能</a:t>
                      </a:r>
                    </a:p>
                  </a:txBody>
                  <a:tcPr marL="99747" marR="105615" marT="105615" marB="105615" anchor="ctr"/>
                </a:tc>
                <a:tc>
                  <a:txBody>
                    <a:bodyPr/>
                    <a:lstStyle/>
                    <a:p>
                      <a:pPr algn="l" fontAlgn="t">
                        <a:buNone/>
                      </a:pPr>
                      <a:r>
                        <a:rPr lang="zh-CN" altLang="en-US" dirty="0"/>
                        <a:t>分层结构非常适合更简单的较小数据集</a:t>
                      </a:r>
                    </a:p>
                  </a:txBody>
                  <a:tcPr marL="99747" marR="105615" marT="105615" marB="105615" anchor="ctr"/>
                </a:tc>
                <a:extLst>
                  <a:ext uri="{0D108BD9-81ED-4DB2-BD59-A6C34878D82A}">
                    <a16:rowId xmlns:a16="http://schemas.microsoft.com/office/drawing/2014/main" val="2462502648"/>
                  </a:ext>
                </a:extLst>
              </a:tr>
              <a:tr h="714764">
                <a:tc>
                  <a:txBody>
                    <a:bodyPr/>
                    <a:lstStyle/>
                    <a:p>
                      <a:pPr algn="ctr" fontAlgn="t">
                        <a:buNone/>
                      </a:pPr>
                      <a:r>
                        <a:rPr lang="zh-CN" altLang="en-US"/>
                        <a:t>费用</a:t>
                      </a:r>
                    </a:p>
                  </a:txBody>
                  <a:tcPr marL="99747" marR="105615" marT="105615" marB="105615" anchor="ctr"/>
                </a:tc>
                <a:tc>
                  <a:txBody>
                    <a:bodyPr/>
                    <a:lstStyle/>
                    <a:p>
                      <a:pPr algn="l" fontAlgn="t">
                        <a:buNone/>
                      </a:pPr>
                      <a:r>
                        <a:rPr lang="zh-CN" altLang="en-US" dirty="0"/>
                        <a:t>随用随付的定价方式，性价比更高</a:t>
                      </a:r>
                    </a:p>
                  </a:txBody>
                  <a:tcPr marL="99747" marR="105615" marT="105615" marB="105615" anchor="ctr"/>
                </a:tc>
                <a:tc>
                  <a:txBody>
                    <a:bodyPr/>
                    <a:lstStyle/>
                    <a:p>
                      <a:pPr algn="l" fontAlgn="t">
                        <a:buNone/>
                      </a:pPr>
                      <a:r>
                        <a:rPr lang="zh-CN" altLang="en-US" dirty="0"/>
                        <a:t>费用更高，需要购买新的存储设备才能进行横向扩容</a:t>
                      </a:r>
                    </a:p>
                  </a:txBody>
                  <a:tcPr marL="99747" marR="105615" marT="105615" marB="105615" anchor="ctr"/>
                </a:tc>
                <a:extLst>
                  <a:ext uri="{0D108BD9-81ED-4DB2-BD59-A6C34878D82A}">
                    <a16:rowId xmlns:a16="http://schemas.microsoft.com/office/drawing/2014/main" val="3745053989"/>
                  </a:ext>
                </a:extLst>
              </a:tr>
              <a:tr h="456727">
                <a:tc>
                  <a:txBody>
                    <a:bodyPr/>
                    <a:lstStyle/>
                    <a:p>
                      <a:pPr algn="ctr" fontAlgn="t">
                        <a:buNone/>
                      </a:pPr>
                      <a:r>
                        <a:rPr lang="zh-CN" altLang="en-US"/>
                        <a:t>性能</a:t>
                      </a:r>
                    </a:p>
                  </a:txBody>
                  <a:tcPr marL="99747" marR="105615" marT="105615" marB="105615" anchor="ctr"/>
                </a:tc>
                <a:tc>
                  <a:txBody>
                    <a:bodyPr/>
                    <a:lstStyle/>
                    <a:p>
                      <a:pPr algn="l" fontAlgn="t">
                        <a:buNone/>
                      </a:pPr>
                      <a:r>
                        <a:rPr lang="zh-CN" altLang="en-US" dirty="0"/>
                        <a:t>性能更慢，处理时间更长</a:t>
                      </a:r>
                    </a:p>
                  </a:txBody>
                  <a:tcPr marL="99747" marR="105615" marT="105615" marB="105615" anchor="ctr"/>
                </a:tc>
                <a:tc>
                  <a:txBody>
                    <a:bodyPr/>
                    <a:lstStyle/>
                    <a:p>
                      <a:pPr algn="l" fontAlgn="t">
                        <a:buNone/>
                      </a:pPr>
                      <a:r>
                        <a:rPr lang="zh-CN" altLang="en-US" dirty="0"/>
                        <a:t>数据量增加会影响性能</a:t>
                      </a:r>
                    </a:p>
                  </a:txBody>
                  <a:tcPr marL="99747" marR="105615" marT="105615" marB="105615" anchor="ctr"/>
                </a:tc>
                <a:extLst>
                  <a:ext uri="{0D108BD9-81ED-4DB2-BD59-A6C34878D82A}">
                    <a16:rowId xmlns:a16="http://schemas.microsoft.com/office/drawing/2014/main" val="2154264416"/>
                  </a:ext>
                </a:extLst>
              </a:tr>
              <a:tr h="456727">
                <a:tc>
                  <a:txBody>
                    <a:bodyPr/>
                    <a:lstStyle/>
                    <a:p>
                      <a:pPr algn="ctr" fontAlgn="t">
                        <a:buNone/>
                      </a:pPr>
                      <a:r>
                        <a:rPr lang="zh-CN" altLang="en-US"/>
                        <a:t>可伸缩性</a:t>
                      </a:r>
                    </a:p>
                  </a:txBody>
                  <a:tcPr marL="99747" marR="105615" marT="105615" marB="105615" anchor="ctr"/>
                </a:tc>
                <a:tc>
                  <a:txBody>
                    <a:bodyPr/>
                    <a:lstStyle/>
                    <a:p>
                      <a:pPr algn="l" fontAlgn="t">
                        <a:buNone/>
                      </a:pPr>
                      <a:r>
                        <a:rPr lang="zh-CN" altLang="en-US" dirty="0"/>
                        <a:t>扩缩能力强</a:t>
                      </a:r>
                    </a:p>
                  </a:txBody>
                  <a:tcPr marL="99747" marR="105615" marT="105615" marB="105615" anchor="ctr"/>
                </a:tc>
                <a:tc>
                  <a:txBody>
                    <a:bodyPr/>
                    <a:lstStyle/>
                    <a:p>
                      <a:pPr algn="l" fontAlgn="t">
                        <a:buNone/>
                      </a:pPr>
                      <a:r>
                        <a:rPr lang="zh-CN" altLang="en-US" dirty="0"/>
                        <a:t>可伸缩性有限</a:t>
                      </a:r>
                    </a:p>
                  </a:txBody>
                  <a:tcPr marL="99747" marR="105615" marT="105615" marB="105615" anchor="ctr"/>
                </a:tc>
                <a:extLst>
                  <a:ext uri="{0D108BD9-81ED-4DB2-BD59-A6C34878D82A}">
                    <a16:rowId xmlns:a16="http://schemas.microsoft.com/office/drawing/2014/main" val="223710181"/>
                  </a:ext>
                </a:extLst>
              </a:tr>
              <a:tr h="794765">
                <a:tc>
                  <a:txBody>
                    <a:bodyPr/>
                    <a:lstStyle/>
                    <a:p>
                      <a:pPr algn="ctr" fontAlgn="t">
                        <a:buNone/>
                      </a:pPr>
                      <a:r>
                        <a:rPr lang="zh-CN" altLang="en-US"/>
                        <a:t>适用场景</a:t>
                      </a:r>
                    </a:p>
                  </a:txBody>
                  <a:tcPr marL="99747" marR="105615" marT="105615" marB="105615" anchor="ctr"/>
                </a:tc>
                <a:tc>
                  <a:txBody>
                    <a:bodyPr/>
                    <a:lstStyle/>
                    <a:p>
                      <a:pPr algn="l" fontAlgn="t">
                        <a:buNone/>
                      </a:pPr>
                      <a:r>
                        <a:rPr lang="zh-CN" altLang="en-US" dirty="0"/>
                        <a:t>大数据存储、静态非结构化数据、分析、富媒体文件和备份</a:t>
                      </a:r>
                    </a:p>
                  </a:txBody>
                  <a:tcPr marL="99747" marR="105615" marT="105615" marB="105615" anchor="ctr"/>
                </a:tc>
                <a:tc>
                  <a:txBody>
                    <a:bodyPr/>
                    <a:lstStyle/>
                    <a:p>
                      <a:pPr algn="l" fontAlgn="t">
                        <a:buNone/>
                      </a:pPr>
                      <a:r>
                        <a:rPr lang="zh-CN" altLang="en-US" dirty="0"/>
                        <a:t>共享文件存储、非结构化数据</a:t>
                      </a:r>
                    </a:p>
                  </a:txBody>
                  <a:tcPr marL="99747" marR="105615" marT="105615" marB="105615" anchor="ctr"/>
                </a:tc>
                <a:extLst>
                  <a:ext uri="{0D108BD9-81ED-4DB2-BD59-A6C34878D82A}">
                    <a16:rowId xmlns:a16="http://schemas.microsoft.com/office/drawing/2014/main" val="315769477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2C18-834F-E701-929D-6D7A1D00485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0776936-C1E9-3347-0752-76EE0AD1DC3A}"/>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75E89BDC-79CB-60BA-7DFD-C93A604AF10A}"/>
              </a:ext>
            </a:extLst>
          </p:cNvPr>
          <p:cNvSpPr/>
          <p:nvPr/>
        </p:nvSpPr>
        <p:spPr>
          <a:xfrm>
            <a:off x="459983" y="2886846"/>
            <a:ext cx="6954033" cy="1778000"/>
          </a:xfrm>
          <a:prstGeom prst="rect">
            <a:avLst/>
          </a:prstGeom>
          <a:noFill/>
          <a:ln/>
        </p:spPr>
        <p:txBody>
          <a:bodyPr vert="horz" wrap="square" lIns="0" tIns="0" rIns="0" bIns="0" rtlCol="0" anchor="ctr"/>
          <a:lstStyle/>
          <a:p>
            <a:pPr>
              <a:lnSpc>
                <a:spcPts val="7000"/>
              </a:lnSpc>
            </a:pPr>
            <a:r>
              <a:rPr lang="en-US" altLang="zh-CN" sz="5000" b="1" dirty="0">
                <a:solidFill>
                  <a:srgbClr val="000000"/>
                </a:solidFill>
                <a:latin typeface="Microsoft YaHei" pitchFamily="34" charset="0"/>
                <a:ea typeface="Microsoft YaHei" pitchFamily="34" charset="-122"/>
                <a:cs typeface="Microsoft YaHei" pitchFamily="34" charset="-120"/>
              </a:rPr>
              <a:t>Spark vs MapReduce</a:t>
            </a:r>
            <a:endParaRPr lang="en-US" sz="5000" dirty="0"/>
          </a:p>
        </p:txBody>
      </p:sp>
      <p:sp>
        <p:nvSpPr>
          <p:cNvPr id="5" name="Text 2">
            <a:extLst>
              <a:ext uri="{FF2B5EF4-FFF2-40B4-BE49-F238E27FC236}">
                <a16:creationId xmlns:a16="http://schemas.microsoft.com/office/drawing/2014/main" id="{39B70830-3BE2-62C8-43C8-6F7AC7510D81}"/>
              </a:ext>
            </a:extLst>
          </p:cNvPr>
          <p:cNvSpPr/>
          <p:nvPr/>
        </p:nvSpPr>
        <p:spPr>
          <a:xfrm>
            <a:off x="762000" y="5816600"/>
            <a:ext cx="6350000" cy="279400"/>
          </a:xfrm>
          <a:prstGeom prst="rect">
            <a:avLst/>
          </a:prstGeom>
          <a:noFill/>
          <a:ln/>
        </p:spPr>
        <p:txBody>
          <a:bodyPr vert="horz" wrap="square" lIns="0" tIns="0" rIns="0" bIns="0" rtlCol="0" anchor="ctr"/>
          <a:lstStyle/>
          <a:p>
            <a:pPr>
              <a:lnSpc>
                <a:spcPts val="2200"/>
              </a:lnSpc>
            </a:pPr>
            <a:endParaRPr lang="en-US" sz="1400" dirty="0"/>
          </a:p>
        </p:txBody>
      </p:sp>
      <p:sp>
        <p:nvSpPr>
          <p:cNvPr id="6" name="Text 3">
            <a:extLst>
              <a:ext uri="{FF2B5EF4-FFF2-40B4-BE49-F238E27FC236}">
                <a16:creationId xmlns:a16="http://schemas.microsoft.com/office/drawing/2014/main" id="{DDE5A437-A9F4-5075-01F4-9EF3B6CE6196}"/>
              </a:ext>
            </a:extLst>
          </p:cNvPr>
          <p:cNvSpPr/>
          <p:nvPr/>
        </p:nvSpPr>
        <p:spPr>
          <a:xfrm>
            <a:off x="7219949" y="3403600"/>
            <a:ext cx="4972051" cy="3810000"/>
          </a:xfrm>
          <a:prstGeom prst="rect">
            <a:avLst/>
          </a:prstGeom>
          <a:noFill/>
          <a:ln/>
        </p:spPr>
        <p:txBody>
          <a:bodyPr vert="horz" wrap="square" lIns="0" tIns="0" rIns="0" bIns="0" rtlCol="0" anchor="ctr"/>
          <a:lstStyle/>
          <a:p>
            <a:pPr algn="ctr">
              <a:lnSpc>
                <a:spcPts val="29999"/>
              </a:lnSpc>
            </a:pPr>
            <a:r>
              <a:rPr lang="en-US" sz="29999" b="1" dirty="0">
                <a:solidFill>
                  <a:srgbClr val="4784CB">
                    <a:alpha val="30000"/>
                  </a:srgbClr>
                </a:solidFill>
                <a:latin typeface="Microsoft YaHei" pitchFamily="34" charset="0"/>
                <a:ea typeface="Microsoft YaHei" pitchFamily="34" charset="-122"/>
                <a:cs typeface="Microsoft YaHei" pitchFamily="34" charset="-120"/>
              </a:rPr>
              <a:t>02</a:t>
            </a:r>
            <a:endParaRPr lang="en-US" sz="29999" dirty="0"/>
          </a:p>
        </p:txBody>
      </p:sp>
    </p:spTree>
    <p:extLst>
      <p:ext uri="{BB962C8B-B14F-4D97-AF65-F5344CB8AC3E}">
        <p14:creationId xmlns:p14="http://schemas.microsoft.com/office/powerpoint/2010/main" val="3926108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5101-F821-169C-BA00-4AE0D50BF189}"/>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334DDD8F-BD02-CFAF-9BC0-2F863C376594}"/>
              </a:ext>
            </a:extLst>
          </p:cNvPr>
          <p:cNvPicPr>
            <a:picLocks noChangeAspect="1"/>
          </p:cNvPicPr>
          <p:nvPr/>
        </p:nvPicPr>
        <p:blipFill>
          <a:blip r:embed="rId3"/>
          <a:srcRect t="3571" b="3571"/>
          <a:stretch/>
        </p:blipFill>
        <p:spPr>
          <a:xfrm>
            <a:off x="0" y="0"/>
            <a:ext cx="12192000" cy="1651000"/>
          </a:xfrm>
          <a:prstGeom prst="rect">
            <a:avLst/>
          </a:prstGeom>
        </p:spPr>
      </p:pic>
      <p:sp>
        <p:nvSpPr>
          <p:cNvPr id="4" name="文本框 3">
            <a:extLst>
              <a:ext uri="{FF2B5EF4-FFF2-40B4-BE49-F238E27FC236}">
                <a16:creationId xmlns:a16="http://schemas.microsoft.com/office/drawing/2014/main" id="{839D4DC9-308A-3D79-2212-5FE1AC429F13}"/>
              </a:ext>
            </a:extLst>
          </p:cNvPr>
          <p:cNvSpPr txBox="1"/>
          <p:nvPr/>
        </p:nvSpPr>
        <p:spPr>
          <a:xfrm>
            <a:off x="793706" y="1882009"/>
            <a:ext cx="10371383" cy="1422954"/>
          </a:xfrm>
          <a:prstGeom prst="rect">
            <a:avLst/>
          </a:prstGeom>
          <a:noFill/>
        </p:spPr>
        <p:txBody>
          <a:bodyPr wrap="square">
            <a:spAutoFit/>
          </a:bodyPr>
          <a:lstStyle/>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相比于</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Apache Spark</a:t>
            </a:r>
            <a:r>
              <a:rPr lang="zh-CN" altLang="en-US" sz="2000" dirty="0">
                <a:solidFill>
                  <a:srgbClr val="262626"/>
                </a:solidFill>
                <a:latin typeface="微软雅黑" panose="020B0503020204020204" pitchFamily="34" charset="-122"/>
                <a:ea typeface="微软雅黑" panose="020B0503020204020204" pitchFamily="34" charset="-122"/>
              </a:rPr>
              <a:t>通过以下关键改进解决了多个核心问题，从而显著提升了大数据处理的效率和灵活性：</a:t>
            </a:r>
            <a:endParaRPr lang="en-US" altLang="zh-CN" sz="2000" dirty="0">
              <a:solidFill>
                <a:srgbClr val="262626"/>
              </a:solidFill>
              <a:latin typeface="微软雅黑" panose="020B0503020204020204" pitchFamily="34" charset="-122"/>
              <a:ea typeface="微软雅黑" panose="020B0503020204020204" pitchFamily="34" charset="-122"/>
            </a:endParaRPr>
          </a:p>
          <a:p>
            <a:pPr>
              <a:lnSpc>
                <a:spcPct val="150000"/>
              </a:lnSpc>
            </a:pPr>
            <a:endParaRPr lang="zh-CN" altLang="en-US" sz="2000" dirty="0">
              <a:solidFill>
                <a:srgbClr val="262626"/>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1151278-3809-019E-28D2-8D75FC6DFADC}"/>
              </a:ext>
            </a:extLst>
          </p:cNvPr>
          <p:cNvSpPr txBox="1"/>
          <p:nvPr/>
        </p:nvSpPr>
        <p:spPr>
          <a:xfrm>
            <a:off x="844527" y="3069015"/>
            <a:ext cx="10269740" cy="3269100"/>
          </a:xfrm>
          <a:prstGeom prst="rect">
            <a:avLst/>
          </a:prstGeom>
          <a:noFill/>
        </p:spPr>
        <p:txBody>
          <a:bodyPr wrap="square">
            <a:spAutoFit/>
          </a:bodyPr>
          <a:lstStyle/>
          <a:p>
            <a:pPr>
              <a:lnSpc>
                <a:spcPct val="150000"/>
              </a:lnSpc>
            </a:pPr>
            <a:r>
              <a:rPr lang="en-US" altLang="zh-CN" sz="2000" b="1" dirty="0">
                <a:solidFill>
                  <a:srgbClr val="262626"/>
                </a:solidFill>
                <a:latin typeface="微软雅黑" panose="020B0503020204020204" pitchFamily="34" charset="-122"/>
                <a:ea typeface="微软雅黑" panose="020B0503020204020204" pitchFamily="34" charset="-122"/>
              </a:rPr>
              <a:t>1. </a:t>
            </a:r>
            <a:r>
              <a:rPr lang="zh-CN" altLang="en-US" sz="2000" b="1" dirty="0">
                <a:solidFill>
                  <a:srgbClr val="262626"/>
                </a:solidFill>
                <a:latin typeface="微软雅黑" panose="020B0503020204020204" pitchFamily="34" charset="-122"/>
                <a:ea typeface="微软雅黑" panose="020B0503020204020204" pitchFamily="34" charset="-122"/>
              </a:rPr>
              <a:t>编程模型与易用性提升​​</a:t>
            </a:r>
          </a:p>
          <a:p>
            <a:pPr marL="342900" indent="-342900">
              <a:lnSpc>
                <a:spcPct val="150000"/>
              </a:lnSpc>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​​问题​​：</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需编写大量模板代码，</a:t>
            </a:r>
            <a:r>
              <a:rPr lang="en-US" altLang="zh-CN" sz="2000" dirty="0">
                <a:solidFill>
                  <a:srgbClr val="262626"/>
                </a:solidFill>
                <a:latin typeface="微软雅黑" panose="020B0503020204020204" pitchFamily="34" charset="-122"/>
                <a:ea typeface="微软雅黑" panose="020B0503020204020204" pitchFamily="34" charset="-122"/>
              </a:rPr>
              <a:t>API</a:t>
            </a:r>
            <a:r>
              <a:rPr lang="zh-CN" altLang="en-US" sz="2000" dirty="0">
                <a:solidFill>
                  <a:srgbClr val="262626"/>
                </a:solidFill>
                <a:latin typeface="微软雅黑" panose="020B0503020204020204" pitchFamily="34" charset="-122"/>
                <a:ea typeface="微软雅黑" panose="020B0503020204020204" pitchFamily="34" charset="-122"/>
              </a:rPr>
              <a:t>抽象层级低，开发效率低。</a:t>
            </a:r>
          </a:p>
          <a:p>
            <a:pPr marL="342900" indent="-342900">
              <a:lnSpc>
                <a:spcPct val="150000"/>
              </a:lnSpc>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的解决方案​​：</a:t>
            </a:r>
            <a:endParaRPr lang="en-US" altLang="zh-CN" sz="2000" dirty="0">
              <a:solidFill>
                <a:srgbClr val="262626"/>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高阶</a:t>
            </a:r>
            <a:r>
              <a:rPr lang="en-US" altLang="zh-CN" sz="2000" dirty="0">
                <a:solidFill>
                  <a:srgbClr val="262626"/>
                </a:solidFill>
                <a:latin typeface="微软雅黑" panose="020B0503020204020204" pitchFamily="34" charset="-122"/>
                <a:ea typeface="微软雅黑" panose="020B0503020204020204" pitchFamily="34" charset="-122"/>
              </a:rPr>
              <a:t>API​​</a:t>
            </a:r>
            <a:r>
              <a:rPr lang="zh-CN" altLang="en-US" sz="2000" dirty="0">
                <a:solidFill>
                  <a:srgbClr val="262626"/>
                </a:solidFill>
                <a:latin typeface="微软雅黑" panose="020B0503020204020204" pitchFamily="34" charset="-122"/>
                <a:ea typeface="微软雅黑" panose="020B0503020204020204" pitchFamily="34" charset="-122"/>
              </a:rPr>
              <a:t>：提供</a:t>
            </a:r>
            <a:r>
              <a:rPr lang="en-US" altLang="zh-CN" sz="2000" dirty="0">
                <a:solidFill>
                  <a:srgbClr val="262626"/>
                </a:solidFill>
                <a:latin typeface="微软雅黑" panose="020B0503020204020204" pitchFamily="34" charset="-122"/>
                <a:ea typeface="微软雅黑" panose="020B0503020204020204" pitchFamily="34" charset="-122"/>
              </a:rPr>
              <a:t>RDD</a:t>
            </a:r>
            <a:r>
              <a:rPr lang="zh-CN" altLang="en-US" sz="2000" dirty="0">
                <a:solidFill>
                  <a:srgbClr val="262626"/>
                </a:solidFill>
                <a:latin typeface="微软雅黑" panose="020B0503020204020204" pitchFamily="34" charset="-122"/>
                <a:ea typeface="微软雅黑" panose="020B0503020204020204" pitchFamily="34" charset="-122"/>
              </a:rPr>
              <a:t>（弹性分布式数据集）、</a:t>
            </a:r>
            <a:r>
              <a:rPr lang="en-US" altLang="zh-CN" sz="2000" dirty="0" err="1">
                <a:solidFill>
                  <a:srgbClr val="262626"/>
                </a:solidFill>
                <a:latin typeface="微软雅黑" panose="020B0503020204020204" pitchFamily="34" charset="-122"/>
                <a:ea typeface="微软雅黑" panose="020B0503020204020204" pitchFamily="34" charset="-122"/>
              </a:rPr>
              <a:t>DataFrame</a:t>
            </a:r>
            <a:r>
              <a:rPr lang="en-US" altLang="zh-CN" sz="2000" dirty="0">
                <a:solidFill>
                  <a:srgbClr val="262626"/>
                </a:solidFill>
                <a:latin typeface="微软雅黑" panose="020B0503020204020204" pitchFamily="34" charset="-122"/>
                <a:ea typeface="微软雅黑" panose="020B0503020204020204" pitchFamily="34" charset="-122"/>
              </a:rPr>
              <a:t>/Dataset</a:t>
            </a:r>
            <a:r>
              <a:rPr lang="zh-CN" altLang="en-US" sz="2000" dirty="0">
                <a:solidFill>
                  <a:srgbClr val="262626"/>
                </a:solidFill>
                <a:latin typeface="微软雅黑" panose="020B0503020204020204" pitchFamily="34" charset="-122"/>
                <a:ea typeface="微软雅黑" panose="020B0503020204020204" pitchFamily="34" charset="-122"/>
              </a:rPr>
              <a:t>等抽象，支持链式操作（如</a:t>
            </a:r>
            <a:r>
              <a:rPr lang="en-US" altLang="zh-CN" sz="2000" dirty="0">
                <a:solidFill>
                  <a:srgbClr val="262626"/>
                </a:solidFill>
                <a:latin typeface="微软雅黑" panose="020B0503020204020204" pitchFamily="34" charset="-122"/>
                <a:ea typeface="微软雅黑" panose="020B0503020204020204" pitchFamily="34" charset="-122"/>
              </a:rPr>
              <a:t>map</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filter</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join</a:t>
            </a:r>
            <a:r>
              <a:rPr lang="zh-CN" altLang="en-US" sz="2000" dirty="0">
                <a:solidFill>
                  <a:srgbClr val="262626"/>
                </a:solidFill>
                <a:latin typeface="微软雅黑" panose="020B0503020204020204" pitchFamily="34" charset="-122"/>
                <a:ea typeface="微软雅黑" panose="020B0503020204020204" pitchFamily="34" charset="-122"/>
              </a:rPr>
              <a:t>）。</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多语言支持​​：</a:t>
            </a:r>
            <a:r>
              <a:rPr lang="en-US" altLang="zh-CN" sz="2000" dirty="0">
                <a:solidFill>
                  <a:srgbClr val="262626"/>
                </a:solidFill>
                <a:latin typeface="微软雅黑" panose="020B0503020204020204" pitchFamily="34" charset="-122"/>
                <a:ea typeface="微软雅黑" panose="020B0503020204020204" pitchFamily="34" charset="-122"/>
              </a:rPr>
              <a:t>Scala</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Java</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Python</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R</a:t>
            </a:r>
            <a:r>
              <a:rPr lang="zh-CN" altLang="en-US" sz="2000" dirty="0">
                <a:solidFill>
                  <a:srgbClr val="262626"/>
                </a:solidFill>
                <a:latin typeface="微软雅黑" panose="020B0503020204020204" pitchFamily="34" charset="-122"/>
                <a:ea typeface="微软雅黑" panose="020B0503020204020204" pitchFamily="34" charset="-122"/>
              </a:rPr>
              <a:t>的</a:t>
            </a:r>
            <a:r>
              <a:rPr lang="en-US" altLang="zh-CN" sz="2000" dirty="0">
                <a:solidFill>
                  <a:srgbClr val="262626"/>
                </a:solidFill>
                <a:latin typeface="微软雅黑" panose="020B0503020204020204" pitchFamily="34" charset="-122"/>
                <a:ea typeface="微软雅黑" panose="020B0503020204020204" pitchFamily="34" charset="-122"/>
              </a:rPr>
              <a:t>API</a:t>
            </a:r>
            <a:r>
              <a:rPr lang="zh-CN" altLang="en-US" sz="2000" dirty="0">
                <a:solidFill>
                  <a:srgbClr val="262626"/>
                </a:solidFill>
                <a:latin typeface="微软雅黑" panose="020B0503020204020204" pitchFamily="34" charset="-122"/>
                <a:ea typeface="微软雅黑" panose="020B0503020204020204" pitchFamily="34" charset="-122"/>
              </a:rPr>
              <a:t>及交互式</a:t>
            </a:r>
            <a:r>
              <a:rPr lang="en-US" altLang="zh-CN" sz="2000" dirty="0">
                <a:solidFill>
                  <a:srgbClr val="262626"/>
                </a:solidFill>
                <a:latin typeface="微软雅黑" panose="020B0503020204020204" pitchFamily="34" charset="-122"/>
                <a:ea typeface="微软雅黑" panose="020B0503020204020204" pitchFamily="34" charset="-122"/>
              </a:rPr>
              <a:t>Shell</a:t>
            </a:r>
            <a:r>
              <a:rPr lang="zh-CN" altLang="en-US" sz="2000" dirty="0">
                <a:solidFill>
                  <a:srgbClr val="262626"/>
                </a:solidFill>
                <a:latin typeface="微软雅黑" panose="020B0503020204020204" pitchFamily="34" charset="-122"/>
                <a:ea typeface="微软雅黑" panose="020B0503020204020204" pitchFamily="34" charset="-122"/>
              </a:rPr>
              <a:t>（如</a:t>
            </a:r>
            <a:r>
              <a:rPr lang="en-US" altLang="zh-CN" sz="2000" dirty="0" err="1">
                <a:solidFill>
                  <a:srgbClr val="262626"/>
                </a:solidFill>
                <a:latin typeface="微软雅黑" panose="020B0503020204020204" pitchFamily="34" charset="-122"/>
                <a:ea typeface="微软雅黑" panose="020B0503020204020204" pitchFamily="34" charset="-122"/>
              </a:rPr>
              <a:t>PySpark</a:t>
            </a:r>
            <a:r>
              <a:rPr lang="zh-CN" altLang="en-US" sz="2000" dirty="0">
                <a:solidFill>
                  <a:srgbClr val="262626"/>
                </a:solidFill>
                <a:latin typeface="微软雅黑" panose="020B0503020204020204" pitchFamily="34" charset="-122"/>
                <a:ea typeface="微软雅黑" panose="020B0503020204020204" pitchFamily="34" charset="-122"/>
              </a:rPr>
              <a:t>）。</a:t>
            </a:r>
          </a:p>
          <a:p>
            <a:pPr>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生态集成​​：无缝兼容</a:t>
            </a:r>
            <a:r>
              <a:rPr lang="en-US" altLang="zh-CN" sz="2000" dirty="0">
                <a:solidFill>
                  <a:srgbClr val="262626"/>
                </a:solidFill>
                <a:latin typeface="微软雅黑" panose="020B0503020204020204" pitchFamily="34" charset="-122"/>
                <a:ea typeface="微软雅黑" panose="020B0503020204020204" pitchFamily="34" charset="-122"/>
              </a:rPr>
              <a:t>HDFS</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Hive</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Kafka</a:t>
            </a:r>
            <a:r>
              <a:rPr lang="zh-CN" altLang="en-US" sz="2000" dirty="0">
                <a:solidFill>
                  <a:srgbClr val="262626"/>
                </a:solidFill>
                <a:latin typeface="微软雅黑" panose="020B0503020204020204" pitchFamily="34" charset="-122"/>
                <a:ea typeface="微软雅黑" panose="020B0503020204020204" pitchFamily="34" charset="-122"/>
              </a:rPr>
              <a:t>等，并通过</a:t>
            </a:r>
            <a:r>
              <a:rPr lang="en-US" altLang="zh-CN" sz="2000" dirty="0">
                <a:solidFill>
                  <a:srgbClr val="262626"/>
                </a:solidFill>
                <a:latin typeface="微软雅黑" panose="020B0503020204020204" pitchFamily="34" charset="-122"/>
                <a:ea typeface="微软雅黑" panose="020B0503020204020204" pitchFamily="34" charset="-122"/>
              </a:rPr>
              <a:t>Spark SQL</a:t>
            </a:r>
            <a:r>
              <a:rPr lang="zh-CN" altLang="en-US" sz="2000" dirty="0">
                <a:solidFill>
                  <a:srgbClr val="262626"/>
                </a:solidFill>
                <a:latin typeface="微软雅黑" panose="020B0503020204020204" pitchFamily="34" charset="-122"/>
                <a:ea typeface="微软雅黑" panose="020B0503020204020204" pitchFamily="34" charset="-122"/>
              </a:rPr>
              <a:t>直接执行</a:t>
            </a:r>
            <a:r>
              <a:rPr lang="en-US" altLang="zh-CN" sz="2000" dirty="0">
                <a:solidFill>
                  <a:srgbClr val="262626"/>
                </a:solidFill>
                <a:latin typeface="微软雅黑" panose="020B0503020204020204" pitchFamily="34" charset="-122"/>
                <a:ea typeface="微软雅黑" panose="020B0503020204020204" pitchFamily="34" charset="-122"/>
              </a:rPr>
              <a:t>SQL</a:t>
            </a:r>
            <a:r>
              <a:rPr lang="zh-CN" altLang="en-US" sz="2000" dirty="0">
                <a:solidFill>
                  <a:srgbClr val="262626"/>
                </a:solidFill>
                <a:latin typeface="微软雅黑" panose="020B0503020204020204" pitchFamily="34" charset="-122"/>
                <a:ea typeface="微软雅黑" panose="020B0503020204020204" pitchFamily="34" charset="-122"/>
              </a:rPr>
              <a:t>查询。</a:t>
            </a:r>
          </a:p>
        </p:txBody>
      </p:sp>
      <p:sp>
        <p:nvSpPr>
          <p:cNvPr id="8" name="Text 1">
            <a:extLst>
              <a:ext uri="{FF2B5EF4-FFF2-40B4-BE49-F238E27FC236}">
                <a16:creationId xmlns:a16="http://schemas.microsoft.com/office/drawing/2014/main" id="{97AC778D-A258-2399-5222-07E76DA2309E}"/>
              </a:ext>
            </a:extLst>
          </p:cNvPr>
          <p:cNvSpPr/>
          <p:nvPr/>
        </p:nvSpPr>
        <p:spPr>
          <a:xfrm>
            <a:off x="762000" y="566844"/>
            <a:ext cx="10668000" cy="533400"/>
          </a:xfrm>
          <a:prstGeom prst="rect">
            <a:avLst/>
          </a:prstGeom>
          <a:noFill/>
          <a:ln/>
        </p:spPr>
        <p:txBody>
          <a:bodyPr vert="horz" wrap="square" lIns="0" tIns="0" rIns="0" bIns="0" rtlCol="0" anchor="ctr"/>
          <a:lstStyle/>
          <a:p>
            <a:pPr>
              <a:lnSpc>
                <a:spcPts val="7000"/>
              </a:lnSpc>
            </a:pPr>
            <a:r>
              <a:rPr lang="en-US" altLang="zh-CN" sz="3200" b="1" dirty="0">
                <a:solidFill>
                  <a:srgbClr val="000000"/>
                </a:solidFill>
                <a:latin typeface="Microsoft YaHei" pitchFamily="34" charset="0"/>
                <a:ea typeface="Microsoft YaHei" pitchFamily="34" charset="-122"/>
                <a:cs typeface="Microsoft YaHei" pitchFamily="34" charset="-120"/>
              </a:rPr>
              <a:t>Spark </a:t>
            </a:r>
            <a:r>
              <a:rPr lang="zh-CN" altLang="en-US" sz="3200" b="1" dirty="0">
                <a:solidFill>
                  <a:srgbClr val="000000"/>
                </a:solidFill>
                <a:latin typeface="Microsoft YaHei" pitchFamily="34" charset="0"/>
                <a:ea typeface="Microsoft YaHei" pitchFamily="34" charset="-122"/>
                <a:cs typeface="Microsoft YaHei" pitchFamily="34" charset="-120"/>
              </a:rPr>
              <a:t>的改进</a:t>
            </a:r>
            <a:endParaRPr lang="en-US" altLang="zh-CN" sz="3200" dirty="0"/>
          </a:p>
        </p:txBody>
      </p:sp>
    </p:spTree>
    <p:extLst>
      <p:ext uri="{BB962C8B-B14F-4D97-AF65-F5344CB8AC3E}">
        <p14:creationId xmlns:p14="http://schemas.microsoft.com/office/powerpoint/2010/main" val="60260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67CF-D854-89C5-738E-E0151F23AE41}"/>
            </a:ext>
          </a:extLst>
        </p:cNvPr>
        <p:cNvGrpSpPr/>
        <p:nvPr/>
      </p:nvGrpSpPr>
      <p:grpSpPr>
        <a:xfrm>
          <a:off x="0" y="0"/>
          <a:ext cx="0" cy="0"/>
          <a:chOff x="0" y="0"/>
          <a:chExt cx="0" cy="0"/>
        </a:xfrm>
      </p:grpSpPr>
      <p:pic>
        <p:nvPicPr>
          <p:cNvPr id="9" name="Image 0" descr="preencoded.png">
            <a:extLst>
              <a:ext uri="{FF2B5EF4-FFF2-40B4-BE49-F238E27FC236}">
                <a16:creationId xmlns:a16="http://schemas.microsoft.com/office/drawing/2014/main" id="{64AD34CF-3BA5-8BC7-9221-1B36055B9D30}"/>
              </a:ext>
            </a:extLst>
          </p:cNvPr>
          <p:cNvPicPr>
            <a:picLocks noChangeAspect="1"/>
          </p:cNvPicPr>
          <p:nvPr/>
        </p:nvPicPr>
        <p:blipFill>
          <a:blip r:embed="rId3"/>
          <a:srcRect t="3571" b="3571"/>
          <a:stretch/>
        </p:blipFill>
        <p:spPr>
          <a:xfrm>
            <a:off x="0" y="0"/>
            <a:ext cx="12192000" cy="1651000"/>
          </a:xfrm>
          <a:prstGeom prst="rect">
            <a:avLst/>
          </a:prstGeom>
        </p:spPr>
      </p:pic>
      <p:sp>
        <p:nvSpPr>
          <p:cNvPr id="5" name="文本框 4">
            <a:extLst>
              <a:ext uri="{FF2B5EF4-FFF2-40B4-BE49-F238E27FC236}">
                <a16:creationId xmlns:a16="http://schemas.microsoft.com/office/drawing/2014/main" id="{5026A3E8-7174-D2BF-D3B8-3F759C663CDB}"/>
              </a:ext>
            </a:extLst>
          </p:cNvPr>
          <p:cNvSpPr txBox="1"/>
          <p:nvPr/>
        </p:nvSpPr>
        <p:spPr>
          <a:xfrm>
            <a:off x="421338" y="1882009"/>
            <a:ext cx="11349324" cy="2246769"/>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2. </a:t>
            </a:r>
            <a:r>
              <a:rPr lang="zh-CN" altLang="en-US" sz="2000" b="1" dirty="0">
                <a:solidFill>
                  <a:srgbClr val="262626"/>
                </a:solidFill>
                <a:latin typeface="微软雅黑" panose="020B0503020204020204" pitchFamily="34" charset="-122"/>
                <a:ea typeface="微软雅黑" panose="020B0503020204020204" pitchFamily="34" charset="-122"/>
              </a:rPr>
              <a:t>减少磁盘</a:t>
            </a:r>
            <a:r>
              <a:rPr lang="en-US" altLang="zh-CN" sz="2000" b="1" dirty="0">
                <a:solidFill>
                  <a:srgbClr val="262626"/>
                </a:solidFill>
                <a:latin typeface="微软雅黑" panose="020B0503020204020204" pitchFamily="34" charset="-122"/>
                <a:ea typeface="微软雅黑" panose="020B0503020204020204" pitchFamily="34" charset="-122"/>
              </a:rPr>
              <a:t>I/O</a:t>
            </a:r>
            <a:r>
              <a:rPr lang="zh-CN" altLang="en-US" sz="2000" b="1" dirty="0">
                <a:solidFill>
                  <a:srgbClr val="262626"/>
                </a:solidFill>
                <a:latin typeface="微软雅黑" panose="020B0503020204020204" pitchFamily="34" charset="-122"/>
                <a:ea typeface="微软雅黑" panose="020B0503020204020204" pitchFamily="34" charset="-122"/>
              </a:rPr>
              <a:t>与内存计算</a:t>
            </a:r>
            <a:r>
              <a:rPr lang="zh-CN" altLang="en-US" b="1" i="0" dirty="0">
                <a:effectLst/>
                <a:latin typeface="inherit"/>
              </a:rPr>
              <a:t>​</a:t>
            </a:r>
            <a:r>
              <a:rPr lang="zh-CN" altLang="en-US" b="1" i="0" dirty="0">
                <a:effectLst/>
                <a:latin typeface="PingFang SC"/>
              </a:rPr>
              <a:t>​</a:t>
            </a:r>
          </a:p>
          <a:p>
            <a:pPr fontAlgn="base">
              <a:spcBef>
                <a:spcPts val="600"/>
              </a:spcBef>
              <a:spcAft>
                <a:spcPts val="300"/>
              </a:spcAft>
              <a:buFont typeface="Arial" panose="020B0604020202020204" pitchFamily="34" charset="0"/>
              <a:buChar char="•"/>
            </a:pPr>
            <a:r>
              <a:rPr lang="zh-CN" altLang="en-US" b="0" i="0" dirty="0">
                <a:effectLst/>
                <a:latin typeface="PingFang SC"/>
              </a:rPr>
              <a:t>​</a:t>
            </a:r>
            <a:r>
              <a:rPr lang="zh-CN" altLang="en-US" b="1" i="0" dirty="0">
                <a:effectLst/>
                <a:latin typeface="inherit"/>
              </a:rPr>
              <a:t>​ </a:t>
            </a:r>
            <a:r>
              <a:rPr lang="zh-CN" altLang="en-US" sz="2000" dirty="0">
                <a:solidFill>
                  <a:srgbClr val="262626"/>
                </a:solidFill>
                <a:latin typeface="微软雅黑" panose="020B0503020204020204" pitchFamily="34" charset="-122"/>
                <a:ea typeface="微软雅黑" panose="020B0503020204020204" pitchFamily="34" charset="-122"/>
              </a:rPr>
              <a:t>问题​​：</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每个阶段结束后需将中间结果写入磁盘，导致高延迟和</a:t>
            </a:r>
            <a:r>
              <a:rPr lang="en-US" altLang="zh-CN" sz="2000" dirty="0">
                <a:solidFill>
                  <a:srgbClr val="262626"/>
                </a:solidFill>
                <a:latin typeface="微软雅黑" panose="020B0503020204020204" pitchFamily="34" charset="-122"/>
                <a:ea typeface="微软雅黑" panose="020B0503020204020204" pitchFamily="34" charset="-122"/>
              </a:rPr>
              <a:t>I/O</a:t>
            </a:r>
            <a:r>
              <a:rPr lang="zh-CN" altLang="en-US" sz="2000" dirty="0">
                <a:solidFill>
                  <a:srgbClr val="262626"/>
                </a:solidFill>
                <a:latin typeface="微软雅黑" panose="020B0503020204020204" pitchFamily="34" charset="-122"/>
                <a:ea typeface="微软雅黑" panose="020B0503020204020204" pitchFamily="34" charset="-122"/>
              </a:rPr>
              <a:t>开销。</a:t>
            </a:r>
          </a:p>
          <a:p>
            <a:pPr fontAlgn="base">
              <a:spcBef>
                <a:spcPts val="300"/>
              </a:spcBef>
              <a:spcAft>
                <a:spcPts val="12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 </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的解决方案​​：</a:t>
            </a:r>
            <a:endParaRPr lang="en-US" altLang="zh-CN" sz="2000" dirty="0">
              <a:solidFill>
                <a:srgbClr val="262626"/>
              </a:solidFill>
              <a:latin typeface="微软雅黑" panose="020B0503020204020204" pitchFamily="34" charset="-122"/>
              <a:ea typeface="微软雅黑" panose="020B0503020204020204" pitchFamily="34" charset="-122"/>
            </a:endParaRPr>
          </a:p>
          <a:p>
            <a:pPr fontAlgn="base">
              <a:spcBef>
                <a:spcPts val="300"/>
              </a:spcBef>
              <a:spcAft>
                <a:spcPts val="12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内存计算​​：将中间数据缓存在内存中，减少磁盘读写次数，尤其适用于迭代算法和交互式查询。    </a:t>
            </a:r>
            <a:endParaRPr lang="en-US" altLang="zh-CN" sz="2000" dirty="0">
              <a:solidFill>
                <a:srgbClr val="262626"/>
              </a:solidFill>
              <a:latin typeface="微软雅黑" panose="020B0503020204020204" pitchFamily="34" charset="-122"/>
              <a:ea typeface="微软雅黑" panose="020B0503020204020204" pitchFamily="34" charset="-122"/>
            </a:endParaRPr>
          </a:p>
          <a:p>
            <a:pPr fontAlgn="base">
              <a:spcBef>
                <a:spcPts val="300"/>
              </a:spcBef>
              <a:spcAft>
                <a:spcPts val="12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优化</a:t>
            </a:r>
            <a:r>
              <a:rPr lang="en-US" altLang="zh-CN" sz="2000" dirty="0">
                <a:solidFill>
                  <a:srgbClr val="262626"/>
                </a:solidFill>
                <a:latin typeface="微软雅黑" panose="020B0503020204020204" pitchFamily="34" charset="-122"/>
                <a:ea typeface="微软雅黑" panose="020B0503020204020204" pitchFamily="34" charset="-122"/>
              </a:rPr>
              <a:t>Shuffle​</a:t>
            </a:r>
            <a:r>
              <a:rPr lang="zh-CN" altLang="en-US" sz="2000" dirty="0">
                <a:solidFill>
                  <a:srgbClr val="262626"/>
                </a:solidFill>
                <a:latin typeface="微软雅黑" panose="020B0503020204020204" pitchFamily="34" charset="-122"/>
                <a:ea typeface="微软雅黑" panose="020B0503020204020204" pitchFamily="34" charset="-122"/>
              </a:rPr>
              <a:t>​：通过</a:t>
            </a:r>
            <a:r>
              <a:rPr lang="en-US" altLang="zh-CN" sz="2000" dirty="0">
                <a:solidFill>
                  <a:srgbClr val="262626"/>
                </a:solidFill>
                <a:latin typeface="微软雅黑" panose="020B0503020204020204" pitchFamily="34" charset="-122"/>
                <a:ea typeface="微软雅黑" panose="020B0503020204020204" pitchFamily="34" charset="-122"/>
              </a:rPr>
              <a:t>Tungsten</a:t>
            </a:r>
            <a:r>
              <a:rPr lang="zh-CN" altLang="en-US" sz="2000" dirty="0">
                <a:solidFill>
                  <a:srgbClr val="262626"/>
                </a:solidFill>
                <a:latin typeface="微软雅黑" panose="020B0503020204020204" pitchFamily="34" charset="-122"/>
                <a:ea typeface="微软雅黑" panose="020B0503020204020204" pitchFamily="34" charset="-122"/>
              </a:rPr>
              <a:t>引擎优化数据序列化与压缩，减少</a:t>
            </a:r>
            <a:r>
              <a:rPr lang="en-US" altLang="zh-CN" sz="2000" dirty="0">
                <a:solidFill>
                  <a:srgbClr val="262626"/>
                </a:solidFill>
                <a:latin typeface="微软雅黑" panose="020B0503020204020204" pitchFamily="34" charset="-122"/>
                <a:ea typeface="微软雅黑" panose="020B0503020204020204" pitchFamily="34" charset="-122"/>
              </a:rPr>
              <a:t>Shuffle</a:t>
            </a:r>
            <a:r>
              <a:rPr lang="zh-CN" altLang="en-US" sz="2000" dirty="0">
                <a:solidFill>
                  <a:srgbClr val="262626"/>
                </a:solidFill>
                <a:latin typeface="微软雅黑" panose="020B0503020204020204" pitchFamily="34" charset="-122"/>
                <a:ea typeface="微软雅黑" panose="020B0503020204020204" pitchFamily="34" charset="-122"/>
              </a:rPr>
              <a:t>时的网络和磁盘开销。</a:t>
            </a:r>
          </a:p>
        </p:txBody>
      </p:sp>
      <p:sp>
        <p:nvSpPr>
          <p:cNvPr id="8" name="文本框 7">
            <a:extLst>
              <a:ext uri="{FF2B5EF4-FFF2-40B4-BE49-F238E27FC236}">
                <a16:creationId xmlns:a16="http://schemas.microsoft.com/office/drawing/2014/main" id="{8040D023-698D-AAE5-878B-00E6BD2DC3F9}"/>
              </a:ext>
            </a:extLst>
          </p:cNvPr>
          <p:cNvSpPr txBox="1"/>
          <p:nvPr/>
        </p:nvSpPr>
        <p:spPr>
          <a:xfrm>
            <a:off x="421338" y="4482469"/>
            <a:ext cx="11292174" cy="2131353"/>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3. </a:t>
            </a:r>
            <a:r>
              <a:rPr lang="zh-CN" altLang="en-US" sz="2000" b="1" dirty="0">
                <a:solidFill>
                  <a:srgbClr val="262626"/>
                </a:solidFill>
                <a:latin typeface="微软雅黑" panose="020B0503020204020204" pitchFamily="34" charset="-122"/>
                <a:ea typeface="微软雅黑" panose="020B0503020204020204" pitchFamily="34" charset="-122"/>
              </a:rPr>
              <a:t>任务调度与资源管理的优化</a:t>
            </a:r>
            <a:r>
              <a:rPr lang="zh-CN" altLang="en-US" b="1" i="0" dirty="0">
                <a:effectLst/>
                <a:latin typeface="inherit"/>
              </a:rPr>
              <a:t>​</a:t>
            </a:r>
            <a:r>
              <a:rPr lang="zh-CN" altLang="en-US" b="1" i="0" dirty="0">
                <a:effectLst/>
                <a:latin typeface="PingFang SC"/>
              </a:rPr>
              <a:t>​</a:t>
            </a:r>
          </a:p>
          <a:p>
            <a:pPr fontAlgn="base">
              <a:spcBef>
                <a:spcPts val="6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​​问题​​：</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每个任务需启动独立</a:t>
            </a:r>
            <a:r>
              <a:rPr lang="en-US" altLang="zh-CN" sz="2000" dirty="0">
                <a:solidFill>
                  <a:srgbClr val="262626"/>
                </a:solidFill>
                <a:latin typeface="微软雅黑" panose="020B0503020204020204" pitchFamily="34" charset="-122"/>
                <a:ea typeface="微软雅黑" panose="020B0503020204020204" pitchFamily="34" charset="-122"/>
              </a:rPr>
              <a:t>JVM</a:t>
            </a:r>
            <a:r>
              <a:rPr lang="zh-CN" altLang="en-US" sz="2000" dirty="0">
                <a:solidFill>
                  <a:srgbClr val="262626"/>
                </a:solidFill>
                <a:latin typeface="微软雅黑" panose="020B0503020204020204" pitchFamily="34" charset="-122"/>
                <a:ea typeface="微软雅黑" panose="020B0503020204020204" pitchFamily="34" charset="-122"/>
              </a:rPr>
              <a:t>进程，任务启动开销大，资源复用率低。</a:t>
            </a:r>
          </a:p>
          <a:p>
            <a:pPr fontAlgn="base">
              <a:spcBef>
                <a:spcPts val="300"/>
              </a:spcBef>
              <a:spcAft>
                <a:spcPts val="12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的解决方案​​：</a:t>
            </a:r>
          </a:p>
          <a:p>
            <a:pPr marL="0" lvl="1"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线程级并行​​：在</a:t>
            </a:r>
            <a:r>
              <a:rPr lang="en-US" altLang="zh-CN" sz="2000" dirty="0">
                <a:solidFill>
                  <a:srgbClr val="262626"/>
                </a:solidFill>
                <a:latin typeface="微软雅黑" panose="020B0503020204020204" pitchFamily="34" charset="-122"/>
                <a:ea typeface="微软雅黑" panose="020B0503020204020204" pitchFamily="34" charset="-122"/>
              </a:rPr>
              <a:t>Executor</a:t>
            </a:r>
            <a:r>
              <a:rPr lang="zh-CN" altLang="en-US" sz="2000" dirty="0">
                <a:solidFill>
                  <a:srgbClr val="262626"/>
                </a:solidFill>
                <a:latin typeface="微软雅黑" panose="020B0503020204020204" pitchFamily="34" charset="-122"/>
                <a:ea typeface="微软雅黑" panose="020B0503020204020204" pitchFamily="34" charset="-122"/>
              </a:rPr>
              <a:t>进程中复用线程执行任务，减少启动开销。</a:t>
            </a:r>
            <a:endParaRPr lang="en-US" altLang="zh-CN" sz="2000" dirty="0">
              <a:solidFill>
                <a:srgbClr val="262626"/>
              </a:solidFill>
              <a:latin typeface="微软雅黑" panose="020B0503020204020204" pitchFamily="34" charset="-122"/>
              <a:ea typeface="微软雅黑" panose="020B0503020204020204" pitchFamily="34" charset="-122"/>
            </a:endParaRPr>
          </a:p>
          <a:p>
            <a:pPr marL="0" lvl="1" fontAlgn="base">
              <a:spcBef>
                <a:spcPts val="300"/>
              </a:spcBef>
              <a:spcAft>
                <a:spcPts val="3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动态资源分配​​：根据负载动态调整资源，提升集群利用率。</a:t>
            </a:r>
          </a:p>
        </p:txBody>
      </p:sp>
      <p:sp>
        <p:nvSpPr>
          <p:cNvPr id="12" name="Text 1">
            <a:extLst>
              <a:ext uri="{FF2B5EF4-FFF2-40B4-BE49-F238E27FC236}">
                <a16:creationId xmlns:a16="http://schemas.microsoft.com/office/drawing/2014/main" id="{1FDB32AF-CF81-805D-52A2-131081761AFE}"/>
              </a:ext>
            </a:extLst>
          </p:cNvPr>
          <p:cNvSpPr/>
          <p:nvPr/>
        </p:nvSpPr>
        <p:spPr>
          <a:xfrm>
            <a:off x="762000" y="566844"/>
            <a:ext cx="10668000" cy="533400"/>
          </a:xfrm>
          <a:prstGeom prst="rect">
            <a:avLst/>
          </a:prstGeom>
          <a:noFill/>
          <a:ln/>
        </p:spPr>
        <p:txBody>
          <a:bodyPr vert="horz" wrap="square" lIns="0" tIns="0" rIns="0" bIns="0" rtlCol="0" anchor="ctr"/>
          <a:lstStyle/>
          <a:p>
            <a:pPr>
              <a:lnSpc>
                <a:spcPts val="7000"/>
              </a:lnSpc>
            </a:pPr>
            <a:r>
              <a:rPr lang="en-US" altLang="zh-CN" sz="3200" b="1" dirty="0">
                <a:solidFill>
                  <a:srgbClr val="000000"/>
                </a:solidFill>
                <a:latin typeface="Microsoft YaHei" pitchFamily="34" charset="0"/>
                <a:ea typeface="Microsoft YaHei" pitchFamily="34" charset="-122"/>
                <a:cs typeface="Microsoft YaHei" pitchFamily="34" charset="-120"/>
              </a:rPr>
              <a:t>Spark </a:t>
            </a:r>
            <a:r>
              <a:rPr lang="zh-CN" altLang="en-US" sz="3200" b="1" dirty="0">
                <a:solidFill>
                  <a:srgbClr val="000000"/>
                </a:solidFill>
                <a:latin typeface="Microsoft YaHei" pitchFamily="34" charset="0"/>
                <a:ea typeface="Microsoft YaHei" pitchFamily="34" charset="-122"/>
                <a:cs typeface="Microsoft YaHei" pitchFamily="34" charset="-120"/>
              </a:rPr>
              <a:t>的改进</a:t>
            </a:r>
            <a:endParaRPr lang="en-US" altLang="zh-CN" sz="3200" dirty="0"/>
          </a:p>
        </p:txBody>
      </p:sp>
    </p:spTree>
    <p:extLst>
      <p:ext uri="{BB962C8B-B14F-4D97-AF65-F5344CB8AC3E}">
        <p14:creationId xmlns:p14="http://schemas.microsoft.com/office/powerpoint/2010/main" val="494806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t="3571" b="3571"/>
          <a:stretch/>
        </p:blipFill>
        <p:spPr>
          <a:xfrm>
            <a:off x="0" y="0"/>
            <a:ext cx="12192000" cy="1651000"/>
          </a:xfrm>
          <a:prstGeom prst="rect">
            <a:avLst/>
          </a:prstGeom>
        </p:spPr>
      </p:pic>
      <p:sp>
        <p:nvSpPr>
          <p:cNvPr id="4" name="Text 1"/>
          <p:cNvSpPr/>
          <p:nvPr/>
        </p:nvSpPr>
        <p:spPr>
          <a:xfrm>
            <a:off x="762000" y="566844"/>
            <a:ext cx="10668000" cy="533400"/>
          </a:xfrm>
          <a:prstGeom prst="rect">
            <a:avLst/>
          </a:prstGeom>
          <a:noFill/>
          <a:ln/>
        </p:spPr>
        <p:txBody>
          <a:bodyPr vert="horz" wrap="square" lIns="0" tIns="0" rIns="0" bIns="0" rtlCol="0" anchor="ctr"/>
          <a:lstStyle/>
          <a:p>
            <a:pPr>
              <a:lnSpc>
                <a:spcPts val="7000"/>
              </a:lnSpc>
            </a:pPr>
            <a:r>
              <a:rPr lang="en-US" altLang="zh-CN" sz="3200" b="1" dirty="0">
                <a:solidFill>
                  <a:srgbClr val="000000"/>
                </a:solidFill>
                <a:latin typeface="Microsoft YaHei" pitchFamily="34" charset="0"/>
                <a:ea typeface="Microsoft YaHei" pitchFamily="34" charset="-122"/>
                <a:cs typeface="Microsoft YaHei" pitchFamily="34" charset="-120"/>
              </a:rPr>
              <a:t>Spark </a:t>
            </a:r>
            <a:r>
              <a:rPr lang="zh-CN" altLang="en-US" sz="3200" b="1" dirty="0">
                <a:solidFill>
                  <a:srgbClr val="000000"/>
                </a:solidFill>
                <a:latin typeface="Microsoft YaHei" pitchFamily="34" charset="0"/>
                <a:ea typeface="Microsoft YaHei" pitchFamily="34" charset="-122"/>
                <a:cs typeface="Microsoft YaHei" pitchFamily="34" charset="-120"/>
              </a:rPr>
              <a:t>的改进</a:t>
            </a:r>
            <a:endParaRPr lang="en-US" altLang="zh-CN" sz="3200" dirty="0"/>
          </a:p>
        </p:txBody>
      </p:sp>
      <p:sp>
        <p:nvSpPr>
          <p:cNvPr id="12" name="文本框 11">
            <a:extLst>
              <a:ext uri="{FF2B5EF4-FFF2-40B4-BE49-F238E27FC236}">
                <a16:creationId xmlns:a16="http://schemas.microsoft.com/office/drawing/2014/main" id="{0BDFDB65-E792-0331-CC3D-3B8F2CD5B686}"/>
              </a:ext>
            </a:extLst>
          </p:cNvPr>
          <p:cNvSpPr txBox="1"/>
          <p:nvPr/>
        </p:nvSpPr>
        <p:spPr>
          <a:xfrm>
            <a:off x="557178" y="1753352"/>
            <a:ext cx="10255250" cy="2054409"/>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4. </a:t>
            </a:r>
            <a:r>
              <a:rPr lang="zh-CN" altLang="en-US" sz="2000" b="1" dirty="0">
                <a:solidFill>
                  <a:srgbClr val="262626"/>
                </a:solidFill>
                <a:latin typeface="微软雅黑" panose="020B0503020204020204" pitchFamily="34" charset="-122"/>
                <a:ea typeface="微软雅黑" panose="020B0503020204020204" pitchFamily="34" charset="-122"/>
              </a:rPr>
              <a:t>资源灵活性与内存管理</a:t>
            </a:r>
            <a:r>
              <a:rPr lang="zh-CN" altLang="en-US" b="1" i="0" dirty="0">
                <a:effectLst/>
                <a:latin typeface="inherit"/>
              </a:rPr>
              <a:t>​</a:t>
            </a:r>
            <a:r>
              <a:rPr lang="zh-CN" altLang="en-US" b="1" i="0" dirty="0">
                <a:effectLst/>
                <a:latin typeface="PingFang SC"/>
              </a:rPr>
              <a:t>​</a:t>
            </a:r>
          </a:p>
          <a:p>
            <a:pPr fontAlgn="base">
              <a:spcBef>
                <a:spcPts val="600"/>
              </a:spcBef>
              <a:spcAft>
                <a:spcPts val="300"/>
              </a:spcAft>
              <a:buFont typeface="Arial" panose="020B0604020202020204" pitchFamily="34" charset="0"/>
              <a:buChar char="•"/>
            </a:pPr>
            <a:r>
              <a:rPr lang="zh-CN" altLang="en-US" b="0" i="0" dirty="0">
                <a:effectLst/>
                <a:latin typeface="PingFang SC"/>
              </a:rPr>
              <a:t>​</a:t>
            </a:r>
            <a:r>
              <a:rPr lang="zh-CN" altLang="en-US" b="1" i="0" dirty="0">
                <a:effectLst/>
                <a:latin typeface="inherit"/>
              </a:rPr>
              <a:t>​</a:t>
            </a:r>
            <a:r>
              <a:rPr lang="zh-CN" altLang="en-US" sz="2000" dirty="0">
                <a:solidFill>
                  <a:srgbClr val="262626"/>
                </a:solidFill>
                <a:latin typeface="微软雅黑" panose="020B0503020204020204" pitchFamily="34" charset="-122"/>
                <a:ea typeface="微软雅黑" panose="020B0503020204020204" pitchFamily="34" charset="-122"/>
              </a:rPr>
              <a:t>问题​​：</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固定分配</a:t>
            </a:r>
            <a:r>
              <a:rPr lang="en-US" altLang="zh-CN" sz="2000" dirty="0">
                <a:solidFill>
                  <a:srgbClr val="262626"/>
                </a:solidFill>
                <a:latin typeface="微软雅黑" panose="020B0503020204020204" pitchFamily="34" charset="-122"/>
                <a:ea typeface="微软雅黑" panose="020B0503020204020204" pitchFamily="34" charset="-122"/>
              </a:rPr>
              <a:t>Map</a:t>
            </a:r>
            <a:r>
              <a:rPr lang="zh-CN" altLang="en-US" sz="2000" dirty="0">
                <a:solidFill>
                  <a:srgbClr val="262626"/>
                </a:solidFill>
                <a:latin typeface="微软雅黑" panose="020B0503020204020204" pitchFamily="34" charset="-122"/>
                <a:ea typeface="微软雅黑" panose="020B0503020204020204" pitchFamily="34" charset="-122"/>
              </a:rPr>
              <a:t>和</a:t>
            </a:r>
            <a:r>
              <a:rPr lang="en-US" altLang="zh-CN" sz="2000" dirty="0">
                <a:solidFill>
                  <a:srgbClr val="262626"/>
                </a:solidFill>
                <a:latin typeface="微软雅黑" panose="020B0503020204020204" pitchFamily="34" charset="-122"/>
                <a:ea typeface="微软雅黑" panose="020B0503020204020204" pitchFamily="34" charset="-122"/>
              </a:rPr>
              <a:t>Reduce</a:t>
            </a:r>
            <a:r>
              <a:rPr lang="zh-CN" altLang="en-US" sz="2000" dirty="0">
                <a:solidFill>
                  <a:srgbClr val="262626"/>
                </a:solidFill>
                <a:latin typeface="微软雅黑" panose="020B0503020204020204" pitchFamily="34" charset="-122"/>
                <a:ea typeface="微软雅黑" panose="020B0503020204020204" pitchFamily="34" charset="-122"/>
              </a:rPr>
              <a:t>任务资源，难以适应多样化负载。</a:t>
            </a:r>
          </a:p>
          <a:p>
            <a:pPr fontAlgn="base">
              <a:spcBef>
                <a:spcPts val="300"/>
              </a:spcBef>
              <a:spcAft>
                <a:spcPts val="12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的解决方案​​：</a:t>
            </a:r>
          </a:p>
          <a:p>
            <a:pPr marL="0" lvl="1" fontAlgn="base">
              <a:spcBef>
                <a:spcPts val="300"/>
              </a:spcBef>
              <a:spcAft>
                <a:spcPts val="1200"/>
              </a:spcAft>
            </a:pPr>
            <a:r>
              <a:rPr lang="zh-CN" altLang="en-US" sz="2000" dirty="0">
                <a:solidFill>
                  <a:srgbClr val="262626"/>
                </a:solidFill>
                <a:latin typeface="微软雅黑" panose="020B0503020204020204" pitchFamily="34" charset="-122"/>
                <a:ea typeface="微软雅黑" panose="020B0503020204020204" pitchFamily="34" charset="-122"/>
              </a:rPr>
              <a:t>       统一内存管理​​：允许动态调整存储（缓存数据）与执行（计算）的内存占比，适应不同场景需求。</a:t>
            </a:r>
          </a:p>
        </p:txBody>
      </p:sp>
      <p:sp>
        <p:nvSpPr>
          <p:cNvPr id="14" name="文本框 13">
            <a:extLst>
              <a:ext uri="{FF2B5EF4-FFF2-40B4-BE49-F238E27FC236}">
                <a16:creationId xmlns:a16="http://schemas.microsoft.com/office/drawing/2014/main" id="{7A867997-07B5-5A54-9D0A-3A1DD6234184}"/>
              </a:ext>
            </a:extLst>
          </p:cNvPr>
          <p:cNvSpPr txBox="1"/>
          <p:nvPr/>
        </p:nvSpPr>
        <p:spPr>
          <a:xfrm>
            <a:off x="557178" y="3961993"/>
            <a:ext cx="10934429" cy="2554545"/>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5. </a:t>
            </a:r>
            <a:r>
              <a:rPr lang="zh-CN" altLang="en-US" sz="2000" b="1" dirty="0">
                <a:solidFill>
                  <a:srgbClr val="262626"/>
                </a:solidFill>
                <a:latin typeface="微软雅黑" panose="020B0503020204020204" pitchFamily="34" charset="-122"/>
                <a:ea typeface="微软雅黑" panose="020B0503020204020204" pitchFamily="34" charset="-122"/>
              </a:rPr>
              <a:t>支持复杂计算模型与低延迟场景</a:t>
            </a:r>
            <a:r>
              <a:rPr lang="zh-CN" altLang="en-US" b="1" i="0" dirty="0">
                <a:effectLst/>
                <a:latin typeface="inherit"/>
              </a:rPr>
              <a:t>​</a:t>
            </a:r>
            <a:r>
              <a:rPr lang="zh-CN" altLang="en-US" b="1" i="0" dirty="0">
                <a:effectLst/>
                <a:latin typeface="PingFang SC"/>
              </a:rPr>
              <a:t>​</a:t>
            </a:r>
          </a:p>
          <a:p>
            <a:pPr fontAlgn="base">
              <a:spcBef>
                <a:spcPts val="600"/>
              </a:spcBef>
              <a:spcAft>
                <a:spcPts val="300"/>
              </a:spcAft>
              <a:buFont typeface="Arial" panose="020B0604020202020204" pitchFamily="34" charset="0"/>
              <a:buChar char="•"/>
            </a:pPr>
            <a:r>
              <a:rPr lang="zh-CN" altLang="en-US" b="0" i="0" dirty="0">
                <a:effectLst/>
                <a:latin typeface="PingFang SC"/>
              </a:rPr>
              <a:t>​</a:t>
            </a:r>
            <a:r>
              <a:rPr lang="zh-CN" altLang="en-US" b="1" i="0" dirty="0">
                <a:effectLst/>
                <a:latin typeface="inherit"/>
              </a:rPr>
              <a:t>​</a:t>
            </a:r>
            <a:r>
              <a:rPr lang="zh-CN" altLang="en-US" sz="2000" dirty="0">
                <a:solidFill>
                  <a:srgbClr val="262626"/>
                </a:solidFill>
                <a:latin typeface="微软雅黑" panose="020B0503020204020204" pitchFamily="34" charset="-122"/>
                <a:ea typeface="微软雅黑" panose="020B0503020204020204" pitchFamily="34" charset="-122"/>
              </a:rPr>
              <a:t>问题​​：</a:t>
            </a:r>
            <a:r>
              <a:rPr lang="en-US" altLang="zh-CN" sz="2000" dirty="0">
                <a:solidFill>
                  <a:srgbClr val="262626"/>
                </a:solidFill>
                <a:latin typeface="微软雅黑" panose="020B0503020204020204" pitchFamily="34" charset="-122"/>
                <a:ea typeface="微软雅黑" panose="020B0503020204020204" pitchFamily="34" charset="-122"/>
              </a:rPr>
              <a:t>MapReduce</a:t>
            </a:r>
            <a:r>
              <a:rPr lang="zh-CN" altLang="en-US" sz="2000" dirty="0">
                <a:solidFill>
                  <a:srgbClr val="262626"/>
                </a:solidFill>
                <a:latin typeface="微软雅黑" panose="020B0503020204020204" pitchFamily="34" charset="-122"/>
                <a:ea typeface="微软雅黑" panose="020B0503020204020204" pitchFamily="34" charset="-122"/>
              </a:rPr>
              <a:t>仅支持批处理，迭代计算需多次启动独立</a:t>
            </a:r>
            <a:r>
              <a:rPr lang="en-US" altLang="zh-CN" sz="2000" dirty="0">
                <a:solidFill>
                  <a:srgbClr val="262626"/>
                </a:solidFill>
                <a:latin typeface="微软雅黑" panose="020B0503020204020204" pitchFamily="34" charset="-122"/>
                <a:ea typeface="微软雅黑" panose="020B0503020204020204" pitchFamily="34" charset="-122"/>
              </a:rPr>
              <a:t>Job</a:t>
            </a:r>
            <a:r>
              <a:rPr lang="zh-CN" altLang="en-US" sz="2000" dirty="0">
                <a:solidFill>
                  <a:srgbClr val="262626"/>
                </a:solidFill>
                <a:latin typeface="微软雅黑" panose="020B0503020204020204" pitchFamily="34" charset="-122"/>
                <a:ea typeface="微软雅黑" panose="020B0503020204020204" pitchFamily="34" charset="-122"/>
              </a:rPr>
              <a:t>，无法满足实时或近实时需求。</a:t>
            </a:r>
          </a:p>
          <a:p>
            <a:pPr fontAlgn="base">
              <a:spcBef>
                <a:spcPts val="300"/>
              </a:spcBef>
              <a:spcAft>
                <a:spcPts val="12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的解决方案​​：</a:t>
            </a:r>
            <a:endParaRPr lang="en-US" altLang="zh-CN" sz="2000" dirty="0">
              <a:solidFill>
                <a:srgbClr val="262626"/>
              </a:solidFill>
              <a:latin typeface="微软雅黑" panose="020B0503020204020204" pitchFamily="34" charset="-122"/>
              <a:ea typeface="微软雅黑" panose="020B0503020204020204" pitchFamily="34" charset="-122"/>
            </a:endParaRPr>
          </a:p>
          <a:p>
            <a:pPr fontAlgn="base">
              <a:spcBef>
                <a:spcPts val="300"/>
              </a:spcBef>
              <a:spcAft>
                <a:spcPts val="12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DAG</a:t>
            </a:r>
            <a:r>
              <a:rPr lang="zh-CN" altLang="en-US" sz="2000" dirty="0">
                <a:solidFill>
                  <a:srgbClr val="262626"/>
                </a:solidFill>
                <a:latin typeface="微软雅黑" panose="020B0503020204020204" pitchFamily="34" charset="-122"/>
                <a:ea typeface="微软雅黑" panose="020B0503020204020204" pitchFamily="34" charset="-122"/>
              </a:rPr>
              <a:t>执行引擎​​：将任务拆分为有向无环图，支持多阶段流水线执行，避免冗余任务调度。</a:t>
            </a:r>
            <a:endParaRPr lang="en-US" altLang="zh-CN" sz="2000" dirty="0">
              <a:solidFill>
                <a:srgbClr val="262626"/>
              </a:solidFill>
              <a:latin typeface="微软雅黑" panose="020B0503020204020204" pitchFamily="34" charset="-122"/>
              <a:ea typeface="微软雅黑" panose="020B0503020204020204" pitchFamily="34" charset="-122"/>
            </a:endParaRPr>
          </a:p>
          <a:p>
            <a:pPr fontAlgn="base">
              <a:spcBef>
                <a:spcPts val="300"/>
              </a:spcBef>
              <a:spcAft>
                <a:spcPts val="12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​​扩展计算模式​​：通过子框架支持流处理（</a:t>
            </a:r>
            <a:r>
              <a:rPr lang="en-US" altLang="zh-CN" sz="2000" dirty="0">
                <a:solidFill>
                  <a:srgbClr val="262626"/>
                </a:solidFill>
                <a:latin typeface="微软雅黑" panose="020B0503020204020204" pitchFamily="34" charset="-122"/>
                <a:ea typeface="微软雅黑" panose="020B0503020204020204" pitchFamily="34" charset="-122"/>
              </a:rPr>
              <a:t>Spark Streaming</a:t>
            </a:r>
            <a:r>
              <a:rPr lang="zh-CN" altLang="en-US" sz="2000" dirty="0">
                <a:solidFill>
                  <a:srgbClr val="262626"/>
                </a:solidFill>
                <a:latin typeface="微软雅黑" panose="020B0503020204020204" pitchFamily="34" charset="-122"/>
                <a:ea typeface="微软雅黑" panose="020B0503020204020204" pitchFamily="34" charset="-122"/>
              </a:rPr>
              <a:t>）、交互式查询（</a:t>
            </a:r>
            <a:r>
              <a:rPr lang="en-US" altLang="zh-CN" sz="2000" dirty="0">
                <a:solidFill>
                  <a:srgbClr val="262626"/>
                </a:solidFill>
                <a:latin typeface="微软雅黑" panose="020B0503020204020204" pitchFamily="34" charset="-122"/>
                <a:ea typeface="微软雅黑" panose="020B0503020204020204" pitchFamily="34" charset="-122"/>
              </a:rPr>
              <a:t>Spark SQL</a:t>
            </a:r>
            <a:r>
              <a:rPr lang="zh-CN" altLang="en-US" sz="2000" dirty="0">
                <a:solidFill>
                  <a:srgbClr val="262626"/>
                </a:solidFill>
                <a:latin typeface="微软雅黑" panose="020B0503020204020204" pitchFamily="34" charset="-122"/>
                <a:ea typeface="微软雅黑" panose="020B0503020204020204" pitchFamily="34" charset="-122"/>
              </a:rPr>
              <a:t>）、图计算（</a:t>
            </a:r>
            <a:r>
              <a:rPr lang="en-US" altLang="zh-CN" sz="2000" dirty="0" err="1">
                <a:solidFill>
                  <a:srgbClr val="262626"/>
                </a:solidFill>
                <a:latin typeface="微软雅黑" panose="020B0503020204020204" pitchFamily="34" charset="-122"/>
                <a:ea typeface="微软雅黑" panose="020B0503020204020204" pitchFamily="34" charset="-122"/>
              </a:rPr>
              <a:t>GraphX</a:t>
            </a:r>
            <a:r>
              <a:rPr lang="zh-CN" altLang="en-US" sz="2000" dirty="0">
                <a:solidFill>
                  <a:srgbClr val="262626"/>
                </a:solidFill>
                <a:latin typeface="微软雅黑" panose="020B0503020204020204" pitchFamily="34" charset="-122"/>
                <a:ea typeface="微软雅黑" panose="020B0503020204020204" pitchFamily="34" charset="-122"/>
              </a:rPr>
              <a:t>）和机器学习（</a:t>
            </a:r>
            <a:r>
              <a:rPr lang="en-US" altLang="zh-CN" sz="2000" dirty="0">
                <a:solidFill>
                  <a:srgbClr val="262626"/>
                </a:solidFill>
                <a:latin typeface="微软雅黑" panose="020B0503020204020204" pitchFamily="34" charset="-122"/>
                <a:ea typeface="微软雅黑" panose="020B0503020204020204" pitchFamily="34" charset="-122"/>
              </a:rPr>
              <a:t>MLlib</a:t>
            </a:r>
            <a:r>
              <a:rPr lang="zh-CN" altLang="en-US" sz="2000" dirty="0">
                <a:solidFill>
                  <a:srgbClr val="262626"/>
                </a:solidFill>
                <a:latin typeface="微软雅黑" panose="020B0503020204020204" pitchFamily="34" charset="-122"/>
                <a:ea typeface="微软雅黑" panose="020B0503020204020204" pitchFamily="34" charset="-122"/>
              </a:rPr>
              <a:t>），实现“一站式”处理。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a:stretch/>
        </p:blipFill>
        <p:spPr>
          <a:xfrm>
            <a:off x="30480" y="0"/>
            <a:ext cx="12192000" cy="6858000"/>
          </a:xfrm>
          <a:prstGeom prst="rect">
            <a:avLst/>
          </a:prstGeom>
        </p:spPr>
      </p:pic>
      <p:graphicFrame>
        <p:nvGraphicFramePr>
          <p:cNvPr id="2" name="表格 1">
            <a:extLst>
              <a:ext uri="{FF2B5EF4-FFF2-40B4-BE49-F238E27FC236}">
                <a16:creationId xmlns:a16="http://schemas.microsoft.com/office/drawing/2014/main" id="{D35B009F-B03B-897E-9EAB-4C68AA486C17}"/>
              </a:ext>
            </a:extLst>
          </p:cNvPr>
          <p:cNvGraphicFramePr>
            <a:graphicFrameLocks noGrp="1"/>
          </p:cNvGraphicFramePr>
          <p:nvPr>
            <p:extLst>
              <p:ext uri="{D42A27DB-BD31-4B8C-83A1-F6EECF244321}">
                <p14:modId xmlns:p14="http://schemas.microsoft.com/office/powerpoint/2010/main" val="2974033330"/>
              </p:ext>
            </p:extLst>
          </p:nvPr>
        </p:nvGraphicFramePr>
        <p:xfrm>
          <a:off x="762000" y="1816894"/>
          <a:ext cx="10515600" cy="3688080"/>
        </p:xfrm>
        <a:graphic>
          <a:graphicData uri="http://schemas.openxmlformats.org/drawingml/2006/table">
            <a:tbl>
              <a:tblPr>
                <a:tableStyleId>{616DA210-FB5B-4158-B5E0-FEB733F419BA}</a:tableStyleId>
              </a:tblPr>
              <a:tblGrid>
                <a:gridCol w="2997200">
                  <a:extLst>
                    <a:ext uri="{9D8B030D-6E8A-4147-A177-3AD203B41FA5}">
                      <a16:colId xmlns:a16="http://schemas.microsoft.com/office/drawing/2014/main" val="952182302"/>
                    </a:ext>
                  </a:extLst>
                </a:gridCol>
                <a:gridCol w="4013200">
                  <a:extLst>
                    <a:ext uri="{9D8B030D-6E8A-4147-A177-3AD203B41FA5}">
                      <a16:colId xmlns:a16="http://schemas.microsoft.com/office/drawing/2014/main" val="4222039209"/>
                    </a:ext>
                  </a:extLst>
                </a:gridCol>
                <a:gridCol w="3505200">
                  <a:extLst>
                    <a:ext uri="{9D8B030D-6E8A-4147-A177-3AD203B41FA5}">
                      <a16:colId xmlns:a16="http://schemas.microsoft.com/office/drawing/2014/main" val="2082487088"/>
                    </a:ext>
                  </a:extLst>
                </a:gridCol>
              </a:tblGrid>
              <a:tr h="0">
                <a:tc>
                  <a:txBody>
                    <a:bodyPr/>
                    <a:lstStyle/>
                    <a:p>
                      <a:pPr algn="ctr" fontAlgn="ctr"/>
                      <a:r>
                        <a:rPr lang="zh-CN" altLang="en-US" b="1">
                          <a:effectLst/>
                        </a:rPr>
                        <a:t>维度​​</a:t>
                      </a:r>
                      <a:endParaRPr lang="zh-CN" altLang="en-US" b="1">
                        <a:effectLst/>
                        <a:latin typeface="PingFang SC"/>
                      </a:endParaRPr>
                    </a:p>
                  </a:txBody>
                  <a:tcPr marL="101600" marR="101600" marT="76200" marB="76200" anchor="ctr"/>
                </a:tc>
                <a:tc>
                  <a:txBody>
                    <a:bodyPr/>
                    <a:lstStyle/>
                    <a:p>
                      <a:pPr algn="ctr" fontAlgn="ctr"/>
                      <a:r>
                        <a:rPr lang="en-US" b="1">
                          <a:effectLst/>
                        </a:rPr>
                        <a:t>​​MapReduce​​</a:t>
                      </a:r>
                      <a:endParaRPr lang="en-US" b="1">
                        <a:effectLst/>
                        <a:latin typeface="PingFang SC"/>
                      </a:endParaRPr>
                    </a:p>
                  </a:txBody>
                  <a:tcPr marL="101600" marR="101600" marT="76200" marB="76200" anchor="ctr"/>
                </a:tc>
                <a:tc>
                  <a:txBody>
                    <a:bodyPr/>
                    <a:lstStyle/>
                    <a:p>
                      <a:pPr algn="ctr" fontAlgn="ctr"/>
                      <a:r>
                        <a:rPr lang="en-US" b="1">
                          <a:effectLst/>
                        </a:rPr>
                        <a:t>​​Spark​​</a:t>
                      </a:r>
                      <a:endParaRPr lang="en-US" b="1">
                        <a:effectLst/>
                        <a:latin typeface="PingFang SC"/>
                      </a:endParaRPr>
                    </a:p>
                  </a:txBody>
                  <a:tcPr marL="101600" marR="101600" marT="76200" marB="76200" anchor="ctr"/>
                </a:tc>
                <a:extLst>
                  <a:ext uri="{0D108BD9-81ED-4DB2-BD59-A6C34878D82A}">
                    <a16:rowId xmlns:a16="http://schemas.microsoft.com/office/drawing/2014/main" val="1734041651"/>
                  </a:ext>
                </a:extLst>
              </a:tr>
              <a:tr h="0">
                <a:tc>
                  <a:txBody>
                    <a:bodyPr/>
                    <a:lstStyle/>
                    <a:p>
                      <a:pPr algn="ctr" fontAlgn="ctr"/>
                      <a:r>
                        <a:rPr lang="zh-CN" altLang="en-US" b="0">
                          <a:effectLst/>
                        </a:rPr>
                        <a:t>​</a:t>
                      </a:r>
                      <a:r>
                        <a:rPr lang="zh-CN" altLang="en-US" b="1">
                          <a:effectLst/>
                        </a:rPr>
                        <a:t>​计算模型​</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仅批处理</a:t>
                      </a:r>
                      <a:endParaRPr lang="zh-CN" altLang="en-US" b="0">
                        <a:effectLst/>
                        <a:latin typeface="PingFang SC"/>
                      </a:endParaRPr>
                    </a:p>
                  </a:txBody>
                  <a:tcPr marL="101600" marR="101600" marT="76200" marB="76200" anchor="ctr"/>
                </a:tc>
                <a:tc>
                  <a:txBody>
                    <a:bodyPr/>
                    <a:lstStyle/>
                    <a:p>
                      <a:pPr algn="ctr" fontAlgn="ctr"/>
                      <a:r>
                        <a:rPr lang="zh-CN" altLang="en-US" b="0">
                          <a:effectLst/>
                        </a:rPr>
                        <a:t>批处理、流处理、交互查询、图计算、机器学习</a:t>
                      </a:r>
                      <a:endParaRPr lang="zh-CN" altLang="en-US" b="0">
                        <a:effectLst/>
                        <a:latin typeface="PingFang SC"/>
                      </a:endParaRPr>
                    </a:p>
                  </a:txBody>
                  <a:tcPr marL="101600" marR="101600" marT="76200" marB="76200" anchor="ctr"/>
                </a:tc>
                <a:extLst>
                  <a:ext uri="{0D108BD9-81ED-4DB2-BD59-A6C34878D82A}">
                    <a16:rowId xmlns:a16="http://schemas.microsoft.com/office/drawing/2014/main" val="3871015148"/>
                  </a:ext>
                </a:extLst>
              </a:tr>
              <a:tr h="0">
                <a:tc>
                  <a:txBody>
                    <a:bodyPr/>
                    <a:lstStyle/>
                    <a:p>
                      <a:pPr algn="ctr" fontAlgn="ctr"/>
                      <a:r>
                        <a:rPr lang="zh-CN" altLang="en-US" b="0">
                          <a:effectLst/>
                        </a:rPr>
                        <a:t>​</a:t>
                      </a:r>
                      <a:r>
                        <a:rPr lang="zh-CN" altLang="en-US" b="1">
                          <a:effectLst/>
                        </a:rPr>
                        <a:t>​执行引擎​</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多阶段</a:t>
                      </a:r>
                      <a:r>
                        <a:rPr lang="en-US" b="0">
                          <a:effectLst/>
                        </a:rPr>
                        <a:t>Map/Reduce，</a:t>
                      </a:r>
                      <a:r>
                        <a:rPr lang="zh-CN" altLang="en-US" b="0">
                          <a:effectLst/>
                        </a:rPr>
                        <a:t>依赖磁盘持久化</a:t>
                      </a:r>
                      <a:endParaRPr lang="zh-CN" altLang="en-US" b="0">
                        <a:effectLst/>
                        <a:latin typeface="PingFang SC"/>
                      </a:endParaRPr>
                    </a:p>
                  </a:txBody>
                  <a:tcPr marL="101600" marR="101600" marT="76200" marB="76200" anchor="ctr"/>
                </a:tc>
                <a:tc>
                  <a:txBody>
                    <a:bodyPr/>
                    <a:lstStyle/>
                    <a:p>
                      <a:pPr algn="ctr" fontAlgn="ctr"/>
                      <a:r>
                        <a:rPr lang="en-US" altLang="zh-CN" b="0">
                          <a:effectLst/>
                        </a:rPr>
                        <a:t>DAG</a:t>
                      </a:r>
                      <a:r>
                        <a:rPr lang="zh-CN" altLang="en-US" b="0">
                          <a:effectLst/>
                        </a:rPr>
                        <a:t>优化，内存优先计算</a:t>
                      </a:r>
                      <a:endParaRPr lang="zh-CN" altLang="en-US" b="0">
                        <a:effectLst/>
                        <a:latin typeface="PingFang SC"/>
                      </a:endParaRPr>
                    </a:p>
                  </a:txBody>
                  <a:tcPr marL="101600" marR="101600" marT="76200" marB="76200" anchor="ctr"/>
                </a:tc>
                <a:extLst>
                  <a:ext uri="{0D108BD9-81ED-4DB2-BD59-A6C34878D82A}">
                    <a16:rowId xmlns:a16="http://schemas.microsoft.com/office/drawing/2014/main" val="2230816996"/>
                  </a:ext>
                </a:extLst>
              </a:tr>
              <a:tr h="0">
                <a:tc>
                  <a:txBody>
                    <a:bodyPr/>
                    <a:lstStyle/>
                    <a:p>
                      <a:pPr algn="ctr" fontAlgn="ctr"/>
                      <a:r>
                        <a:rPr lang="zh-CN" altLang="en-US" b="0">
                          <a:effectLst/>
                        </a:rPr>
                        <a:t>​</a:t>
                      </a:r>
                      <a:r>
                        <a:rPr lang="zh-CN" altLang="en-US" b="1">
                          <a:effectLst/>
                        </a:rPr>
                        <a:t>​迭代计算效率​</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低（多次磁盘</a:t>
                      </a:r>
                      <a:r>
                        <a:rPr lang="en-US" altLang="zh-CN" b="0">
                          <a:effectLst/>
                        </a:rPr>
                        <a:t>I/O</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高（内存缓存中间数据）</a:t>
                      </a:r>
                      <a:endParaRPr lang="zh-CN" altLang="en-US" b="0">
                        <a:effectLst/>
                        <a:latin typeface="PingFang SC"/>
                      </a:endParaRPr>
                    </a:p>
                  </a:txBody>
                  <a:tcPr marL="101600" marR="101600" marT="76200" marB="76200" anchor="ctr"/>
                </a:tc>
                <a:extLst>
                  <a:ext uri="{0D108BD9-81ED-4DB2-BD59-A6C34878D82A}">
                    <a16:rowId xmlns:a16="http://schemas.microsoft.com/office/drawing/2014/main" val="791780718"/>
                  </a:ext>
                </a:extLst>
              </a:tr>
              <a:tr h="0">
                <a:tc>
                  <a:txBody>
                    <a:bodyPr/>
                    <a:lstStyle/>
                    <a:p>
                      <a:pPr algn="ctr" fontAlgn="ctr"/>
                      <a:r>
                        <a:rPr lang="zh-CN" altLang="en-US" b="0">
                          <a:effectLst/>
                        </a:rPr>
                        <a:t>​</a:t>
                      </a:r>
                      <a:r>
                        <a:rPr lang="zh-CN" altLang="en-US" b="1">
                          <a:effectLst/>
                        </a:rPr>
                        <a:t>​延迟​</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高（分钟级）</a:t>
                      </a:r>
                      <a:endParaRPr lang="zh-CN" altLang="en-US" b="0">
                        <a:effectLst/>
                        <a:latin typeface="PingFang SC"/>
                      </a:endParaRPr>
                    </a:p>
                  </a:txBody>
                  <a:tcPr marL="101600" marR="101600" marT="76200" marB="76200" anchor="ctr"/>
                </a:tc>
                <a:tc>
                  <a:txBody>
                    <a:bodyPr/>
                    <a:lstStyle/>
                    <a:p>
                      <a:pPr algn="ctr" fontAlgn="ctr"/>
                      <a:r>
                        <a:rPr lang="zh-CN" altLang="en-US" b="0">
                          <a:effectLst/>
                        </a:rPr>
                        <a:t>低（亚秒级至秒级，依赖场景）</a:t>
                      </a:r>
                      <a:endParaRPr lang="zh-CN" altLang="en-US" b="0">
                        <a:effectLst/>
                        <a:latin typeface="PingFang SC"/>
                      </a:endParaRPr>
                    </a:p>
                  </a:txBody>
                  <a:tcPr marL="101600" marR="101600" marT="76200" marB="76200" anchor="ctr"/>
                </a:tc>
                <a:extLst>
                  <a:ext uri="{0D108BD9-81ED-4DB2-BD59-A6C34878D82A}">
                    <a16:rowId xmlns:a16="http://schemas.microsoft.com/office/drawing/2014/main" val="3713006488"/>
                  </a:ext>
                </a:extLst>
              </a:tr>
              <a:tr h="0">
                <a:tc>
                  <a:txBody>
                    <a:bodyPr/>
                    <a:lstStyle/>
                    <a:p>
                      <a:pPr algn="ctr" fontAlgn="ctr"/>
                      <a:r>
                        <a:rPr lang="en-US" b="0">
                          <a:effectLst/>
                        </a:rPr>
                        <a:t>​</a:t>
                      </a:r>
                      <a:r>
                        <a:rPr lang="en-US" b="1">
                          <a:effectLst/>
                        </a:rPr>
                        <a:t>​API</a:t>
                      </a:r>
                      <a:r>
                        <a:rPr lang="zh-CN" altLang="en-US" b="1">
                          <a:effectLst/>
                        </a:rPr>
                        <a:t>易用性​</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低级</a:t>
                      </a:r>
                      <a:r>
                        <a:rPr lang="en-US" altLang="zh-CN" b="0">
                          <a:effectLst/>
                        </a:rPr>
                        <a:t>API</a:t>
                      </a:r>
                      <a:r>
                        <a:rPr lang="zh-CN" altLang="en-US" b="0">
                          <a:effectLst/>
                        </a:rPr>
                        <a:t>，开发复杂</a:t>
                      </a:r>
                      <a:endParaRPr lang="zh-CN" altLang="en-US" b="0">
                        <a:effectLst/>
                        <a:latin typeface="PingFang SC"/>
                      </a:endParaRPr>
                    </a:p>
                  </a:txBody>
                  <a:tcPr marL="101600" marR="101600" marT="76200" marB="76200" anchor="ctr"/>
                </a:tc>
                <a:tc>
                  <a:txBody>
                    <a:bodyPr/>
                    <a:lstStyle/>
                    <a:p>
                      <a:pPr algn="ctr" fontAlgn="ctr"/>
                      <a:r>
                        <a:rPr lang="zh-CN" altLang="en-US" b="0">
                          <a:effectLst/>
                        </a:rPr>
                        <a:t>高阶</a:t>
                      </a:r>
                      <a:r>
                        <a:rPr lang="en-US" altLang="zh-CN" b="0">
                          <a:effectLst/>
                        </a:rPr>
                        <a:t>API</a:t>
                      </a:r>
                      <a:r>
                        <a:rPr lang="zh-CN" altLang="en-US" b="0">
                          <a:effectLst/>
                        </a:rPr>
                        <a:t>，支持链式操作与</a:t>
                      </a:r>
                      <a:r>
                        <a:rPr lang="en-US" altLang="zh-CN" b="0">
                          <a:effectLst/>
                        </a:rPr>
                        <a:t>SQL</a:t>
                      </a:r>
                      <a:endParaRPr lang="en-US" altLang="zh-CN" b="0">
                        <a:effectLst/>
                        <a:latin typeface="PingFang SC"/>
                      </a:endParaRPr>
                    </a:p>
                  </a:txBody>
                  <a:tcPr marL="101600" marR="101600" marT="76200" marB="76200" anchor="ctr"/>
                </a:tc>
                <a:extLst>
                  <a:ext uri="{0D108BD9-81ED-4DB2-BD59-A6C34878D82A}">
                    <a16:rowId xmlns:a16="http://schemas.microsoft.com/office/drawing/2014/main" val="3813343130"/>
                  </a:ext>
                </a:extLst>
              </a:tr>
              <a:tr h="0">
                <a:tc>
                  <a:txBody>
                    <a:bodyPr/>
                    <a:lstStyle/>
                    <a:p>
                      <a:pPr algn="ctr" fontAlgn="ctr"/>
                      <a:r>
                        <a:rPr lang="zh-CN" altLang="en-US" b="0">
                          <a:effectLst/>
                        </a:rPr>
                        <a:t>​</a:t>
                      </a:r>
                      <a:r>
                        <a:rPr lang="zh-CN" altLang="en-US" b="1">
                          <a:effectLst/>
                        </a:rPr>
                        <a:t>​容错机制​</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磁盘持久化</a:t>
                      </a:r>
                      <a:endParaRPr lang="zh-CN" altLang="en-US" b="0">
                        <a:effectLst/>
                        <a:latin typeface="PingFang SC"/>
                      </a:endParaRPr>
                    </a:p>
                  </a:txBody>
                  <a:tcPr marL="101600" marR="101600" marT="76200" marB="76200" anchor="ctr"/>
                </a:tc>
                <a:tc>
                  <a:txBody>
                    <a:bodyPr/>
                    <a:lstStyle/>
                    <a:p>
                      <a:pPr algn="ctr" fontAlgn="ctr"/>
                      <a:r>
                        <a:rPr lang="en-US" b="0">
                          <a:effectLst/>
                        </a:rPr>
                        <a:t>Lineage + </a:t>
                      </a:r>
                      <a:r>
                        <a:rPr lang="zh-CN" altLang="en-US" b="0">
                          <a:effectLst/>
                        </a:rPr>
                        <a:t>检查点，快速恢复</a:t>
                      </a:r>
                      <a:endParaRPr lang="zh-CN" altLang="en-US" b="0">
                        <a:effectLst/>
                        <a:latin typeface="PingFang SC"/>
                      </a:endParaRPr>
                    </a:p>
                  </a:txBody>
                  <a:tcPr marL="101600" marR="101600" marT="76200" marB="76200" anchor="ctr"/>
                </a:tc>
                <a:extLst>
                  <a:ext uri="{0D108BD9-81ED-4DB2-BD59-A6C34878D82A}">
                    <a16:rowId xmlns:a16="http://schemas.microsoft.com/office/drawing/2014/main" val="473976772"/>
                  </a:ext>
                </a:extLst>
              </a:tr>
              <a:tr h="0">
                <a:tc>
                  <a:txBody>
                    <a:bodyPr/>
                    <a:lstStyle/>
                    <a:p>
                      <a:pPr algn="ctr" fontAlgn="ctr"/>
                      <a:r>
                        <a:rPr lang="zh-CN" altLang="en-US" b="0">
                          <a:effectLst/>
                        </a:rPr>
                        <a:t>​</a:t>
                      </a:r>
                      <a:r>
                        <a:rPr lang="zh-CN" altLang="en-US" b="1">
                          <a:effectLst/>
                        </a:rPr>
                        <a:t>​资源管理​</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静态分配</a:t>
                      </a:r>
                      <a:endParaRPr lang="zh-CN" altLang="en-US" b="0">
                        <a:effectLst/>
                        <a:latin typeface="PingFang SC"/>
                      </a:endParaRPr>
                    </a:p>
                  </a:txBody>
                  <a:tcPr marL="101600" marR="101600" marT="76200" marB="76200" anchor="ctr"/>
                </a:tc>
                <a:tc>
                  <a:txBody>
                    <a:bodyPr/>
                    <a:lstStyle/>
                    <a:p>
                      <a:pPr algn="ctr" fontAlgn="ctr"/>
                      <a:r>
                        <a:rPr lang="zh-CN" altLang="en-US" b="0" dirty="0">
                          <a:effectLst/>
                        </a:rPr>
                        <a:t>动态调整，线程复用</a:t>
                      </a:r>
                      <a:endParaRPr lang="zh-CN" altLang="en-US" b="0" dirty="0">
                        <a:effectLst/>
                        <a:latin typeface="PingFang SC"/>
                      </a:endParaRPr>
                    </a:p>
                  </a:txBody>
                  <a:tcPr marL="101600" marR="101600" marT="76200" marB="76200" anchor="ctr"/>
                </a:tc>
                <a:extLst>
                  <a:ext uri="{0D108BD9-81ED-4DB2-BD59-A6C34878D82A}">
                    <a16:rowId xmlns:a16="http://schemas.microsoft.com/office/drawing/2014/main" val="1624140733"/>
                  </a:ext>
                </a:extLst>
              </a:tr>
            </a:tbl>
          </a:graphicData>
        </a:graphic>
      </p:graphicFrame>
      <p:sp>
        <p:nvSpPr>
          <p:cNvPr id="15" name="Text 1">
            <a:extLst>
              <a:ext uri="{FF2B5EF4-FFF2-40B4-BE49-F238E27FC236}">
                <a16:creationId xmlns:a16="http://schemas.microsoft.com/office/drawing/2014/main" id="{09ED8CD2-AD48-ABD3-C2CA-138460063F40}"/>
              </a:ext>
            </a:extLst>
          </p:cNvPr>
          <p:cNvSpPr/>
          <p:nvPr/>
        </p:nvSpPr>
        <p:spPr>
          <a:xfrm>
            <a:off x="762000" y="566844"/>
            <a:ext cx="10668000" cy="533400"/>
          </a:xfrm>
          <a:prstGeom prst="rect">
            <a:avLst/>
          </a:prstGeom>
          <a:noFill/>
          <a:ln/>
        </p:spPr>
        <p:txBody>
          <a:bodyPr vert="horz" wrap="square" lIns="0" tIns="0" rIns="0" bIns="0" rtlCol="0" anchor="ctr"/>
          <a:lstStyle/>
          <a:p>
            <a:pPr>
              <a:lnSpc>
                <a:spcPts val="7000"/>
              </a:lnSpc>
            </a:pPr>
            <a:r>
              <a:rPr lang="en-US" altLang="zh-CN" sz="3200" b="1" dirty="0">
                <a:solidFill>
                  <a:srgbClr val="000000"/>
                </a:solidFill>
                <a:latin typeface="Microsoft YaHei" pitchFamily="34" charset="0"/>
                <a:ea typeface="Microsoft YaHei" pitchFamily="34" charset="-122"/>
                <a:cs typeface="Microsoft YaHei" pitchFamily="34" charset="-120"/>
              </a:rPr>
              <a:t>Spark vs MapReduce</a:t>
            </a:r>
            <a:endParaRPr lang="en-US" altLang="zh-CN"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7699-6210-5291-A3DE-ECEA86DC549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584FCCD-149C-8FF5-3B19-34F7FCDF9D5B}"/>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D38ACBB6-A203-2ABE-4ECD-1B25F6D8236E}"/>
              </a:ext>
            </a:extLst>
          </p:cNvPr>
          <p:cNvSpPr/>
          <p:nvPr/>
        </p:nvSpPr>
        <p:spPr>
          <a:xfrm>
            <a:off x="459983" y="2886846"/>
            <a:ext cx="6954033" cy="1778000"/>
          </a:xfrm>
          <a:prstGeom prst="rect">
            <a:avLst/>
          </a:prstGeom>
          <a:noFill/>
          <a:ln/>
        </p:spPr>
        <p:txBody>
          <a:bodyPr vert="horz" wrap="square" lIns="0" tIns="0" rIns="0" bIns="0" rtlCol="0" anchor="ctr"/>
          <a:lstStyle/>
          <a:p>
            <a:pPr>
              <a:lnSpc>
                <a:spcPts val="7000"/>
              </a:lnSpc>
            </a:pPr>
            <a:endParaRPr lang="en-US" sz="5000" dirty="0"/>
          </a:p>
        </p:txBody>
      </p:sp>
      <p:sp>
        <p:nvSpPr>
          <p:cNvPr id="5" name="Text 2">
            <a:extLst>
              <a:ext uri="{FF2B5EF4-FFF2-40B4-BE49-F238E27FC236}">
                <a16:creationId xmlns:a16="http://schemas.microsoft.com/office/drawing/2014/main" id="{F77A6CAD-1E90-7974-025F-F60BC5E2D116}"/>
              </a:ext>
            </a:extLst>
          </p:cNvPr>
          <p:cNvSpPr/>
          <p:nvPr/>
        </p:nvSpPr>
        <p:spPr>
          <a:xfrm>
            <a:off x="762000" y="5816600"/>
            <a:ext cx="6350000" cy="279400"/>
          </a:xfrm>
          <a:prstGeom prst="rect">
            <a:avLst/>
          </a:prstGeom>
          <a:noFill/>
          <a:ln/>
        </p:spPr>
        <p:txBody>
          <a:bodyPr vert="horz" wrap="square" lIns="0" tIns="0" rIns="0" bIns="0" rtlCol="0" anchor="ctr"/>
          <a:lstStyle/>
          <a:p>
            <a:pPr>
              <a:lnSpc>
                <a:spcPts val="2200"/>
              </a:lnSpc>
            </a:pPr>
            <a:endParaRPr lang="en-US" sz="1400" dirty="0"/>
          </a:p>
        </p:txBody>
      </p:sp>
      <p:sp>
        <p:nvSpPr>
          <p:cNvPr id="6" name="Text 3">
            <a:extLst>
              <a:ext uri="{FF2B5EF4-FFF2-40B4-BE49-F238E27FC236}">
                <a16:creationId xmlns:a16="http://schemas.microsoft.com/office/drawing/2014/main" id="{7C508F23-C48F-13C0-17D6-D845C12A7C3D}"/>
              </a:ext>
            </a:extLst>
          </p:cNvPr>
          <p:cNvSpPr/>
          <p:nvPr/>
        </p:nvSpPr>
        <p:spPr>
          <a:xfrm>
            <a:off x="7219949" y="3403600"/>
            <a:ext cx="4972051" cy="3810000"/>
          </a:xfrm>
          <a:prstGeom prst="rect">
            <a:avLst/>
          </a:prstGeom>
          <a:noFill/>
          <a:ln/>
        </p:spPr>
        <p:txBody>
          <a:bodyPr vert="horz" wrap="square" lIns="0" tIns="0" rIns="0" bIns="0" rtlCol="0" anchor="ctr"/>
          <a:lstStyle/>
          <a:p>
            <a:pPr algn="ctr">
              <a:lnSpc>
                <a:spcPts val="29999"/>
              </a:lnSpc>
            </a:pPr>
            <a:r>
              <a:rPr lang="en-US" sz="29999" b="1" dirty="0">
                <a:solidFill>
                  <a:srgbClr val="4784CB">
                    <a:alpha val="30000"/>
                  </a:srgbClr>
                </a:solidFill>
                <a:latin typeface="Microsoft YaHei" pitchFamily="34" charset="0"/>
                <a:ea typeface="Microsoft YaHei" pitchFamily="34" charset="-122"/>
                <a:cs typeface="Microsoft YaHei" pitchFamily="34" charset="-120"/>
              </a:rPr>
              <a:t>03</a:t>
            </a:r>
            <a:endParaRPr lang="en-US" sz="29999" dirty="0"/>
          </a:p>
        </p:txBody>
      </p:sp>
      <p:sp>
        <p:nvSpPr>
          <p:cNvPr id="8" name="文本框 7">
            <a:extLst>
              <a:ext uri="{FF2B5EF4-FFF2-40B4-BE49-F238E27FC236}">
                <a16:creationId xmlns:a16="http://schemas.microsoft.com/office/drawing/2014/main" id="{D76D00C8-F4EF-AF93-5A7F-584E9519149F}"/>
              </a:ext>
            </a:extLst>
          </p:cNvPr>
          <p:cNvSpPr txBox="1"/>
          <p:nvPr/>
        </p:nvSpPr>
        <p:spPr>
          <a:xfrm>
            <a:off x="639863" y="3549985"/>
            <a:ext cx="7234136" cy="861774"/>
          </a:xfrm>
          <a:prstGeom prst="rect">
            <a:avLst/>
          </a:prstGeom>
          <a:noFill/>
        </p:spPr>
        <p:txBody>
          <a:bodyPr wrap="square">
            <a:spAutoFit/>
          </a:bodyPr>
          <a:lstStyle/>
          <a:p>
            <a:r>
              <a:rPr lang="zh-CN" altLang="en-US" sz="5000" b="1" dirty="0">
                <a:solidFill>
                  <a:srgbClr val="000000"/>
                </a:solidFill>
                <a:latin typeface="Microsoft YaHei" pitchFamily="34" charset="0"/>
                <a:ea typeface="Microsoft YaHei" pitchFamily="34" charset="-122"/>
              </a:rPr>
              <a:t>数据湖 </a:t>
            </a:r>
            <a:r>
              <a:rPr lang="en-US" altLang="zh-CN" sz="5000" b="1" dirty="0">
                <a:solidFill>
                  <a:srgbClr val="000000"/>
                </a:solidFill>
                <a:latin typeface="Microsoft YaHei" pitchFamily="34" charset="0"/>
                <a:ea typeface="Microsoft YaHei" pitchFamily="34" charset="-122"/>
              </a:rPr>
              <a:t>vs Hadoop</a:t>
            </a:r>
            <a:endParaRPr lang="zh-CN" altLang="en-US" sz="5000" b="1" dirty="0">
              <a:solidFill>
                <a:srgbClr val="000000"/>
              </a:solidFill>
              <a:latin typeface="Microsoft YaHei" pitchFamily="34" charset="0"/>
              <a:ea typeface="Microsoft YaHei" pitchFamily="34" charset="-122"/>
            </a:endParaRPr>
          </a:p>
        </p:txBody>
      </p:sp>
    </p:spTree>
    <p:extLst>
      <p:ext uri="{BB962C8B-B14F-4D97-AF65-F5344CB8AC3E}">
        <p14:creationId xmlns:p14="http://schemas.microsoft.com/office/powerpoint/2010/main" val="338014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EBF6-2C2F-2972-6FBE-B61409FCFE0B}"/>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797762D0-363B-7211-935F-8F06E2504A46}"/>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81C98930-59B8-356F-B35D-792427630476}"/>
              </a:ext>
            </a:extLst>
          </p:cNvPr>
          <p:cNvSpPr/>
          <p:nvPr/>
        </p:nvSpPr>
        <p:spPr>
          <a:xfrm>
            <a:off x="666750" y="674794"/>
            <a:ext cx="10668000" cy="533400"/>
          </a:xfrm>
          <a:prstGeom prst="rect">
            <a:avLst/>
          </a:prstGeom>
          <a:noFill/>
          <a:ln/>
        </p:spPr>
        <p:txBody>
          <a:bodyPr vert="horz" wrap="square" lIns="0" tIns="0" rIns="0" bIns="0" rtlCol="0" anchor="ctr"/>
          <a:lstStyle/>
          <a:p>
            <a:pPr>
              <a:lnSpc>
                <a:spcPts val="4200"/>
              </a:lnSpc>
            </a:pPr>
            <a:r>
              <a:rPr lang="zh-CN" altLang="en-US" sz="3200" b="1" dirty="0">
                <a:solidFill>
                  <a:srgbClr val="000000"/>
                </a:solidFill>
                <a:latin typeface="Microsoft YaHei" pitchFamily="34" charset="0"/>
                <a:ea typeface="Microsoft YaHei" pitchFamily="34" charset="-122"/>
              </a:rPr>
              <a:t>从</a:t>
            </a:r>
            <a:r>
              <a:rPr lang="en-US" altLang="zh-CN" sz="3200" b="1" dirty="0">
                <a:solidFill>
                  <a:srgbClr val="000000"/>
                </a:solidFill>
                <a:latin typeface="Microsoft YaHei" pitchFamily="34" charset="0"/>
                <a:ea typeface="Microsoft YaHei" pitchFamily="34" charset="-122"/>
              </a:rPr>
              <a:t>Hadoop</a:t>
            </a:r>
            <a:r>
              <a:rPr lang="zh-CN" altLang="en-US" sz="3200" b="1" dirty="0">
                <a:solidFill>
                  <a:srgbClr val="000000"/>
                </a:solidFill>
                <a:latin typeface="Microsoft YaHei" pitchFamily="34" charset="0"/>
                <a:ea typeface="Microsoft YaHei" pitchFamily="34" charset="-122"/>
              </a:rPr>
              <a:t>架构到数据湖体系</a:t>
            </a:r>
            <a:endParaRPr lang="en-US" sz="3200" b="1" dirty="0">
              <a:solidFill>
                <a:srgbClr val="000000"/>
              </a:solidFill>
              <a:latin typeface="Microsoft YaHei" pitchFamily="34" charset="0"/>
              <a:ea typeface="Microsoft YaHei" pitchFamily="34" charset="-122"/>
            </a:endParaRPr>
          </a:p>
        </p:txBody>
      </p:sp>
      <p:sp>
        <p:nvSpPr>
          <p:cNvPr id="5" name="文本框 4">
            <a:extLst>
              <a:ext uri="{FF2B5EF4-FFF2-40B4-BE49-F238E27FC236}">
                <a16:creationId xmlns:a16="http://schemas.microsoft.com/office/drawing/2014/main" id="{68AC1FC9-018F-0FEF-F1C0-A1F00992D9EF}"/>
              </a:ext>
            </a:extLst>
          </p:cNvPr>
          <p:cNvSpPr txBox="1"/>
          <p:nvPr/>
        </p:nvSpPr>
        <p:spPr>
          <a:xfrm>
            <a:off x="768350" y="1803095"/>
            <a:ext cx="10096500" cy="960776"/>
          </a:xfrm>
          <a:prstGeom prst="rect">
            <a:avLst/>
          </a:prstGeom>
          <a:noFill/>
        </p:spPr>
        <p:txBody>
          <a:bodyPr wrap="square">
            <a:spAutoFit/>
          </a:bodyPr>
          <a:lstStyle/>
          <a:p>
            <a:pPr fontAlgn="base">
              <a:lnSpc>
                <a:spcPct val="150000"/>
              </a:lnSpc>
            </a:pPr>
            <a:r>
              <a:rPr lang="zh-CN" altLang="en-US" sz="2000" dirty="0">
                <a:solidFill>
                  <a:srgbClr val="262626"/>
                </a:solidFill>
                <a:latin typeface="微软雅黑" panose="020B0503020204020204" pitchFamily="34" charset="-122"/>
                <a:ea typeface="微软雅黑" panose="020B0503020204020204" pitchFamily="34" charset="-122"/>
              </a:rPr>
              <a:t>        从</a:t>
            </a:r>
            <a:r>
              <a:rPr lang="en-US" altLang="zh-CN" sz="2000" dirty="0">
                <a:solidFill>
                  <a:srgbClr val="262626"/>
                </a:solidFill>
                <a:latin typeface="微软雅黑" panose="020B0503020204020204" pitchFamily="34" charset="-122"/>
                <a:ea typeface="微软雅黑" panose="020B0503020204020204" pitchFamily="34" charset="-122"/>
              </a:rPr>
              <a:t>Hadoop</a:t>
            </a:r>
            <a:r>
              <a:rPr lang="zh-CN" altLang="en-US" sz="2000" dirty="0">
                <a:solidFill>
                  <a:srgbClr val="262626"/>
                </a:solidFill>
                <a:latin typeface="微软雅黑" panose="020B0503020204020204" pitchFamily="34" charset="-122"/>
                <a:ea typeface="微软雅黑" panose="020B0503020204020204" pitchFamily="34" charset="-122"/>
              </a:rPr>
              <a:t>架构演进到基于对象存储和</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的现代数据湖，本质上是通过</a:t>
            </a:r>
            <a:r>
              <a:rPr lang="zh-CN" altLang="en-US" sz="2000" b="1" dirty="0">
                <a:solidFill>
                  <a:srgbClr val="262626"/>
                </a:solidFill>
                <a:latin typeface="微软雅黑" panose="020B0503020204020204" pitchFamily="34" charset="-122"/>
                <a:ea typeface="微软雅黑" panose="020B0503020204020204" pitchFamily="34" charset="-122"/>
              </a:rPr>
              <a:t>​​解耦存储与计算​​、​​支持多样化数据处理​​以及​​提升灵活性与扩展性</a:t>
            </a:r>
            <a:r>
              <a:rPr lang="zh-CN" altLang="en-US" sz="2000" dirty="0">
                <a:solidFill>
                  <a:srgbClr val="262626"/>
                </a:solidFill>
                <a:latin typeface="微软雅黑" panose="020B0503020204020204" pitchFamily="34" charset="-122"/>
                <a:ea typeface="微软雅黑" panose="020B0503020204020204" pitchFamily="34" charset="-122"/>
              </a:rPr>
              <a:t>​​来实现的</a:t>
            </a:r>
          </a:p>
        </p:txBody>
      </p:sp>
      <p:sp>
        <p:nvSpPr>
          <p:cNvPr id="7" name="文本框 6">
            <a:extLst>
              <a:ext uri="{FF2B5EF4-FFF2-40B4-BE49-F238E27FC236}">
                <a16:creationId xmlns:a16="http://schemas.microsoft.com/office/drawing/2014/main" id="{3C7C37C7-7173-8A49-5871-A9C6D8F6366C}"/>
              </a:ext>
            </a:extLst>
          </p:cNvPr>
          <p:cNvSpPr txBox="1"/>
          <p:nvPr/>
        </p:nvSpPr>
        <p:spPr>
          <a:xfrm>
            <a:off x="819150" y="2915966"/>
            <a:ext cx="11112500" cy="3631763"/>
          </a:xfrm>
          <a:prstGeom prst="rect">
            <a:avLst/>
          </a:prstGeom>
          <a:noFill/>
        </p:spPr>
        <p:txBody>
          <a:bodyPr wrap="square">
            <a:spAutoFit/>
          </a:bodyPr>
          <a:lstStyle/>
          <a:p>
            <a:pPr algn="l" fontAlgn="base">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1. </a:t>
            </a:r>
            <a:r>
              <a:rPr lang="zh-CN" altLang="en-US" sz="2000" b="1" dirty="0">
                <a:solidFill>
                  <a:srgbClr val="262626"/>
                </a:solidFill>
                <a:latin typeface="微软雅黑" panose="020B0503020204020204" pitchFamily="34" charset="-122"/>
                <a:ea typeface="微软雅黑" panose="020B0503020204020204" pitchFamily="34" charset="-122"/>
              </a:rPr>
              <a:t>架构核心转变：从</a:t>
            </a:r>
            <a:r>
              <a:rPr lang="en-US" altLang="zh-CN" sz="2000" b="1" dirty="0">
                <a:solidFill>
                  <a:srgbClr val="262626"/>
                </a:solidFill>
                <a:latin typeface="微软雅黑" panose="020B0503020204020204" pitchFamily="34" charset="-122"/>
                <a:ea typeface="微软雅黑" panose="020B0503020204020204" pitchFamily="34" charset="-122"/>
              </a:rPr>
              <a:t>HDFS</a:t>
            </a:r>
            <a:r>
              <a:rPr lang="zh-CN" altLang="en-US" sz="2000" b="1" dirty="0">
                <a:solidFill>
                  <a:srgbClr val="262626"/>
                </a:solidFill>
                <a:latin typeface="微软雅黑" panose="020B0503020204020204" pitchFamily="34" charset="-122"/>
                <a:ea typeface="微软雅黑" panose="020B0503020204020204" pitchFamily="34" charset="-122"/>
              </a:rPr>
              <a:t>到对象存储​​</a:t>
            </a:r>
          </a:p>
          <a:p>
            <a:pPr algn="l" fontAlgn="base">
              <a:lnSpc>
                <a:spcPct val="150000"/>
              </a:lnSpc>
              <a:spcBef>
                <a:spcPts val="600"/>
              </a:spcBef>
              <a:spcAft>
                <a:spcPts val="3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Hadoop</a:t>
            </a:r>
            <a:r>
              <a:rPr lang="zh-CN" altLang="en-US" sz="2000" dirty="0">
                <a:solidFill>
                  <a:srgbClr val="262626"/>
                </a:solidFill>
                <a:latin typeface="微软雅黑" panose="020B0503020204020204" pitchFamily="34" charset="-122"/>
                <a:ea typeface="微软雅黑" panose="020B0503020204020204" pitchFamily="34" charset="-122"/>
              </a:rPr>
              <a:t>的局限​​：</a:t>
            </a:r>
            <a:endParaRPr lang="en-US" altLang="zh-CN" sz="2000" dirty="0">
              <a:solidFill>
                <a:srgbClr val="262626"/>
              </a:solidFill>
              <a:latin typeface="微软雅黑" panose="020B0503020204020204" pitchFamily="34" charset="-122"/>
              <a:ea typeface="微软雅黑" panose="020B0503020204020204" pitchFamily="34" charset="-122"/>
            </a:endParaRPr>
          </a:p>
          <a:p>
            <a:pPr algn="l" fontAlgn="base">
              <a:lnSpc>
                <a:spcPct val="150000"/>
              </a:lnSpc>
              <a:spcBef>
                <a:spcPts val="600"/>
              </a:spcBef>
              <a:spcAft>
                <a:spcPts val="300"/>
              </a:spcAf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en-US" sz="2000" dirty="0">
                <a:solidFill>
                  <a:srgbClr val="262626"/>
                </a:solidFill>
                <a:latin typeface="微软雅黑" panose="020B0503020204020204" pitchFamily="34" charset="-122"/>
                <a:ea typeface="微软雅黑" panose="020B0503020204020204" pitchFamily="34" charset="-122"/>
              </a:rPr>
              <a:t>存储与计算强绑定，扩展性受限。</a:t>
            </a:r>
          </a:p>
          <a:p>
            <a:pPr lvl="1" algn="l" fontAlgn="base">
              <a:spcBef>
                <a:spcPts val="300"/>
              </a:spcBef>
              <a:spcAft>
                <a:spcPts val="300"/>
              </a:spcAft>
            </a:pPr>
            <a:r>
              <a:rPr lang="en-US" altLang="zh-CN" sz="2000" dirty="0">
                <a:solidFill>
                  <a:srgbClr val="262626"/>
                </a:solidFill>
                <a:latin typeface="微软雅黑" panose="020B0503020204020204" pitchFamily="34" charset="-122"/>
                <a:ea typeface="微软雅黑" panose="020B0503020204020204" pitchFamily="34" charset="-122"/>
              </a:rPr>
              <a:t>  HDFS</a:t>
            </a:r>
            <a:r>
              <a:rPr lang="zh-CN" altLang="en-US" sz="2000" dirty="0">
                <a:solidFill>
                  <a:srgbClr val="262626"/>
                </a:solidFill>
                <a:latin typeface="微软雅黑" panose="020B0503020204020204" pitchFamily="34" charset="-122"/>
                <a:ea typeface="微软雅黑" panose="020B0503020204020204" pitchFamily="34" charset="-122"/>
              </a:rPr>
              <a:t>维护成本高。</a:t>
            </a:r>
          </a:p>
          <a:p>
            <a:pPr algn="l" fontAlgn="base">
              <a:spcBef>
                <a:spcPts val="300"/>
              </a:spcBef>
              <a:spcAft>
                <a:spcPts val="1200"/>
              </a:spcAft>
              <a:buFont typeface="Arial" panose="020B0604020202020204" pitchFamily="34" charset="0"/>
              <a:buChar char="•"/>
            </a:pPr>
            <a:r>
              <a:rPr lang="zh-CN" altLang="en-US" sz="2000" dirty="0">
                <a:solidFill>
                  <a:srgbClr val="262626"/>
                </a:solidFill>
                <a:latin typeface="微软雅黑" panose="020B0503020204020204" pitchFamily="34" charset="-122"/>
                <a:ea typeface="微软雅黑" panose="020B0503020204020204" pitchFamily="34" charset="-122"/>
              </a:rPr>
              <a:t>​​数据湖的基石</a:t>
            </a:r>
            <a:r>
              <a:rPr lang="en-US" altLang="zh-CN" sz="2000" dirty="0">
                <a:solidFill>
                  <a:srgbClr val="262626"/>
                </a:solidFill>
                <a:latin typeface="微软雅黑" panose="020B0503020204020204" pitchFamily="34" charset="-122"/>
                <a:ea typeface="微软雅黑" panose="020B0503020204020204" pitchFamily="34" charset="-122"/>
              </a:rPr>
              <a:t>——</a:t>
            </a:r>
            <a:r>
              <a:rPr lang="zh-CN" altLang="en-US" sz="2000" dirty="0">
                <a:solidFill>
                  <a:srgbClr val="262626"/>
                </a:solidFill>
                <a:latin typeface="微软雅黑" panose="020B0503020204020204" pitchFamily="34" charset="-122"/>
                <a:ea typeface="微软雅黑" panose="020B0503020204020204" pitchFamily="34" charset="-122"/>
              </a:rPr>
              <a:t>对象存储​​：</a:t>
            </a:r>
          </a:p>
          <a:p>
            <a:pPr lvl="1" algn="l"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存储与计算分离​​：将数据迁移到</a:t>
            </a:r>
            <a:r>
              <a:rPr lang="en-US" altLang="zh-CN" sz="2000" dirty="0">
                <a:solidFill>
                  <a:srgbClr val="262626"/>
                </a:solidFill>
                <a:latin typeface="微软雅黑" panose="020B0503020204020204" pitchFamily="34" charset="-122"/>
                <a:ea typeface="微软雅黑" panose="020B0503020204020204" pitchFamily="34" charset="-122"/>
              </a:rPr>
              <a:t>AWS S3</a:t>
            </a:r>
            <a:r>
              <a:rPr lang="zh-CN" altLang="en-US" sz="2000" dirty="0">
                <a:solidFill>
                  <a:srgbClr val="262626"/>
                </a:solidFill>
                <a:latin typeface="微软雅黑" panose="020B0503020204020204" pitchFamily="34" charset="-122"/>
                <a:ea typeface="微软雅黑" panose="020B0503020204020204" pitchFamily="34" charset="-122"/>
              </a:rPr>
              <a:t>、阿里云</a:t>
            </a:r>
            <a:r>
              <a:rPr lang="en-US" altLang="zh-CN" sz="2000" dirty="0">
                <a:solidFill>
                  <a:srgbClr val="262626"/>
                </a:solidFill>
                <a:latin typeface="微软雅黑" panose="020B0503020204020204" pitchFamily="34" charset="-122"/>
                <a:ea typeface="微软雅黑" panose="020B0503020204020204" pitchFamily="34" charset="-122"/>
              </a:rPr>
              <a:t>OSS</a:t>
            </a:r>
            <a:r>
              <a:rPr lang="zh-CN" altLang="en-US" sz="2000" dirty="0">
                <a:solidFill>
                  <a:srgbClr val="262626"/>
                </a:solidFill>
                <a:latin typeface="微软雅黑" panose="020B0503020204020204" pitchFamily="34" charset="-122"/>
                <a:ea typeface="微软雅黑" panose="020B0503020204020204" pitchFamily="34" charset="-122"/>
              </a:rPr>
              <a:t>等对象存储，支持按需扩展存储容量。</a:t>
            </a:r>
          </a:p>
          <a:p>
            <a:pPr lvl="1" algn="l" fontAlgn="base">
              <a:spcBef>
                <a:spcPts val="300"/>
              </a:spcBef>
              <a:spcAft>
                <a:spcPts val="300"/>
              </a:spcAft>
            </a:pPr>
            <a:r>
              <a:rPr lang="zh-CN" altLang="en-US" sz="2000" dirty="0">
                <a:solidFill>
                  <a:srgbClr val="262626"/>
                </a:solidFill>
                <a:latin typeface="微软雅黑" panose="020B0503020204020204" pitchFamily="34" charset="-122"/>
                <a:ea typeface="微软雅黑" panose="020B0503020204020204" pitchFamily="34" charset="-122"/>
              </a:rPr>
              <a:t>  ​​成本优势​​：对象存储单价低于</a:t>
            </a:r>
            <a:r>
              <a:rPr lang="en-US" altLang="zh-CN" sz="2000" dirty="0">
                <a:solidFill>
                  <a:srgbClr val="262626"/>
                </a:solidFill>
                <a:latin typeface="微软雅黑" panose="020B0503020204020204" pitchFamily="34" charset="-122"/>
                <a:ea typeface="微软雅黑" panose="020B0503020204020204" pitchFamily="34" charset="-122"/>
              </a:rPr>
              <a:t>HDFS</a:t>
            </a:r>
            <a:r>
              <a:rPr lang="zh-CN" altLang="en-US" sz="2000" dirty="0">
                <a:solidFill>
                  <a:srgbClr val="262626"/>
                </a:solidFill>
                <a:latin typeface="微软雅黑" panose="020B0503020204020204" pitchFamily="34" charset="-122"/>
                <a:ea typeface="微软雅黑" panose="020B0503020204020204" pitchFamily="34" charset="-122"/>
              </a:rPr>
              <a:t>（无需维护副本），且支持冷热分层。</a:t>
            </a:r>
          </a:p>
          <a:p>
            <a:pPr lvl="1" algn="l" fontAlgn="base">
              <a:spcBef>
                <a:spcPts val="300"/>
              </a:spcBef>
              <a:spcAft>
                <a:spcPts val="1200"/>
              </a:spcAft>
            </a:pPr>
            <a:r>
              <a:rPr lang="zh-CN" altLang="en-US" sz="2000" dirty="0">
                <a:solidFill>
                  <a:srgbClr val="262626"/>
                </a:solidFill>
                <a:latin typeface="微软雅黑" panose="020B0503020204020204" pitchFamily="34" charset="-122"/>
                <a:ea typeface="微软雅黑" panose="020B0503020204020204" pitchFamily="34" charset="-122"/>
              </a:rPr>
              <a:t>  ​​兼容性​​：通过</a:t>
            </a:r>
            <a:r>
              <a:rPr lang="en-US" altLang="zh-CN" sz="2000" dirty="0">
                <a:solidFill>
                  <a:srgbClr val="262626"/>
                </a:solidFill>
                <a:latin typeface="微软雅黑" panose="020B0503020204020204" pitchFamily="34" charset="-122"/>
                <a:ea typeface="微软雅黑" panose="020B0503020204020204" pitchFamily="34" charset="-122"/>
              </a:rPr>
              <a:t>Hadoop</a:t>
            </a:r>
            <a:r>
              <a:rPr lang="zh-CN" altLang="en-US" sz="2000" dirty="0">
                <a:solidFill>
                  <a:srgbClr val="262626"/>
                </a:solidFill>
                <a:latin typeface="微软雅黑" panose="020B0503020204020204" pitchFamily="34" charset="-122"/>
                <a:ea typeface="微软雅黑" panose="020B0503020204020204" pitchFamily="34" charset="-122"/>
              </a:rPr>
              <a:t>兼容接口无缝对接</a:t>
            </a:r>
            <a:r>
              <a:rPr lang="en-US" altLang="zh-CN" sz="2000" dirty="0">
                <a:solidFill>
                  <a:srgbClr val="262626"/>
                </a:solidFill>
                <a:latin typeface="微软雅黑" panose="020B0503020204020204" pitchFamily="34" charset="-122"/>
                <a:ea typeface="微软雅黑" panose="020B0503020204020204" pitchFamily="34" charset="-122"/>
              </a:rPr>
              <a:t>Spark</a:t>
            </a:r>
            <a:r>
              <a:rPr lang="zh-CN" altLang="en-US" sz="2000" dirty="0">
                <a:solidFill>
                  <a:srgbClr val="262626"/>
                </a:solidFill>
                <a:latin typeface="微软雅黑" panose="020B0503020204020204" pitchFamily="34" charset="-122"/>
                <a:ea typeface="微软雅黑" panose="020B0503020204020204" pitchFamily="34" charset="-122"/>
              </a:rPr>
              <a:t>、</a:t>
            </a:r>
            <a:r>
              <a:rPr lang="en-US" altLang="zh-CN" sz="2000" dirty="0">
                <a:solidFill>
                  <a:srgbClr val="262626"/>
                </a:solidFill>
                <a:latin typeface="微软雅黑" panose="020B0503020204020204" pitchFamily="34" charset="-122"/>
                <a:ea typeface="微软雅黑" panose="020B0503020204020204" pitchFamily="34" charset="-122"/>
              </a:rPr>
              <a:t>Hive</a:t>
            </a:r>
            <a:r>
              <a:rPr lang="zh-CN" altLang="en-US" sz="2000" dirty="0">
                <a:solidFill>
                  <a:srgbClr val="262626"/>
                </a:solidFill>
                <a:latin typeface="微软雅黑" panose="020B0503020204020204" pitchFamily="34" charset="-122"/>
                <a:ea typeface="微软雅黑" panose="020B0503020204020204" pitchFamily="34" charset="-122"/>
              </a:rPr>
              <a:t>等工具。</a:t>
            </a:r>
          </a:p>
        </p:txBody>
      </p:sp>
    </p:spTree>
    <p:extLst>
      <p:ext uri="{BB962C8B-B14F-4D97-AF65-F5344CB8AC3E}">
        <p14:creationId xmlns:p14="http://schemas.microsoft.com/office/powerpoint/2010/main" val="2074787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58580390-26C1-D642-CEA3-BD8FF57FD266}"/>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A2D0ECD4-2338-1664-1A62-0F875741055F}"/>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E0A1E6B6-2EA5-607F-C09A-10341D1D2AD0}"/>
              </a:ext>
            </a:extLst>
          </p:cNvPr>
          <p:cNvSpPr/>
          <p:nvPr/>
        </p:nvSpPr>
        <p:spPr>
          <a:xfrm>
            <a:off x="666750" y="674794"/>
            <a:ext cx="10668000" cy="533400"/>
          </a:xfrm>
          <a:prstGeom prst="rect">
            <a:avLst/>
          </a:prstGeom>
          <a:noFill/>
          <a:ln/>
        </p:spPr>
        <p:txBody>
          <a:bodyPr vert="horz" wrap="square" lIns="0" tIns="0" rIns="0" bIns="0" rtlCol="0" anchor="ctr"/>
          <a:lstStyle/>
          <a:p>
            <a:pPr>
              <a:lnSpc>
                <a:spcPts val="4200"/>
              </a:lnSpc>
            </a:pPr>
            <a:r>
              <a:rPr lang="zh-CN" altLang="en-US" sz="3200" b="1" dirty="0">
                <a:solidFill>
                  <a:srgbClr val="000000"/>
                </a:solidFill>
                <a:latin typeface="Microsoft YaHei" pitchFamily="34" charset="0"/>
                <a:ea typeface="Microsoft YaHei" pitchFamily="34" charset="-122"/>
              </a:rPr>
              <a:t>从</a:t>
            </a:r>
            <a:r>
              <a:rPr lang="en-US" altLang="zh-CN" sz="3200" b="1" dirty="0">
                <a:solidFill>
                  <a:srgbClr val="000000"/>
                </a:solidFill>
                <a:latin typeface="Microsoft YaHei" pitchFamily="34" charset="0"/>
                <a:ea typeface="Microsoft YaHei" pitchFamily="34" charset="-122"/>
              </a:rPr>
              <a:t>Hadoop</a:t>
            </a:r>
            <a:r>
              <a:rPr lang="zh-CN" altLang="en-US" sz="3200" b="1" dirty="0">
                <a:solidFill>
                  <a:srgbClr val="000000"/>
                </a:solidFill>
                <a:latin typeface="Microsoft YaHei" pitchFamily="34" charset="0"/>
                <a:ea typeface="Microsoft YaHei" pitchFamily="34" charset="-122"/>
              </a:rPr>
              <a:t>架构到数据湖体系</a:t>
            </a:r>
            <a:endParaRPr lang="en-US" sz="3200" b="1" dirty="0">
              <a:solidFill>
                <a:srgbClr val="000000"/>
              </a:solidFill>
              <a:latin typeface="Microsoft YaHei" pitchFamily="34" charset="0"/>
              <a:ea typeface="Microsoft YaHei" pitchFamily="34" charset="-122"/>
            </a:endParaRPr>
          </a:p>
        </p:txBody>
      </p:sp>
      <p:sp>
        <p:nvSpPr>
          <p:cNvPr id="7" name="文本框 6">
            <a:extLst>
              <a:ext uri="{FF2B5EF4-FFF2-40B4-BE49-F238E27FC236}">
                <a16:creationId xmlns:a16="http://schemas.microsoft.com/office/drawing/2014/main" id="{F13E390D-DFF0-C3CA-80BD-2982849BE658}"/>
              </a:ext>
            </a:extLst>
          </p:cNvPr>
          <p:cNvSpPr txBox="1"/>
          <p:nvPr/>
        </p:nvSpPr>
        <p:spPr>
          <a:xfrm>
            <a:off x="666750" y="2217466"/>
            <a:ext cx="11112500" cy="4216539"/>
          </a:xfrm>
          <a:prstGeom prst="rect">
            <a:avLst/>
          </a:prstGeom>
          <a:noFill/>
        </p:spPr>
        <p:txBody>
          <a:bodyPr wrap="square">
            <a:spAutoFit/>
          </a:bodyPr>
          <a:lstStyle/>
          <a:p>
            <a:pPr marL="0" marR="0" lvl="0" indent="0" fontAlgn="base">
              <a:lnSpc>
                <a:spcPct val="100000"/>
              </a:lnSpc>
              <a:spcBef>
                <a:spcPct val="0"/>
              </a:spcBef>
              <a:spcAft>
                <a:spcPct val="0"/>
              </a:spcAft>
              <a:buClrTx/>
              <a:buSzTx/>
              <a:buFontTx/>
              <a:buNone/>
              <a:tabLst/>
            </a:pPr>
            <a:r>
              <a:rPr lang="zh-CN" altLang="zh-CN" sz="2000" b="1" dirty="0">
                <a:solidFill>
                  <a:srgbClr val="262626"/>
                </a:solidFill>
                <a:latin typeface="微软雅黑" panose="020B0503020204020204" pitchFamily="34" charset="-122"/>
                <a:ea typeface="微软雅黑" panose="020B0503020204020204" pitchFamily="34" charset="-122"/>
              </a:rPr>
              <a:t>​​2. 计算引擎升级：从MapReduce到Spark​​</a:t>
            </a:r>
            <a:endParaRPr lang="en-US" altLang="zh-CN" sz="2000" b="1" dirty="0">
              <a:solidFill>
                <a:srgbClr val="262626"/>
              </a:solidFill>
              <a:latin typeface="微软雅黑" panose="020B0503020204020204" pitchFamily="34" charset="-122"/>
              <a:ea typeface="微软雅黑" panose="020B0503020204020204" pitchFamily="34" charset="-122"/>
            </a:endParaRPr>
          </a:p>
          <a:p>
            <a:pPr marL="0" marR="0" lvl="0" indent="0" fontAlgn="base">
              <a:lnSpc>
                <a:spcPct val="100000"/>
              </a:lnSpc>
              <a:spcBef>
                <a:spcPct val="0"/>
              </a:spcBef>
              <a:spcAft>
                <a:spcPct val="0"/>
              </a:spcAft>
              <a:buClrTx/>
              <a:buSzTx/>
              <a:buFontTx/>
              <a:buNone/>
              <a:tabLst/>
            </a:pPr>
            <a:endParaRPr lang="zh-CN" altLang="zh-CN" sz="2000" b="1" dirty="0">
              <a:solidFill>
                <a:srgbClr val="262626"/>
              </a:solidFill>
              <a:latin typeface="微软雅黑" panose="020B0503020204020204" pitchFamily="34" charset="-122"/>
              <a:ea typeface="微软雅黑" panose="020B0503020204020204" pitchFamily="34" charset="-122"/>
            </a:endParaRPr>
          </a:p>
          <a:p>
            <a:pPr marL="0" marR="0" lvl="0" indent="0" fontAlgn="base">
              <a:lnSpc>
                <a:spcPct val="150000"/>
              </a:lnSpc>
              <a:spcBef>
                <a:spcPct val="0"/>
              </a:spcBef>
              <a:spcAft>
                <a:spcPct val="0"/>
              </a:spcAft>
              <a:buClrTx/>
              <a:buSzTx/>
              <a:buFontTx/>
              <a:buChar char="•"/>
              <a:tabLst/>
            </a:pPr>
            <a:r>
              <a:rPr lang="zh-CN" altLang="zh-CN" sz="2000" dirty="0">
                <a:solidFill>
                  <a:srgbClr val="262626"/>
                </a:solidFill>
                <a:latin typeface="微软雅黑" panose="020B0503020204020204" pitchFamily="34" charset="-122"/>
                <a:ea typeface="微软雅黑" panose="020B0503020204020204" pitchFamily="34" charset="-122"/>
              </a:rPr>
              <a:t>​​Hadoop计算瓶颈​​：</a:t>
            </a:r>
          </a:p>
          <a:p>
            <a:pPr marL="457200" marR="0" lvl="1" indent="0" fontAlgn="base">
              <a:lnSpc>
                <a:spcPct val="150000"/>
              </a:lnSpc>
              <a:spcBef>
                <a:spcPct val="0"/>
              </a:spcBef>
              <a:spcAft>
                <a:spcPct val="0"/>
              </a:spcAft>
              <a:buClrTx/>
              <a:buSzTx/>
              <a:tabLs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MapReduce仅适合离线批处理，迭代计算效率低，无法支持实时分析。</a:t>
            </a:r>
          </a:p>
          <a:p>
            <a:pPr marL="0" marR="0" lvl="0" indent="0" fontAlgn="base">
              <a:lnSpc>
                <a:spcPct val="150000"/>
              </a:lnSpc>
              <a:spcBef>
                <a:spcPct val="0"/>
              </a:spcBef>
              <a:spcAft>
                <a:spcPct val="0"/>
              </a:spcAft>
              <a:buClrTx/>
              <a:buSzTx/>
              <a:buFontTx/>
              <a:buChar char="•"/>
              <a:tabLst/>
            </a:pPr>
            <a:r>
              <a:rPr lang="zh-CN" altLang="zh-CN" sz="2000" dirty="0">
                <a:solidFill>
                  <a:srgbClr val="262626"/>
                </a:solidFill>
                <a:latin typeface="微软雅黑" panose="020B0503020204020204" pitchFamily="34" charset="-122"/>
                <a:ea typeface="微软雅黑" panose="020B0503020204020204" pitchFamily="34" charset="-122"/>
              </a:rPr>
              <a:t>​​Spark的全面替代​​：</a:t>
            </a:r>
            <a:endParaRPr lang="en-US" altLang="zh-CN" sz="2000" dirty="0">
              <a:solidFill>
                <a:srgbClr val="262626"/>
              </a:solidFill>
              <a:latin typeface="微软雅黑" panose="020B0503020204020204" pitchFamily="34" charset="-122"/>
              <a:ea typeface="微软雅黑" panose="020B0503020204020204" pitchFamily="34" charset="-122"/>
            </a:endParaRPr>
          </a:p>
          <a:p>
            <a:pPr marL="0" marR="0" lvl="0" indent="0" fontAlgn="base">
              <a:lnSpc>
                <a:spcPct val="150000"/>
              </a:lnSpc>
              <a:spcBef>
                <a:spcPct val="0"/>
              </a:spcBef>
              <a:spcAft>
                <a:spcPct val="0"/>
              </a:spcAft>
              <a:buClrTx/>
              <a:buSzTx/>
              <a:tabLs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统一计算引擎​​：用Spark替代MapReduce，支持批处理、流处理（Structured Streaming）、交互式查询（Spark SQL）、机器学习（MLlib）等场景。</a:t>
            </a:r>
          </a:p>
          <a:p>
            <a:pPr marL="457200" marR="0" lvl="1" indent="0" fontAlgn="base">
              <a:lnSpc>
                <a:spcPct val="150000"/>
              </a:lnSpc>
              <a:spcBef>
                <a:spcPct val="0"/>
              </a:spcBef>
              <a:spcAft>
                <a:spcPct val="0"/>
              </a:spcAft>
              <a:buClrTx/>
              <a:buSzTx/>
              <a:tabLs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​​内存加速​​：通过内存计算减少I/O，提升迭代算法（如机器学习模型训练）效率。</a:t>
            </a:r>
          </a:p>
          <a:p>
            <a:pPr marL="457200" marR="0" lvl="1" indent="0" fontAlgn="base">
              <a:lnSpc>
                <a:spcPct val="150000"/>
              </a:lnSpc>
              <a:spcBef>
                <a:spcPct val="0"/>
              </a:spcBef>
              <a:spcAft>
                <a:spcPct val="0"/>
              </a:spcAft>
              <a:buClrTx/>
              <a:buSzTx/>
              <a:tabLst/>
            </a:pPr>
            <a:r>
              <a:rPr lang="en-US" altLang="zh-CN" sz="2000" dirty="0">
                <a:solidFill>
                  <a:srgbClr val="262626"/>
                </a:solidFill>
                <a:latin typeface="微软雅黑" panose="020B0503020204020204" pitchFamily="34" charset="-122"/>
                <a:ea typeface="微软雅黑" panose="020B0503020204020204" pitchFamily="34" charset="-122"/>
              </a:rPr>
              <a:t> </a:t>
            </a:r>
            <a:r>
              <a:rPr lang="zh-CN" altLang="zh-CN" sz="2000" dirty="0">
                <a:solidFill>
                  <a:srgbClr val="262626"/>
                </a:solidFill>
                <a:latin typeface="微软雅黑" panose="020B0503020204020204" pitchFamily="34" charset="-122"/>
                <a:ea typeface="微软雅黑" panose="020B0503020204020204" pitchFamily="34" charset="-122"/>
              </a:rPr>
              <a:t>​​优化小文件处理​​：利用Spark的并行读取能力，缓解对象存储中大量小文件的性能问题。</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7254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25314-ABA6-8926-69AA-D9D5F90322BE}"/>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F528935D-B94C-10B5-C068-FE8BD6977420}"/>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6B85092A-E13A-CCA6-3DC2-0268ECD32A23}"/>
              </a:ext>
            </a:extLst>
          </p:cNvPr>
          <p:cNvSpPr/>
          <p:nvPr/>
        </p:nvSpPr>
        <p:spPr>
          <a:xfrm>
            <a:off x="666750" y="674794"/>
            <a:ext cx="10668000" cy="533400"/>
          </a:xfrm>
          <a:prstGeom prst="rect">
            <a:avLst/>
          </a:prstGeom>
          <a:noFill/>
          <a:ln/>
        </p:spPr>
        <p:txBody>
          <a:bodyPr vert="horz" wrap="square" lIns="0" tIns="0" rIns="0" bIns="0" rtlCol="0" anchor="ctr"/>
          <a:lstStyle/>
          <a:p>
            <a:pPr>
              <a:lnSpc>
                <a:spcPts val="4200"/>
              </a:lnSpc>
            </a:pPr>
            <a:r>
              <a:rPr lang="zh-CN" altLang="en-US" sz="3200" b="1" dirty="0">
                <a:solidFill>
                  <a:srgbClr val="000000"/>
                </a:solidFill>
                <a:latin typeface="Microsoft YaHei" pitchFamily="34" charset="0"/>
                <a:ea typeface="Microsoft YaHei" pitchFamily="34" charset="-122"/>
              </a:rPr>
              <a:t>从</a:t>
            </a:r>
            <a:r>
              <a:rPr lang="en-US" altLang="zh-CN" sz="3200" b="1" dirty="0">
                <a:solidFill>
                  <a:srgbClr val="000000"/>
                </a:solidFill>
                <a:latin typeface="Microsoft YaHei" pitchFamily="34" charset="0"/>
                <a:ea typeface="Microsoft YaHei" pitchFamily="34" charset="-122"/>
              </a:rPr>
              <a:t>Hadoop</a:t>
            </a:r>
            <a:r>
              <a:rPr lang="zh-CN" altLang="en-US" sz="3200" b="1" dirty="0">
                <a:solidFill>
                  <a:srgbClr val="000000"/>
                </a:solidFill>
                <a:latin typeface="Microsoft YaHei" pitchFamily="34" charset="0"/>
                <a:ea typeface="Microsoft YaHei" pitchFamily="34" charset="-122"/>
              </a:rPr>
              <a:t>架构到数据湖体系</a:t>
            </a:r>
            <a:endParaRPr lang="en-US" sz="3200" b="1" dirty="0">
              <a:solidFill>
                <a:srgbClr val="000000"/>
              </a:solidFill>
              <a:latin typeface="Microsoft YaHei" pitchFamily="34" charset="0"/>
              <a:ea typeface="Microsoft YaHei" pitchFamily="34" charset="-122"/>
            </a:endParaRPr>
          </a:p>
        </p:txBody>
      </p:sp>
      <p:sp>
        <p:nvSpPr>
          <p:cNvPr id="7" name="文本框 6">
            <a:extLst>
              <a:ext uri="{FF2B5EF4-FFF2-40B4-BE49-F238E27FC236}">
                <a16:creationId xmlns:a16="http://schemas.microsoft.com/office/drawing/2014/main" id="{BFB06478-77DD-948D-D453-5B58F6DB97D5}"/>
              </a:ext>
            </a:extLst>
          </p:cNvPr>
          <p:cNvSpPr txBox="1"/>
          <p:nvPr/>
        </p:nvSpPr>
        <p:spPr>
          <a:xfrm>
            <a:off x="584200" y="1651000"/>
            <a:ext cx="11207750" cy="2090124"/>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3. </a:t>
            </a:r>
            <a:r>
              <a:rPr lang="zh-CN" altLang="en-US" sz="2000" b="1" dirty="0">
                <a:solidFill>
                  <a:srgbClr val="262626"/>
                </a:solidFill>
                <a:latin typeface="微软雅黑" panose="020B0503020204020204" pitchFamily="34" charset="-122"/>
                <a:ea typeface="微软雅黑" panose="020B0503020204020204" pitchFamily="34" charset="-122"/>
              </a:rPr>
              <a:t>元数据管理：从</a:t>
            </a:r>
            <a:r>
              <a:rPr lang="en-US" altLang="zh-CN" sz="2000" b="1" dirty="0">
                <a:solidFill>
                  <a:srgbClr val="262626"/>
                </a:solidFill>
                <a:latin typeface="微软雅黑" panose="020B0503020204020204" pitchFamily="34" charset="-122"/>
                <a:ea typeface="微软雅黑" panose="020B0503020204020204" pitchFamily="34" charset="-122"/>
              </a:rPr>
              <a:t>Hive </a:t>
            </a:r>
            <a:r>
              <a:rPr lang="en-US" altLang="zh-CN" sz="2000" b="1" dirty="0" err="1">
                <a:solidFill>
                  <a:srgbClr val="262626"/>
                </a:solidFill>
                <a:latin typeface="微软雅黑" panose="020B0503020204020204" pitchFamily="34" charset="-122"/>
                <a:ea typeface="微软雅黑" panose="020B0503020204020204" pitchFamily="34" charset="-122"/>
              </a:rPr>
              <a:t>Metastore</a:t>
            </a:r>
            <a:r>
              <a:rPr lang="zh-CN" altLang="en-US" sz="2000" b="1" dirty="0">
                <a:solidFill>
                  <a:srgbClr val="262626"/>
                </a:solidFill>
                <a:latin typeface="微软雅黑" panose="020B0503020204020204" pitchFamily="34" charset="-122"/>
                <a:ea typeface="微软雅黑" panose="020B0503020204020204" pitchFamily="34" charset="-122"/>
              </a:rPr>
              <a:t>到统一元数据层​​</a:t>
            </a:r>
          </a:p>
          <a:p>
            <a:pPr fontAlgn="base">
              <a:lnSpc>
                <a:spcPct val="150000"/>
              </a:lnSpc>
              <a:spcBef>
                <a:spcPct val="0"/>
              </a:spcBef>
              <a:spcAft>
                <a:spcPct val="0"/>
              </a:spcAft>
              <a:buFont typeface="Arial" panose="020B0604020202020204" pitchFamily="34" charset="0"/>
              <a:buChar char="•"/>
            </a:pPr>
            <a:r>
              <a:rPr lang="zh-CN" altLang="en-US" b="0" i="0" dirty="0">
                <a:effectLst/>
                <a:latin typeface="PingFang SC"/>
              </a:rPr>
              <a:t>​</a:t>
            </a:r>
            <a:r>
              <a:rPr lang="zh-CN" altLang="en-US" b="1" i="0" dirty="0">
                <a:effectLst/>
                <a:latin typeface="inherit"/>
              </a:rPr>
              <a:t>​     </a:t>
            </a:r>
            <a:r>
              <a:rPr lang="zh-CN" altLang="en-US" dirty="0">
                <a:solidFill>
                  <a:srgbClr val="262626"/>
                </a:solidFill>
                <a:latin typeface="微软雅黑" panose="020B0503020204020204" pitchFamily="34" charset="-122"/>
                <a:ea typeface="微软雅黑" panose="020B0503020204020204" pitchFamily="34" charset="-122"/>
              </a:rPr>
              <a:t>传统</a:t>
            </a:r>
            <a:r>
              <a:rPr lang="en-US" altLang="zh-CN" dirty="0">
                <a:solidFill>
                  <a:srgbClr val="262626"/>
                </a:solidFill>
                <a:latin typeface="微软雅黑" panose="020B0503020204020204" pitchFamily="34" charset="-122"/>
                <a:ea typeface="微软雅黑" panose="020B0503020204020204" pitchFamily="34" charset="-122"/>
              </a:rPr>
              <a:t>Hadoop</a:t>
            </a:r>
            <a:r>
              <a:rPr lang="zh-CN" altLang="en-US" dirty="0">
                <a:solidFill>
                  <a:srgbClr val="262626"/>
                </a:solidFill>
                <a:latin typeface="微软雅黑" panose="020B0503020204020204" pitchFamily="34" charset="-122"/>
                <a:ea typeface="微软雅黑" panose="020B0503020204020204" pitchFamily="34" charset="-122"/>
              </a:rPr>
              <a:t>的元数据管理​​：</a:t>
            </a:r>
            <a:endParaRPr lang="en-US" altLang="zh-CN" dirty="0">
              <a:solidFill>
                <a:srgbClr val="262626"/>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        </a:t>
            </a:r>
            <a:r>
              <a:rPr lang="zh-CN" altLang="en-US" dirty="0">
                <a:solidFill>
                  <a:srgbClr val="262626"/>
                </a:solidFill>
                <a:latin typeface="微软雅黑" panose="020B0503020204020204" pitchFamily="34" charset="-122"/>
                <a:ea typeface="微软雅黑" panose="020B0503020204020204" pitchFamily="34" charset="-122"/>
              </a:rPr>
              <a:t>依赖</a:t>
            </a:r>
            <a:r>
              <a:rPr lang="en-US" altLang="zh-CN" dirty="0">
                <a:solidFill>
                  <a:srgbClr val="262626"/>
                </a:solidFill>
                <a:latin typeface="微软雅黑" panose="020B0503020204020204" pitchFamily="34" charset="-122"/>
                <a:ea typeface="微软雅黑" panose="020B0503020204020204" pitchFamily="34" charset="-122"/>
              </a:rPr>
              <a:t>Hive </a:t>
            </a:r>
            <a:r>
              <a:rPr lang="en-US" altLang="zh-CN" dirty="0" err="1">
                <a:solidFill>
                  <a:srgbClr val="262626"/>
                </a:solidFill>
                <a:latin typeface="微软雅黑" panose="020B0503020204020204" pitchFamily="34" charset="-122"/>
                <a:ea typeface="微软雅黑" panose="020B0503020204020204" pitchFamily="34" charset="-122"/>
              </a:rPr>
              <a:t>Metastore</a:t>
            </a:r>
            <a:r>
              <a:rPr lang="zh-CN" altLang="en-US" dirty="0">
                <a:solidFill>
                  <a:srgbClr val="262626"/>
                </a:solidFill>
                <a:latin typeface="微软雅黑" panose="020B0503020204020204" pitchFamily="34" charset="-122"/>
                <a:ea typeface="微软雅黑" panose="020B0503020204020204" pitchFamily="34" charset="-122"/>
              </a:rPr>
              <a:t>管理表结构，但缺乏对非结构化数据的支持。</a:t>
            </a:r>
          </a:p>
          <a:p>
            <a:pPr fontAlgn="base">
              <a:lnSpc>
                <a:spcPct val="150000"/>
              </a:lnSpc>
              <a:spcBef>
                <a:spcPct val="0"/>
              </a:spcBef>
              <a:spcAft>
                <a:spcPct val="0"/>
              </a:spcAft>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rPr>
              <a:t>​​   数据湖的元数据扩展​​：</a:t>
            </a:r>
            <a:endParaRPr lang="en-US" altLang="zh-CN" dirty="0">
              <a:solidFill>
                <a:srgbClr val="262626"/>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        </a:t>
            </a:r>
            <a:r>
              <a:rPr lang="zh-CN" altLang="en-US" dirty="0">
                <a:solidFill>
                  <a:srgbClr val="262626"/>
                </a:solidFill>
                <a:latin typeface="微软雅黑" panose="020B0503020204020204" pitchFamily="34" charset="-122"/>
                <a:ea typeface="微软雅黑" panose="020B0503020204020204" pitchFamily="34" charset="-122"/>
              </a:rPr>
              <a:t>统一元数据服务，支持各种数据，通过</a:t>
            </a:r>
            <a:r>
              <a:rPr lang="en-US" altLang="zh-CN" dirty="0">
                <a:solidFill>
                  <a:srgbClr val="262626"/>
                </a:solidFill>
                <a:latin typeface="微软雅黑" panose="020B0503020204020204" pitchFamily="34" charset="-122"/>
                <a:ea typeface="微软雅黑" panose="020B0503020204020204" pitchFamily="34" charset="-122"/>
              </a:rPr>
              <a:t>Iceberg</a:t>
            </a:r>
            <a:r>
              <a:rPr lang="zh-CN" altLang="en-US" dirty="0">
                <a:solidFill>
                  <a:srgbClr val="262626"/>
                </a:solidFill>
                <a:latin typeface="微软雅黑" panose="020B0503020204020204" pitchFamily="34" charset="-122"/>
                <a:ea typeface="微软雅黑" panose="020B0503020204020204" pitchFamily="34" charset="-122"/>
              </a:rPr>
              <a:t>等实现</a:t>
            </a:r>
            <a:r>
              <a:rPr lang="en-US" altLang="zh-CN" dirty="0">
                <a:solidFill>
                  <a:srgbClr val="262626"/>
                </a:solidFill>
                <a:latin typeface="微软雅黑" panose="020B0503020204020204" pitchFamily="34" charset="-122"/>
                <a:ea typeface="微软雅黑" panose="020B0503020204020204" pitchFamily="34" charset="-122"/>
              </a:rPr>
              <a:t>ACID</a:t>
            </a:r>
            <a:r>
              <a:rPr lang="zh-CN" altLang="en-US" dirty="0">
                <a:solidFill>
                  <a:srgbClr val="262626"/>
                </a:solidFill>
                <a:latin typeface="微软雅黑" panose="020B0503020204020204" pitchFamily="34" charset="-122"/>
                <a:ea typeface="微软雅黑" panose="020B0503020204020204" pitchFamily="34" charset="-122"/>
              </a:rPr>
              <a:t>事务和版本控制，避免数据冲突。</a:t>
            </a:r>
          </a:p>
        </p:txBody>
      </p:sp>
      <p:sp>
        <p:nvSpPr>
          <p:cNvPr id="5" name="文本框 4">
            <a:extLst>
              <a:ext uri="{FF2B5EF4-FFF2-40B4-BE49-F238E27FC236}">
                <a16:creationId xmlns:a16="http://schemas.microsoft.com/office/drawing/2014/main" id="{E408A26F-D1D6-0D44-414F-C1F5B61F9128}"/>
              </a:ext>
            </a:extLst>
          </p:cNvPr>
          <p:cNvSpPr txBox="1"/>
          <p:nvPr/>
        </p:nvSpPr>
        <p:spPr>
          <a:xfrm>
            <a:off x="584200" y="3883780"/>
            <a:ext cx="11207750" cy="2505173"/>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4. </a:t>
            </a:r>
            <a:r>
              <a:rPr lang="zh-CN" altLang="en-US" sz="2000" b="1" dirty="0">
                <a:solidFill>
                  <a:srgbClr val="262626"/>
                </a:solidFill>
                <a:latin typeface="微软雅黑" panose="020B0503020204020204" pitchFamily="34" charset="-122"/>
                <a:ea typeface="微软雅黑" panose="020B0503020204020204" pitchFamily="34" charset="-122"/>
              </a:rPr>
              <a:t>数据处理模式：从</a:t>
            </a:r>
            <a:r>
              <a:rPr lang="en-US" altLang="zh-CN" sz="2000" b="1" dirty="0">
                <a:solidFill>
                  <a:srgbClr val="262626"/>
                </a:solidFill>
                <a:latin typeface="微软雅黑" panose="020B0503020204020204" pitchFamily="34" charset="-122"/>
                <a:ea typeface="微软雅黑" panose="020B0503020204020204" pitchFamily="34" charset="-122"/>
              </a:rPr>
              <a:t>ETL</a:t>
            </a:r>
            <a:r>
              <a:rPr lang="zh-CN" altLang="en-US" sz="2000" b="1" dirty="0">
                <a:solidFill>
                  <a:srgbClr val="262626"/>
                </a:solidFill>
                <a:latin typeface="微软雅黑" panose="020B0503020204020204" pitchFamily="34" charset="-122"/>
                <a:ea typeface="微软雅黑" panose="020B0503020204020204" pitchFamily="34" charset="-122"/>
              </a:rPr>
              <a:t>到</a:t>
            </a:r>
            <a:r>
              <a:rPr lang="en-US" altLang="zh-CN" sz="2000" b="1" dirty="0">
                <a:solidFill>
                  <a:srgbClr val="262626"/>
                </a:solidFill>
                <a:latin typeface="微软雅黑" panose="020B0503020204020204" pitchFamily="34" charset="-122"/>
                <a:ea typeface="微软雅黑" panose="020B0503020204020204" pitchFamily="34" charset="-122"/>
              </a:rPr>
              <a:t>ELT​​</a:t>
            </a:r>
          </a:p>
          <a:p>
            <a:pPr fontAlgn="base">
              <a:lnSpc>
                <a:spcPct val="150000"/>
              </a:lnSpc>
              <a:spcBef>
                <a:spcPct val="0"/>
              </a:spcBef>
              <a:spcAft>
                <a:spcPct val="0"/>
              </a:spcAft>
              <a:buFont typeface="Arial" panose="020B0604020202020204" pitchFamily="34" charset="0"/>
              <a:buChar char="•"/>
            </a:pPr>
            <a:r>
              <a:rPr lang="en-US" altLang="zh-CN" b="0" i="0" dirty="0">
                <a:effectLst/>
                <a:latin typeface="PingFang SC"/>
              </a:rPr>
              <a:t>​</a:t>
            </a:r>
            <a:r>
              <a:rPr lang="en-US" altLang="zh-CN" b="1" i="0" dirty="0">
                <a:effectLst/>
                <a:latin typeface="inherit"/>
              </a:rPr>
              <a:t>​      </a:t>
            </a:r>
            <a:r>
              <a:rPr lang="en-US" altLang="zh-CN" dirty="0">
                <a:solidFill>
                  <a:srgbClr val="262626"/>
                </a:solidFill>
                <a:latin typeface="微软雅黑" panose="020B0503020204020204" pitchFamily="34" charset="-122"/>
                <a:ea typeface="微软雅黑" panose="020B0503020204020204" pitchFamily="34" charset="-122"/>
              </a:rPr>
              <a:t>Hadoop</a:t>
            </a:r>
            <a:r>
              <a:rPr lang="zh-CN" altLang="en-US" dirty="0">
                <a:solidFill>
                  <a:srgbClr val="262626"/>
                </a:solidFill>
                <a:latin typeface="微软雅黑" panose="020B0503020204020204" pitchFamily="34" charset="-122"/>
                <a:ea typeface="微软雅黑" panose="020B0503020204020204" pitchFamily="34" charset="-122"/>
              </a:rPr>
              <a:t>的</a:t>
            </a:r>
            <a:r>
              <a:rPr lang="en-US" altLang="zh-CN" dirty="0">
                <a:solidFill>
                  <a:srgbClr val="262626"/>
                </a:solidFill>
                <a:latin typeface="微软雅黑" panose="020B0503020204020204" pitchFamily="34" charset="-122"/>
                <a:ea typeface="微软雅黑" panose="020B0503020204020204" pitchFamily="34" charset="-122"/>
              </a:rPr>
              <a:t>ETL</a:t>
            </a:r>
            <a:r>
              <a:rPr lang="zh-CN" altLang="en-US" dirty="0">
                <a:solidFill>
                  <a:srgbClr val="262626"/>
                </a:solidFill>
                <a:latin typeface="微软雅黑" panose="020B0503020204020204" pitchFamily="34" charset="-122"/>
                <a:ea typeface="微软雅黑" panose="020B0503020204020204" pitchFamily="34" charset="-122"/>
              </a:rPr>
              <a:t>模式​​：数据需预先结构化（</a:t>
            </a:r>
            <a:r>
              <a:rPr lang="en-US" altLang="zh-CN" dirty="0">
                <a:solidFill>
                  <a:srgbClr val="262626"/>
                </a:solidFill>
                <a:latin typeface="微软雅黑" panose="020B0503020204020204" pitchFamily="34" charset="-122"/>
                <a:ea typeface="微软雅黑" panose="020B0503020204020204" pitchFamily="34" charset="-122"/>
              </a:rPr>
              <a:t>Schema-on-Write</a:t>
            </a:r>
            <a:r>
              <a:rPr lang="zh-CN" altLang="en-US" dirty="0">
                <a:solidFill>
                  <a:srgbClr val="262626"/>
                </a:solidFill>
                <a:latin typeface="微软雅黑" panose="020B0503020204020204" pitchFamily="34" charset="-122"/>
                <a:ea typeface="微软雅黑" panose="020B0503020204020204" pitchFamily="34" charset="-122"/>
              </a:rPr>
              <a:t>），灵活性差。</a:t>
            </a:r>
          </a:p>
          <a:p>
            <a:pPr fontAlgn="base">
              <a:lnSpc>
                <a:spcPct val="150000"/>
              </a:lnSpc>
              <a:spcBef>
                <a:spcPct val="0"/>
              </a:spcBef>
              <a:spcAft>
                <a:spcPct val="0"/>
              </a:spcAft>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rPr>
              <a:t>​    数据湖的</a:t>
            </a:r>
            <a:r>
              <a:rPr lang="en-US" altLang="zh-CN" dirty="0">
                <a:solidFill>
                  <a:srgbClr val="262626"/>
                </a:solidFill>
                <a:latin typeface="微软雅黑" panose="020B0503020204020204" pitchFamily="34" charset="-122"/>
                <a:ea typeface="微软雅黑" panose="020B0503020204020204" pitchFamily="34" charset="-122"/>
              </a:rPr>
              <a:t>ELT</a:t>
            </a:r>
            <a:r>
              <a:rPr lang="zh-CN" altLang="en-US" dirty="0">
                <a:solidFill>
                  <a:srgbClr val="262626"/>
                </a:solidFill>
                <a:latin typeface="微软雅黑" panose="020B0503020204020204" pitchFamily="34" charset="-122"/>
                <a:ea typeface="微软雅黑" panose="020B0503020204020204" pitchFamily="34" charset="-122"/>
              </a:rPr>
              <a:t>模式​​：​</a:t>
            </a:r>
            <a:r>
              <a:rPr lang="en-US" altLang="zh-CN" dirty="0">
                <a:solidFill>
                  <a:srgbClr val="262626"/>
                </a:solidFill>
                <a:latin typeface="微软雅黑" panose="020B0503020204020204" pitchFamily="34" charset="-122"/>
                <a:ea typeface="微软雅黑" panose="020B0503020204020204" pitchFamily="34" charset="-122"/>
              </a:rPr>
              <a:t>Schema-on-Read​​</a:t>
            </a:r>
            <a:r>
              <a:rPr lang="zh-CN" altLang="en-US" dirty="0">
                <a:solidFill>
                  <a:srgbClr val="262626"/>
                </a:solidFill>
                <a:latin typeface="微软雅黑" panose="020B0503020204020204" pitchFamily="34" charset="-122"/>
                <a:ea typeface="微软雅黑" panose="020B0503020204020204" pitchFamily="34" charset="-122"/>
              </a:rPr>
              <a:t>：原始数据直接入湖，按需转换（如</a:t>
            </a:r>
            <a:r>
              <a:rPr lang="en-US" altLang="zh-CN" dirty="0">
                <a:solidFill>
                  <a:srgbClr val="262626"/>
                </a:solidFill>
                <a:latin typeface="微软雅黑" panose="020B0503020204020204" pitchFamily="34" charset="-122"/>
                <a:ea typeface="微软雅黑" panose="020B0503020204020204" pitchFamily="34" charset="-122"/>
              </a:rPr>
              <a:t>Spark SQL</a:t>
            </a:r>
            <a:r>
              <a:rPr lang="zh-CN" altLang="en-US" dirty="0">
                <a:solidFill>
                  <a:srgbClr val="262626"/>
                </a:solidFill>
                <a:latin typeface="微软雅黑" panose="020B0503020204020204" pitchFamily="34" charset="-122"/>
                <a:ea typeface="微软雅黑" panose="020B0503020204020204" pitchFamily="34" charset="-122"/>
              </a:rPr>
              <a:t>动态解析</a:t>
            </a:r>
            <a:r>
              <a:rPr lang="en-US" altLang="zh-CN" dirty="0">
                <a:solidFill>
                  <a:srgbClr val="262626"/>
                </a:solidFill>
                <a:latin typeface="微软雅黑" panose="020B0503020204020204" pitchFamily="34" charset="-122"/>
                <a:ea typeface="微软雅黑" panose="020B0503020204020204" pitchFamily="34" charset="-122"/>
              </a:rPr>
              <a:t>JSON</a:t>
            </a:r>
            <a:r>
              <a:rPr lang="zh-CN" altLang="en-US" dirty="0">
                <a:solidFill>
                  <a:srgbClr val="262626"/>
                </a:solidFill>
                <a:latin typeface="微软雅黑" panose="020B0503020204020204" pitchFamily="34" charset="-122"/>
                <a:ea typeface="微软雅黑" panose="020B0503020204020204" pitchFamily="34" charset="-122"/>
              </a:rPr>
              <a:t>）。</a:t>
            </a:r>
          </a:p>
          <a:p>
            <a:pPr marL="342900" lvl="1" indent="-342900" fontAlgn="base">
              <a:lnSpc>
                <a:spcPct val="150000"/>
              </a:lnSpc>
              <a:spcBef>
                <a:spcPct val="0"/>
              </a:spcBef>
              <a:spcAft>
                <a:spcPct val="0"/>
              </a:spcAft>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rPr>
              <a:t>多模态处理​​：</a:t>
            </a:r>
          </a:p>
          <a:p>
            <a:pPr marL="0" lvl="2"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批处理​​（</a:t>
            </a:r>
            <a:r>
              <a:rPr lang="en-US" altLang="zh-CN" dirty="0">
                <a:solidFill>
                  <a:srgbClr val="262626"/>
                </a:solidFill>
                <a:latin typeface="微软雅黑" panose="020B0503020204020204" pitchFamily="34" charset="-122"/>
                <a:ea typeface="微软雅黑" panose="020B0503020204020204" pitchFamily="34" charset="-122"/>
              </a:rPr>
              <a:t>Spark</a:t>
            </a:r>
            <a:r>
              <a:rPr lang="zh-CN" altLang="en-US" dirty="0">
                <a:solidFill>
                  <a:srgbClr val="262626"/>
                </a:solidFill>
                <a:latin typeface="微软雅黑" panose="020B0503020204020204" pitchFamily="34" charset="-122"/>
                <a:ea typeface="微软雅黑" panose="020B0503020204020204" pitchFamily="34" charset="-122"/>
              </a:rPr>
              <a:t>批量清洗数据，输出至湖仓一体表）、流处理​​（</a:t>
            </a:r>
            <a:r>
              <a:rPr lang="en-US" altLang="zh-CN" dirty="0">
                <a:solidFill>
                  <a:srgbClr val="262626"/>
                </a:solidFill>
                <a:latin typeface="微软雅黑" panose="020B0503020204020204" pitchFamily="34" charset="-122"/>
                <a:ea typeface="微软雅黑" panose="020B0503020204020204" pitchFamily="34" charset="-122"/>
              </a:rPr>
              <a:t>Kafka + Spark Structured Streaming</a:t>
            </a:r>
            <a:r>
              <a:rPr lang="zh-CN" altLang="en-US" dirty="0">
                <a:solidFill>
                  <a:srgbClr val="262626"/>
                </a:solidFill>
                <a:latin typeface="微软雅黑" panose="020B0503020204020204" pitchFamily="34" charset="-122"/>
                <a:ea typeface="微软雅黑" panose="020B0503020204020204" pitchFamily="34" charset="-122"/>
              </a:rPr>
              <a:t>实现近实时数据入湖）、</a:t>
            </a:r>
            <a:r>
              <a:rPr lang="en-US" altLang="zh-CN" dirty="0">
                <a:solidFill>
                  <a:srgbClr val="262626"/>
                </a:solidFill>
                <a:latin typeface="微软雅黑" panose="020B0503020204020204" pitchFamily="34" charset="-122"/>
                <a:ea typeface="微软雅黑" panose="020B0503020204020204" pitchFamily="34" charset="-122"/>
              </a:rPr>
              <a:t>AI</a:t>
            </a:r>
            <a:r>
              <a:rPr lang="zh-CN" altLang="en-US" dirty="0">
                <a:solidFill>
                  <a:srgbClr val="262626"/>
                </a:solidFill>
                <a:latin typeface="微软雅黑" panose="020B0503020204020204" pitchFamily="34" charset="-122"/>
                <a:ea typeface="微软雅黑" panose="020B0503020204020204" pitchFamily="34" charset="-122"/>
              </a:rPr>
              <a:t>集成​​（</a:t>
            </a:r>
            <a:r>
              <a:rPr lang="en-US" altLang="zh-CN" dirty="0">
                <a:solidFill>
                  <a:srgbClr val="262626"/>
                </a:solidFill>
                <a:latin typeface="微软雅黑" panose="020B0503020204020204" pitchFamily="34" charset="-122"/>
                <a:ea typeface="微软雅黑" panose="020B0503020204020204" pitchFamily="34" charset="-122"/>
              </a:rPr>
              <a:t>Spark MLlib</a:t>
            </a:r>
            <a:r>
              <a:rPr lang="zh-CN" altLang="en-US" dirty="0">
                <a:solidFill>
                  <a:srgbClr val="262626"/>
                </a:solidFill>
                <a:latin typeface="微软雅黑" panose="020B0503020204020204" pitchFamily="34" charset="-122"/>
                <a:ea typeface="微软雅黑" panose="020B0503020204020204" pitchFamily="34" charset="-122"/>
              </a:rPr>
              <a:t>或第三方框架直接在数据湖上训练模型）</a:t>
            </a:r>
          </a:p>
        </p:txBody>
      </p:sp>
    </p:spTree>
    <p:extLst>
      <p:ext uri="{BB962C8B-B14F-4D97-AF65-F5344CB8AC3E}">
        <p14:creationId xmlns:p14="http://schemas.microsoft.com/office/powerpoint/2010/main" val="2474733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5737-9718-FFED-302D-5A744A889D9B}"/>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AE79E471-7A0E-9749-7331-916F0540171D}"/>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5849B771-B7F1-7DF5-3F85-81AE47E2952C}"/>
              </a:ext>
            </a:extLst>
          </p:cNvPr>
          <p:cNvSpPr/>
          <p:nvPr/>
        </p:nvSpPr>
        <p:spPr>
          <a:xfrm>
            <a:off x="666750" y="674794"/>
            <a:ext cx="10668000" cy="533400"/>
          </a:xfrm>
          <a:prstGeom prst="rect">
            <a:avLst/>
          </a:prstGeom>
          <a:noFill/>
          <a:ln/>
        </p:spPr>
        <p:txBody>
          <a:bodyPr vert="horz" wrap="square" lIns="0" tIns="0" rIns="0" bIns="0" rtlCol="0" anchor="ctr"/>
          <a:lstStyle/>
          <a:p>
            <a:pPr>
              <a:lnSpc>
                <a:spcPts val="4200"/>
              </a:lnSpc>
            </a:pPr>
            <a:r>
              <a:rPr lang="zh-CN" altLang="en-US" sz="3200" b="1" dirty="0">
                <a:solidFill>
                  <a:srgbClr val="000000"/>
                </a:solidFill>
                <a:latin typeface="Microsoft YaHei" pitchFamily="34" charset="0"/>
                <a:ea typeface="Microsoft YaHei" pitchFamily="34" charset="-122"/>
              </a:rPr>
              <a:t>从</a:t>
            </a:r>
            <a:r>
              <a:rPr lang="en-US" altLang="zh-CN" sz="3200" b="1" dirty="0">
                <a:solidFill>
                  <a:srgbClr val="000000"/>
                </a:solidFill>
                <a:latin typeface="Microsoft YaHei" pitchFamily="34" charset="0"/>
                <a:ea typeface="Microsoft YaHei" pitchFamily="34" charset="-122"/>
              </a:rPr>
              <a:t>Hadoop</a:t>
            </a:r>
            <a:r>
              <a:rPr lang="zh-CN" altLang="en-US" sz="3200" b="1" dirty="0">
                <a:solidFill>
                  <a:srgbClr val="000000"/>
                </a:solidFill>
                <a:latin typeface="Microsoft YaHei" pitchFamily="34" charset="0"/>
                <a:ea typeface="Microsoft YaHei" pitchFamily="34" charset="-122"/>
              </a:rPr>
              <a:t>架构到数据湖体系</a:t>
            </a:r>
            <a:endParaRPr lang="en-US" sz="3200" b="1" dirty="0">
              <a:solidFill>
                <a:srgbClr val="000000"/>
              </a:solidFill>
              <a:latin typeface="Microsoft YaHei" pitchFamily="34" charset="0"/>
              <a:ea typeface="Microsoft YaHei" pitchFamily="34" charset="-122"/>
            </a:endParaRPr>
          </a:p>
        </p:txBody>
      </p:sp>
      <p:sp>
        <p:nvSpPr>
          <p:cNvPr id="7" name="文本框 6">
            <a:extLst>
              <a:ext uri="{FF2B5EF4-FFF2-40B4-BE49-F238E27FC236}">
                <a16:creationId xmlns:a16="http://schemas.microsoft.com/office/drawing/2014/main" id="{CE11844A-B500-FAE2-FDC7-B2D4BD6B8A06}"/>
              </a:ext>
            </a:extLst>
          </p:cNvPr>
          <p:cNvSpPr txBox="1"/>
          <p:nvPr/>
        </p:nvSpPr>
        <p:spPr>
          <a:xfrm>
            <a:off x="717550" y="1651000"/>
            <a:ext cx="11112500" cy="4998612"/>
          </a:xfrm>
          <a:prstGeom prst="rect">
            <a:avLst/>
          </a:prstGeom>
          <a:noFill/>
        </p:spPr>
        <p:txBody>
          <a:bodyPr wrap="square">
            <a:spAutoFit/>
          </a:bodyPr>
          <a:lstStyle/>
          <a:p>
            <a:pPr algn="l" fontAlgn="base">
              <a:lnSpc>
                <a:spcPts val="2400"/>
              </a:lnSpc>
              <a:spcBef>
                <a:spcPts val="1200"/>
              </a:spcBef>
              <a:spcAft>
                <a:spcPts val="600"/>
              </a:spcAft>
              <a:buNone/>
            </a:pPr>
            <a:r>
              <a:rPr lang="en-US" altLang="zh-CN" sz="2000" b="1" dirty="0">
                <a:solidFill>
                  <a:srgbClr val="262626"/>
                </a:solidFill>
                <a:latin typeface="微软雅黑" panose="020B0503020204020204" pitchFamily="34" charset="-122"/>
                <a:ea typeface="微软雅黑" panose="020B0503020204020204" pitchFamily="34" charset="-122"/>
              </a:rPr>
              <a:t>6. </a:t>
            </a:r>
            <a:r>
              <a:rPr lang="zh-CN" altLang="en-US" sz="2000" b="1" dirty="0">
                <a:solidFill>
                  <a:srgbClr val="262626"/>
                </a:solidFill>
                <a:latin typeface="微软雅黑" panose="020B0503020204020204" pitchFamily="34" charset="-122"/>
                <a:ea typeface="微软雅黑" panose="020B0503020204020204" pitchFamily="34" charset="-122"/>
              </a:rPr>
              <a:t>关键迁移步骤​​</a:t>
            </a:r>
          </a:p>
          <a:p>
            <a:pPr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1. </a:t>
            </a:r>
            <a:r>
              <a:rPr lang="zh-CN" altLang="en-US" dirty="0">
                <a:solidFill>
                  <a:srgbClr val="262626"/>
                </a:solidFill>
                <a:latin typeface="微软雅黑" panose="020B0503020204020204" pitchFamily="34" charset="-122"/>
                <a:ea typeface="微软雅黑" panose="020B0503020204020204" pitchFamily="34" charset="-122"/>
              </a:rPr>
              <a:t>数据迁移​​：</a:t>
            </a:r>
            <a:endParaRPr lang="en-US" altLang="zh-CN" dirty="0">
              <a:solidFill>
                <a:srgbClr val="262626"/>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        </a:t>
            </a:r>
            <a:r>
              <a:rPr lang="zh-CN" altLang="en-US" dirty="0">
                <a:solidFill>
                  <a:srgbClr val="262626"/>
                </a:solidFill>
                <a:latin typeface="微软雅黑" panose="020B0503020204020204" pitchFamily="34" charset="-122"/>
                <a:ea typeface="微软雅黑" panose="020B0503020204020204" pitchFamily="34" charset="-122"/>
              </a:rPr>
              <a:t>使用</a:t>
            </a:r>
            <a:r>
              <a:rPr lang="en-US" altLang="zh-CN" dirty="0" err="1">
                <a:solidFill>
                  <a:srgbClr val="262626"/>
                </a:solidFill>
                <a:latin typeface="微软雅黑" panose="020B0503020204020204" pitchFamily="34" charset="-122"/>
                <a:ea typeface="微软雅黑" panose="020B0503020204020204" pitchFamily="34" charset="-122"/>
              </a:rPr>
              <a:t>DistCP</a:t>
            </a:r>
            <a:r>
              <a:rPr lang="zh-CN" altLang="en-US" dirty="0">
                <a:solidFill>
                  <a:srgbClr val="262626"/>
                </a:solidFill>
                <a:latin typeface="微软雅黑" panose="020B0503020204020204" pitchFamily="34" charset="-122"/>
                <a:ea typeface="微软雅黑" panose="020B0503020204020204" pitchFamily="34" charset="-122"/>
              </a:rPr>
              <a:t>或云服务工具（如</a:t>
            </a:r>
            <a:r>
              <a:rPr lang="en-US" altLang="zh-CN" dirty="0">
                <a:solidFill>
                  <a:srgbClr val="262626"/>
                </a:solidFill>
                <a:latin typeface="微软雅黑" panose="020B0503020204020204" pitchFamily="34" charset="-122"/>
                <a:ea typeface="微软雅黑" panose="020B0503020204020204" pitchFamily="34" charset="-122"/>
              </a:rPr>
              <a:t>AWS </a:t>
            </a:r>
            <a:r>
              <a:rPr lang="en-US" altLang="zh-CN" dirty="0" err="1">
                <a:solidFill>
                  <a:srgbClr val="262626"/>
                </a:solidFill>
                <a:latin typeface="微软雅黑" panose="020B0503020204020204" pitchFamily="34" charset="-122"/>
                <a:ea typeface="微软雅黑" panose="020B0503020204020204" pitchFamily="34" charset="-122"/>
              </a:rPr>
              <a:t>DataSync</a:t>
            </a:r>
            <a:r>
              <a:rPr lang="zh-CN" altLang="en-US" dirty="0">
                <a:solidFill>
                  <a:srgbClr val="262626"/>
                </a:solidFill>
                <a:latin typeface="微软雅黑" panose="020B0503020204020204" pitchFamily="34" charset="-122"/>
                <a:ea typeface="微软雅黑" panose="020B0503020204020204" pitchFamily="34" charset="-122"/>
              </a:rPr>
              <a:t>）将</a:t>
            </a:r>
            <a:r>
              <a:rPr lang="en-US" altLang="zh-CN" dirty="0">
                <a:solidFill>
                  <a:srgbClr val="262626"/>
                </a:solidFill>
                <a:latin typeface="微软雅黑" panose="020B0503020204020204" pitchFamily="34" charset="-122"/>
                <a:ea typeface="微软雅黑" panose="020B0503020204020204" pitchFamily="34" charset="-122"/>
              </a:rPr>
              <a:t>HDFS</a:t>
            </a:r>
            <a:r>
              <a:rPr lang="zh-CN" altLang="en-US" dirty="0">
                <a:solidFill>
                  <a:srgbClr val="262626"/>
                </a:solidFill>
                <a:latin typeface="微软雅黑" panose="020B0503020204020204" pitchFamily="34" charset="-122"/>
                <a:ea typeface="微软雅黑" panose="020B0503020204020204" pitchFamily="34" charset="-122"/>
              </a:rPr>
              <a:t>数据迁移至对象存储。</a:t>
            </a:r>
          </a:p>
          <a:p>
            <a:pPr marL="0" lvl="1"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转换</a:t>
            </a:r>
            <a:r>
              <a:rPr lang="en-US" altLang="zh-CN" dirty="0">
                <a:solidFill>
                  <a:srgbClr val="262626"/>
                </a:solidFill>
                <a:latin typeface="微软雅黑" panose="020B0503020204020204" pitchFamily="34" charset="-122"/>
                <a:ea typeface="微软雅黑" panose="020B0503020204020204" pitchFamily="34" charset="-122"/>
              </a:rPr>
              <a:t>Hive</a:t>
            </a:r>
            <a:r>
              <a:rPr lang="zh-CN" altLang="en-US" dirty="0">
                <a:solidFill>
                  <a:srgbClr val="262626"/>
                </a:solidFill>
                <a:latin typeface="微软雅黑" panose="020B0503020204020204" pitchFamily="34" charset="-122"/>
                <a:ea typeface="微软雅黑" panose="020B0503020204020204" pitchFamily="34" charset="-122"/>
              </a:rPr>
              <a:t>表为</a:t>
            </a:r>
            <a:r>
              <a:rPr lang="en-US" altLang="zh-CN" dirty="0">
                <a:solidFill>
                  <a:srgbClr val="262626"/>
                </a:solidFill>
                <a:latin typeface="微软雅黑" panose="020B0503020204020204" pitchFamily="34" charset="-122"/>
                <a:ea typeface="微软雅黑" panose="020B0503020204020204" pitchFamily="34" charset="-122"/>
              </a:rPr>
              <a:t>Iceberg/Delta Lake</a:t>
            </a:r>
            <a:r>
              <a:rPr lang="zh-CN" altLang="en-US" dirty="0">
                <a:solidFill>
                  <a:srgbClr val="262626"/>
                </a:solidFill>
                <a:latin typeface="微软雅黑" panose="020B0503020204020204" pitchFamily="34" charset="-122"/>
                <a:ea typeface="微软雅黑" panose="020B0503020204020204" pitchFamily="34" charset="-122"/>
              </a:rPr>
              <a:t>格式，兼容</a:t>
            </a:r>
            <a:r>
              <a:rPr lang="en-US" altLang="zh-CN" dirty="0">
                <a:solidFill>
                  <a:srgbClr val="262626"/>
                </a:solidFill>
                <a:latin typeface="微软雅黑" panose="020B0503020204020204" pitchFamily="34" charset="-122"/>
                <a:ea typeface="微软雅黑" panose="020B0503020204020204" pitchFamily="34" charset="-122"/>
              </a:rPr>
              <a:t>Spark</a:t>
            </a:r>
            <a:r>
              <a:rPr lang="zh-CN" altLang="en-US" dirty="0">
                <a:solidFill>
                  <a:srgbClr val="262626"/>
                </a:solidFill>
                <a:latin typeface="微软雅黑" panose="020B0503020204020204" pitchFamily="34" charset="-122"/>
                <a:ea typeface="微软雅黑" panose="020B0503020204020204" pitchFamily="34" charset="-122"/>
              </a:rPr>
              <a:t>和传统查询引擎（如</a:t>
            </a:r>
            <a:r>
              <a:rPr lang="en-US" altLang="zh-CN" dirty="0">
                <a:solidFill>
                  <a:srgbClr val="262626"/>
                </a:solidFill>
                <a:latin typeface="微软雅黑" panose="020B0503020204020204" pitchFamily="34" charset="-122"/>
                <a:ea typeface="微软雅黑" panose="020B0503020204020204" pitchFamily="34" charset="-122"/>
              </a:rPr>
              <a:t>Presto</a:t>
            </a:r>
            <a:r>
              <a:rPr lang="zh-CN" altLang="en-US" dirty="0">
                <a:solidFill>
                  <a:srgbClr val="262626"/>
                </a:solidFill>
                <a:latin typeface="微软雅黑" panose="020B0503020204020204" pitchFamily="34" charset="-122"/>
                <a:ea typeface="微软雅黑" panose="020B0503020204020204" pitchFamily="34" charset="-122"/>
              </a:rPr>
              <a:t>）。</a:t>
            </a:r>
            <a:endParaRPr lang="en-US" altLang="zh-CN" dirty="0">
              <a:solidFill>
                <a:srgbClr val="262626"/>
              </a:solidFill>
              <a:latin typeface="微软雅黑" panose="020B0503020204020204" pitchFamily="34" charset="-122"/>
              <a:ea typeface="微软雅黑" panose="020B0503020204020204" pitchFamily="34" charset="-122"/>
            </a:endParaRPr>
          </a:p>
          <a:p>
            <a:pPr marL="0" lvl="1"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2. </a:t>
            </a:r>
            <a:r>
              <a:rPr lang="zh-CN" altLang="en-US" dirty="0">
                <a:solidFill>
                  <a:srgbClr val="262626"/>
                </a:solidFill>
                <a:latin typeface="微软雅黑" panose="020B0503020204020204" pitchFamily="34" charset="-122"/>
                <a:ea typeface="微软雅黑" panose="020B0503020204020204" pitchFamily="34" charset="-122"/>
              </a:rPr>
              <a:t>计算重构​​：</a:t>
            </a:r>
          </a:p>
          <a:p>
            <a:pPr marL="0" lvl="1"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将</a:t>
            </a:r>
            <a:r>
              <a:rPr lang="en-US" altLang="zh-CN" dirty="0">
                <a:solidFill>
                  <a:srgbClr val="262626"/>
                </a:solidFill>
                <a:latin typeface="微软雅黑" panose="020B0503020204020204" pitchFamily="34" charset="-122"/>
                <a:ea typeface="微软雅黑" panose="020B0503020204020204" pitchFamily="34" charset="-122"/>
              </a:rPr>
              <a:t>MapReduce</a:t>
            </a:r>
            <a:r>
              <a:rPr lang="zh-CN" altLang="en-US" dirty="0">
                <a:solidFill>
                  <a:srgbClr val="262626"/>
                </a:solidFill>
                <a:latin typeface="微软雅黑" panose="020B0503020204020204" pitchFamily="34" charset="-122"/>
                <a:ea typeface="微软雅黑" panose="020B0503020204020204" pitchFamily="34" charset="-122"/>
              </a:rPr>
              <a:t>作业重写为</a:t>
            </a:r>
            <a:r>
              <a:rPr lang="en-US" altLang="zh-CN" dirty="0">
                <a:solidFill>
                  <a:srgbClr val="262626"/>
                </a:solidFill>
                <a:latin typeface="微软雅黑" panose="020B0503020204020204" pitchFamily="34" charset="-122"/>
                <a:ea typeface="微软雅黑" panose="020B0503020204020204" pitchFamily="34" charset="-122"/>
              </a:rPr>
              <a:t>Spark</a:t>
            </a:r>
            <a:r>
              <a:rPr lang="zh-CN" altLang="en-US" dirty="0">
                <a:solidFill>
                  <a:srgbClr val="262626"/>
                </a:solidFill>
                <a:latin typeface="微软雅黑" panose="020B0503020204020204" pitchFamily="34" charset="-122"/>
                <a:ea typeface="微软雅黑" panose="020B0503020204020204" pitchFamily="34" charset="-122"/>
              </a:rPr>
              <a:t>应用，利用</a:t>
            </a:r>
            <a:r>
              <a:rPr lang="en-US" altLang="zh-CN" dirty="0" err="1">
                <a:solidFill>
                  <a:srgbClr val="262626"/>
                </a:solidFill>
                <a:latin typeface="微软雅黑" panose="020B0503020204020204" pitchFamily="34" charset="-122"/>
                <a:ea typeface="微软雅黑" panose="020B0503020204020204" pitchFamily="34" charset="-122"/>
              </a:rPr>
              <a:t>DataFrame</a:t>
            </a:r>
            <a:r>
              <a:rPr lang="en-US" altLang="zh-CN" dirty="0">
                <a:solidFill>
                  <a:srgbClr val="262626"/>
                </a:solidFill>
                <a:latin typeface="微软雅黑" panose="020B0503020204020204" pitchFamily="34" charset="-122"/>
                <a:ea typeface="微软雅黑" panose="020B0503020204020204" pitchFamily="34" charset="-122"/>
              </a:rPr>
              <a:t> API</a:t>
            </a:r>
            <a:r>
              <a:rPr lang="zh-CN" altLang="en-US" dirty="0">
                <a:solidFill>
                  <a:srgbClr val="262626"/>
                </a:solidFill>
                <a:latin typeface="微软雅黑" panose="020B0503020204020204" pitchFamily="34" charset="-122"/>
                <a:ea typeface="微软雅黑" panose="020B0503020204020204" pitchFamily="34" charset="-122"/>
              </a:rPr>
              <a:t>优化逻辑。</a:t>
            </a:r>
          </a:p>
          <a:p>
            <a:pPr marL="0" lvl="1"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对实时需求引入</a:t>
            </a:r>
            <a:r>
              <a:rPr lang="en-US" altLang="zh-CN" dirty="0">
                <a:solidFill>
                  <a:srgbClr val="262626"/>
                </a:solidFill>
                <a:latin typeface="微软雅黑" panose="020B0503020204020204" pitchFamily="34" charset="-122"/>
                <a:ea typeface="微软雅黑" panose="020B0503020204020204" pitchFamily="34" charset="-122"/>
              </a:rPr>
              <a:t>Structured Streaming</a:t>
            </a:r>
            <a:r>
              <a:rPr lang="zh-CN" altLang="en-US" dirty="0">
                <a:solidFill>
                  <a:srgbClr val="262626"/>
                </a:solidFill>
                <a:latin typeface="微软雅黑" panose="020B0503020204020204" pitchFamily="34" charset="-122"/>
                <a:ea typeface="微软雅黑" panose="020B0503020204020204" pitchFamily="34" charset="-122"/>
              </a:rPr>
              <a:t>或</a:t>
            </a:r>
            <a:r>
              <a:rPr lang="en-US" altLang="zh-CN" dirty="0">
                <a:solidFill>
                  <a:srgbClr val="262626"/>
                </a:solidFill>
                <a:latin typeface="微软雅黑" panose="020B0503020204020204" pitchFamily="34" charset="-122"/>
                <a:ea typeface="微软雅黑" panose="020B0503020204020204" pitchFamily="34" charset="-122"/>
              </a:rPr>
              <a:t>Flink</a:t>
            </a:r>
            <a:r>
              <a:rPr lang="zh-CN" altLang="en-US" dirty="0">
                <a:solidFill>
                  <a:srgbClr val="262626"/>
                </a:solidFill>
                <a:latin typeface="微软雅黑" panose="020B0503020204020204" pitchFamily="34" charset="-122"/>
                <a:ea typeface="微软雅黑" panose="020B0503020204020204" pitchFamily="34" charset="-122"/>
              </a:rPr>
              <a:t>。</a:t>
            </a:r>
          </a:p>
          <a:p>
            <a:pPr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3. </a:t>
            </a:r>
            <a:r>
              <a:rPr lang="zh-CN" altLang="en-US" dirty="0">
                <a:solidFill>
                  <a:srgbClr val="262626"/>
                </a:solidFill>
                <a:latin typeface="微软雅黑" panose="020B0503020204020204" pitchFamily="34" charset="-122"/>
                <a:ea typeface="微软雅黑" panose="020B0503020204020204" pitchFamily="34" charset="-122"/>
              </a:rPr>
              <a:t>元数据同步​​：</a:t>
            </a:r>
          </a:p>
          <a:p>
            <a:pPr marL="0" lvl="1"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导出</a:t>
            </a:r>
            <a:r>
              <a:rPr lang="en-US" altLang="zh-CN" dirty="0">
                <a:solidFill>
                  <a:srgbClr val="262626"/>
                </a:solidFill>
                <a:latin typeface="微软雅黑" panose="020B0503020204020204" pitchFamily="34" charset="-122"/>
                <a:ea typeface="微软雅黑" panose="020B0503020204020204" pitchFamily="34" charset="-122"/>
              </a:rPr>
              <a:t>Hive </a:t>
            </a:r>
            <a:r>
              <a:rPr lang="en-US" altLang="zh-CN" dirty="0" err="1">
                <a:solidFill>
                  <a:srgbClr val="262626"/>
                </a:solidFill>
                <a:latin typeface="微软雅黑" panose="020B0503020204020204" pitchFamily="34" charset="-122"/>
                <a:ea typeface="微软雅黑" panose="020B0503020204020204" pitchFamily="34" charset="-122"/>
              </a:rPr>
              <a:t>Metastore</a:t>
            </a:r>
            <a:r>
              <a:rPr lang="zh-CN" altLang="en-US" dirty="0">
                <a:solidFill>
                  <a:srgbClr val="262626"/>
                </a:solidFill>
                <a:latin typeface="微软雅黑" panose="020B0503020204020204" pitchFamily="34" charset="-122"/>
                <a:ea typeface="微软雅黑" panose="020B0503020204020204" pitchFamily="34" charset="-122"/>
              </a:rPr>
              <a:t>元数据至</a:t>
            </a:r>
            <a:r>
              <a:rPr lang="en-US" altLang="zh-CN" dirty="0">
                <a:solidFill>
                  <a:srgbClr val="262626"/>
                </a:solidFill>
                <a:latin typeface="微软雅黑" panose="020B0503020204020204" pitchFamily="34" charset="-122"/>
                <a:ea typeface="微软雅黑" panose="020B0503020204020204" pitchFamily="34" charset="-122"/>
              </a:rPr>
              <a:t>Glue Catalog</a:t>
            </a:r>
            <a:r>
              <a:rPr lang="zh-CN" altLang="en-US" dirty="0">
                <a:solidFill>
                  <a:srgbClr val="262626"/>
                </a:solidFill>
                <a:latin typeface="微软雅黑" panose="020B0503020204020204" pitchFamily="34" charset="-122"/>
                <a:ea typeface="微软雅黑" panose="020B0503020204020204" pitchFamily="34" charset="-122"/>
              </a:rPr>
              <a:t>或</a:t>
            </a:r>
            <a:r>
              <a:rPr lang="en-US" altLang="zh-CN" dirty="0">
                <a:solidFill>
                  <a:srgbClr val="262626"/>
                </a:solidFill>
                <a:latin typeface="微软雅黑" panose="020B0503020204020204" pitchFamily="34" charset="-122"/>
                <a:ea typeface="微软雅黑" panose="020B0503020204020204" pitchFamily="34" charset="-122"/>
              </a:rPr>
              <a:t>Iceberg</a:t>
            </a:r>
            <a:r>
              <a:rPr lang="zh-CN" altLang="en-US" dirty="0">
                <a:solidFill>
                  <a:srgbClr val="262626"/>
                </a:solidFill>
                <a:latin typeface="微软雅黑" panose="020B0503020204020204" pitchFamily="34" charset="-122"/>
                <a:ea typeface="微软雅黑" panose="020B0503020204020204" pitchFamily="34" charset="-122"/>
              </a:rPr>
              <a:t>，统一管理新旧数据。</a:t>
            </a:r>
          </a:p>
          <a:p>
            <a:pPr fontAlgn="base">
              <a:lnSpc>
                <a:spcPct val="150000"/>
              </a:lnSpc>
              <a:spcBef>
                <a:spcPct val="0"/>
              </a:spcBef>
              <a:spcAft>
                <a:spcPct val="0"/>
              </a:spcAft>
            </a:pPr>
            <a:r>
              <a:rPr lang="en-US" altLang="zh-CN" dirty="0">
                <a:solidFill>
                  <a:srgbClr val="262626"/>
                </a:solidFill>
                <a:latin typeface="微软雅黑" panose="020B0503020204020204" pitchFamily="34" charset="-122"/>
                <a:ea typeface="微软雅黑" panose="020B0503020204020204" pitchFamily="34" charset="-122"/>
              </a:rPr>
              <a:t>4. </a:t>
            </a:r>
            <a:r>
              <a:rPr lang="zh-CN" altLang="en-US" dirty="0">
                <a:solidFill>
                  <a:srgbClr val="262626"/>
                </a:solidFill>
                <a:latin typeface="微软雅黑" panose="020B0503020204020204" pitchFamily="34" charset="-122"/>
                <a:ea typeface="微软雅黑" panose="020B0503020204020204" pitchFamily="34" charset="-122"/>
              </a:rPr>
              <a:t>治理强化​​：</a:t>
            </a:r>
          </a:p>
          <a:p>
            <a:pPr marL="0" lvl="1"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定义数据分区策略（如按日期</a:t>
            </a:r>
            <a:r>
              <a:rPr lang="en-US" altLang="zh-CN" dirty="0">
                <a:solidFill>
                  <a:srgbClr val="262626"/>
                </a:solidFill>
                <a:latin typeface="微软雅黑" panose="020B0503020204020204" pitchFamily="34" charset="-122"/>
                <a:ea typeface="微软雅黑" panose="020B0503020204020204" pitchFamily="34" charset="-122"/>
              </a:rPr>
              <a:t>/</a:t>
            </a:r>
            <a:r>
              <a:rPr lang="zh-CN" altLang="en-US" dirty="0">
                <a:solidFill>
                  <a:srgbClr val="262626"/>
                </a:solidFill>
                <a:latin typeface="微软雅黑" panose="020B0503020204020204" pitchFamily="34" charset="-122"/>
                <a:ea typeface="微软雅黑" panose="020B0503020204020204" pitchFamily="34" charset="-122"/>
              </a:rPr>
              <a:t>业务分区），优化</a:t>
            </a:r>
            <a:r>
              <a:rPr lang="en-US" altLang="zh-CN" dirty="0">
                <a:solidFill>
                  <a:srgbClr val="262626"/>
                </a:solidFill>
                <a:latin typeface="微软雅黑" panose="020B0503020204020204" pitchFamily="34" charset="-122"/>
                <a:ea typeface="微软雅黑" panose="020B0503020204020204" pitchFamily="34" charset="-122"/>
              </a:rPr>
              <a:t>Spark</a:t>
            </a:r>
            <a:r>
              <a:rPr lang="zh-CN" altLang="en-US" dirty="0">
                <a:solidFill>
                  <a:srgbClr val="262626"/>
                </a:solidFill>
                <a:latin typeface="微软雅黑" panose="020B0503020204020204" pitchFamily="34" charset="-122"/>
                <a:ea typeface="微软雅黑" panose="020B0503020204020204" pitchFamily="34" charset="-122"/>
              </a:rPr>
              <a:t>查询性能。</a:t>
            </a:r>
          </a:p>
          <a:p>
            <a:pPr marL="0" lvl="1" fontAlgn="base">
              <a:lnSpc>
                <a:spcPct val="150000"/>
              </a:lnSpc>
              <a:spcBef>
                <a:spcPct val="0"/>
              </a:spcBef>
              <a:spcAft>
                <a:spcPct val="0"/>
              </a:spcAft>
            </a:pPr>
            <a:r>
              <a:rPr lang="zh-CN" altLang="en-US" dirty="0">
                <a:solidFill>
                  <a:srgbClr val="262626"/>
                </a:solidFill>
                <a:latin typeface="微软雅黑" panose="020B0503020204020204" pitchFamily="34" charset="-122"/>
                <a:ea typeface="微软雅黑" panose="020B0503020204020204" pitchFamily="34" charset="-122"/>
              </a:rPr>
              <a:t>        部署数据质量监控（如</a:t>
            </a:r>
            <a:r>
              <a:rPr lang="en-US" altLang="zh-CN" dirty="0">
                <a:solidFill>
                  <a:srgbClr val="262626"/>
                </a:solidFill>
                <a:latin typeface="微软雅黑" panose="020B0503020204020204" pitchFamily="34" charset="-122"/>
                <a:ea typeface="微软雅黑" panose="020B0503020204020204" pitchFamily="34" charset="-122"/>
              </a:rPr>
              <a:t>Great Expectations</a:t>
            </a:r>
            <a:r>
              <a:rPr lang="zh-CN" altLang="en-US" dirty="0">
                <a:solidFill>
                  <a:srgbClr val="262626"/>
                </a:solidFill>
                <a:latin typeface="微软雅黑" panose="020B0503020204020204" pitchFamily="34" charset="-122"/>
                <a:ea typeface="微软雅黑" panose="020B0503020204020204" pitchFamily="34" charset="-122"/>
              </a:rPr>
              <a:t>）和自动修复流程。</a:t>
            </a:r>
            <a:endParaRPr lang="zh-CN" altLang="en-US" sz="2000" dirty="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8634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7FC2-188B-153F-D585-36413B6B8F6E}"/>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2F6FD4ED-51ED-4BDE-201F-9B0C8D2CBDC3}"/>
              </a:ext>
            </a:extLst>
          </p:cNvPr>
          <p:cNvPicPr>
            <a:picLocks noChangeAspect="1"/>
          </p:cNvPicPr>
          <p:nvPr/>
        </p:nvPicPr>
        <p:blipFill>
          <a:blip r:embed="rId3"/>
          <a:srcRect/>
          <a:stretch/>
        </p:blipFill>
        <p:spPr>
          <a:xfrm>
            <a:off x="30480" y="0"/>
            <a:ext cx="12192000" cy="6858000"/>
          </a:xfrm>
          <a:prstGeom prst="rect">
            <a:avLst/>
          </a:prstGeom>
        </p:spPr>
      </p:pic>
      <p:sp>
        <p:nvSpPr>
          <p:cNvPr id="4" name="Text 1">
            <a:extLst>
              <a:ext uri="{FF2B5EF4-FFF2-40B4-BE49-F238E27FC236}">
                <a16:creationId xmlns:a16="http://schemas.microsoft.com/office/drawing/2014/main" id="{4EB0697C-0DD1-A5D9-19B3-B3E4AE666E31}"/>
              </a:ext>
            </a:extLst>
          </p:cNvPr>
          <p:cNvSpPr/>
          <p:nvPr/>
        </p:nvSpPr>
        <p:spPr>
          <a:xfrm>
            <a:off x="762000" y="667004"/>
            <a:ext cx="10668000" cy="533400"/>
          </a:xfrm>
          <a:prstGeom prst="rect">
            <a:avLst/>
          </a:prstGeom>
          <a:noFill/>
          <a:ln/>
        </p:spPr>
        <p:txBody>
          <a:bodyPr vert="horz" wrap="square" lIns="0" tIns="0" rIns="0" bIns="0" rtlCol="0" anchor="ctr"/>
          <a:lstStyle/>
          <a:p>
            <a:pPr>
              <a:lnSpc>
                <a:spcPts val="4200"/>
              </a:lnSpc>
            </a:pPr>
            <a:r>
              <a:rPr lang="en-US" altLang="zh-CN" sz="3000" b="1" dirty="0">
                <a:solidFill>
                  <a:srgbClr val="000000"/>
                </a:solidFill>
                <a:latin typeface="Microsoft YaHei" pitchFamily="34" charset="0"/>
                <a:ea typeface="Microsoft YaHei" pitchFamily="34" charset="-122"/>
                <a:cs typeface="Microsoft YaHei" pitchFamily="34" charset="-120"/>
              </a:rPr>
              <a:t>Hadoop vs </a:t>
            </a:r>
            <a:r>
              <a:rPr lang="zh-CN" altLang="en-US" sz="3000" b="1" dirty="0">
                <a:solidFill>
                  <a:srgbClr val="000000"/>
                </a:solidFill>
                <a:latin typeface="Microsoft YaHei" pitchFamily="34" charset="0"/>
                <a:ea typeface="Microsoft YaHei" pitchFamily="34" charset="-122"/>
                <a:cs typeface="Microsoft YaHei" pitchFamily="34" charset="-120"/>
              </a:rPr>
              <a:t>数据湖</a:t>
            </a:r>
            <a:endParaRPr lang="en-US" sz="3000" dirty="0"/>
          </a:p>
        </p:txBody>
      </p:sp>
      <p:graphicFrame>
        <p:nvGraphicFramePr>
          <p:cNvPr id="2" name="表格 1">
            <a:extLst>
              <a:ext uri="{FF2B5EF4-FFF2-40B4-BE49-F238E27FC236}">
                <a16:creationId xmlns:a16="http://schemas.microsoft.com/office/drawing/2014/main" id="{354995BE-827D-79BF-148A-8CA20AEFCDA7}"/>
              </a:ext>
            </a:extLst>
          </p:cNvPr>
          <p:cNvGraphicFramePr>
            <a:graphicFrameLocks noGrp="1"/>
          </p:cNvGraphicFramePr>
          <p:nvPr>
            <p:extLst>
              <p:ext uri="{D42A27DB-BD31-4B8C-83A1-F6EECF244321}">
                <p14:modId xmlns:p14="http://schemas.microsoft.com/office/powerpoint/2010/main" val="3222570092"/>
              </p:ext>
            </p:extLst>
          </p:nvPr>
        </p:nvGraphicFramePr>
        <p:xfrm>
          <a:off x="762000" y="2081054"/>
          <a:ext cx="10515600" cy="353568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1787473148"/>
                    </a:ext>
                  </a:extLst>
                </a:gridCol>
                <a:gridCol w="3505200">
                  <a:extLst>
                    <a:ext uri="{9D8B030D-6E8A-4147-A177-3AD203B41FA5}">
                      <a16:colId xmlns:a16="http://schemas.microsoft.com/office/drawing/2014/main" val="1496806504"/>
                    </a:ext>
                  </a:extLst>
                </a:gridCol>
                <a:gridCol w="3505200">
                  <a:extLst>
                    <a:ext uri="{9D8B030D-6E8A-4147-A177-3AD203B41FA5}">
                      <a16:colId xmlns:a16="http://schemas.microsoft.com/office/drawing/2014/main" val="1345421710"/>
                    </a:ext>
                  </a:extLst>
                </a:gridCol>
              </a:tblGrid>
              <a:tr h="0">
                <a:tc>
                  <a:txBody>
                    <a:bodyPr/>
                    <a:lstStyle/>
                    <a:p>
                      <a:pPr algn="ctr" fontAlgn="ctr"/>
                      <a:r>
                        <a:rPr lang="zh-CN" altLang="en-US" b="1">
                          <a:effectLst/>
                        </a:rPr>
                        <a:t>​​维度​​</a:t>
                      </a:r>
                      <a:endParaRPr lang="zh-CN" altLang="en-US" b="1">
                        <a:effectLst/>
                        <a:latin typeface="PingFang SC"/>
                      </a:endParaRPr>
                    </a:p>
                  </a:txBody>
                  <a:tcPr marL="101600" marR="101600" marT="76200" marB="76200" anchor="ctr"/>
                </a:tc>
                <a:tc>
                  <a:txBody>
                    <a:bodyPr/>
                    <a:lstStyle/>
                    <a:p>
                      <a:pPr algn="ctr" fontAlgn="ctr"/>
                      <a:r>
                        <a:rPr lang="zh-CN" altLang="en-US" b="1">
                          <a:effectLst/>
                        </a:rPr>
                        <a:t>​​传统</a:t>
                      </a:r>
                      <a:r>
                        <a:rPr lang="en-US" b="1">
                          <a:effectLst/>
                        </a:rPr>
                        <a:t>Hadoop​​</a:t>
                      </a:r>
                      <a:endParaRPr lang="en-US" b="1">
                        <a:effectLst/>
                        <a:latin typeface="PingFang SC"/>
                      </a:endParaRPr>
                    </a:p>
                  </a:txBody>
                  <a:tcPr marL="101600" marR="101600" marT="76200" marB="76200" anchor="ctr"/>
                </a:tc>
                <a:tc>
                  <a:txBody>
                    <a:bodyPr/>
                    <a:lstStyle/>
                    <a:p>
                      <a:pPr algn="ctr" fontAlgn="ctr"/>
                      <a:r>
                        <a:rPr lang="zh-CN" altLang="en-US" b="1">
                          <a:effectLst/>
                        </a:rPr>
                        <a:t>​​数据湖（对象存储</a:t>
                      </a:r>
                      <a:r>
                        <a:rPr lang="en-US" altLang="zh-CN" b="1">
                          <a:effectLst/>
                        </a:rPr>
                        <a:t>+Spark</a:t>
                      </a:r>
                      <a:r>
                        <a:rPr lang="zh-CN" altLang="en-US" b="1">
                          <a:effectLst/>
                        </a:rPr>
                        <a:t>）​​</a:t>
                      </a:r>
                      <a:endParaRPr lang="zh-CN" altLang="en-US" b="1">
                        <a:effectLst/>
                        <a:latin typeface="PingFang SC"/>
                      </a:endParaRPr>
                    </a:p>
                  </a:txBody>
                  <a:tcPr marL="101600" marR="101600" marT="76200" marB="76200" anchor="ctr"/>
                </a:tc>
                <a:extLst>
                  <a:ext uri="{0D108BD9-81ED-4DB2-BD59-A6C34878D82A}">
                    <a16:rowId xmlns:a16="http://schemas.microsoft.com/office/drawing/2014/main" val="1342158104"/>
                  </a:ext>
                </a:extLst>
              </a:tr>
              <a:tr h="0">
                <a:tc>
                  <a:txBody>
                    <a:bodyPr/>
                    <a:lstStyle/>
                    <a:p>
                      <a:pPr algn="ctr" fontAlgn="ctr"/>
                      <a:r>
                        <a:rPr lang="zh-CN" altLang="en-US" b="0">
                          <a:effectLst/>
                        </a:rPr>
                        <a:t>​</a:t>
                      </a:r>
                      <a:r>
                        <a:rPr lang="zh-CN" altLang="en-US" b="1">
                          <a:effectLst/>
                        </a:rPr>
                        <a:t>​存储架构​</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en-US" altLang="zh-CN" b="0">
                          <a:effectLst/>
                        </a:rPr>
                        <a:t>HDFS</a:t>
                      </a:r>
                      <a:r>
                        <a:rPr lang="zh-CN" altLang="en-US" b="0">
                          <a:effectLst/>
                        </a:rPr>
                        <a:t>，存储计算耦合</a:t>
                      </a:r>
                      <a:endParaRPr lang="zh-CN" altLang="en-US" b="0">
                        <a:effectLst/>
                        <a:latin typeface="PingFang SC"/>
                      </a:endParaRPr>
                    </a:p>
                  </a:txBody>
                  <a:tcPr marL="101600" marR="101600" marT="76200" marB="76200" anchor="ctr"/>
                </a:tc>
                <a:tc>
                  <a:txBody>
                    <a:bodyPr/>
                    <a:lstStyle/>
                    <a:p>
                      <a:pPr algn="ctr" fontAlgn="ctr"/>
                      <a:r>
                        <a:rPr lang="zh-CN" altLang="en-US" b="0">
                          <a:effectLst/>
                        </a:rPr>
                        <a:t>对象存储，存算分离，无限扩展</a:t>
                      </a:r>
                      <a:endParaRPr lang="zh-CN" altLang="en-US" b="0">
                        <a:effectLst/>
                        <a:latin typeface="PingFang SC"/>
                      </a:endParaRPr>
                    </a:p>
                  </a:txBody>
                  <a:tcPr marL="101600" marR="101600" marT="76200" marB="76200" anchor="ctr"/>
                </a:tc>
                <a:extLst>
                  <a:ext uri="{0D108BD9-81ED-4DB2-BD59-A6C34878D82A}">
                    <a16:rowId xmlns:a16="http://schemas.microsoft.com/office/drawing/2014/main" val="4243780095"/>
                  </a:ext>
                </a:extLst>
              </a:tr>
              <a:tr h="0">
                <a:tc>
                  <a:txBody>
                    <a:bodyPr/>
                    <a:lstStyle/>
                    <a:p>
                      <a:pPr algn="ctr" fontAlgn="ctr"/>
                      <a:r>
                        <a:rPr lang="zh-CN" altLang="en-US" b="0">
                          <a:effectLst/>
                        </a:rPr>
                        <a:t>​</a:t>
                      </a:r>
                      <a:r>
                        <a:rPr lang="zh-CN" altLang="en-US" b="1">
                          <a:effectLst/>
                        </a:rPr>
                        <a:t>​计算引擎​</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en-US" b="0">
                          <a:effectLst/>
                        </a:rPr>
                        <a:t>MapReduce</a:t>
                      </a:r>
                      <a:r>
                        <a:rPr lang="zh-CN" altLang="en-US" b="0">
                          <a:effectLst/>
                        </a:rPr>
                        <a:t>为主，多引擎并存</a:t>
                      </a:r>
                      <a:endParaRPr lang="zh-CN" altLang="en-US" b="0">
                        <a:effectLst/>
                        <a:latin typeface="PingFang SC"/>
                      </a:endParaRPr>
                    </a:p>
                  </a:txBody>
                  <a:tcPr marL="101600" marR="101600" marT="76200" marB="76200" anchor="ctr"/>
                </a:tc>
                <a:tc>
                  <a:txBody>
                    <a:bodyPr/>
                    <a:lstStyle/>
                    <a:p>
                      <a:pPr algn="ctr" fontAlgn="ctr"/>
                      <a:r>
                        <a:rPr lang="en-US" altLang="zh-CN" b="0">
                          <a:effectLst/>
                        </a:rPr>
                        <a:t>Spark</a:t>
                      </a:r>
                      <a:r>
                        <a:rPr lang="zh-CN" altLang="en-US" b="0">
                          <a:effectLst/>
                        </a:rPr>
                        <a:t>统一引擎，支持多模态处理</a:t>
                      </a:r>
                      <a:endParaRPr lang="zh-CN" altLang="en-US" b="0">
                        <a:effectLst/>
                        <a:latin typeface="PingFang SC"/>
                      </a:endParaRPr>
                    </a:p>
                  </a:txBody>
                  <a:tcPr marL="101600" marR="101600" marT="76200" marB="76200" anchor="ctr"/>
                </a:tc>
                <a:extLst>
                  <a:ext uri="{0D108BD9-81ED-4DB2-BD59-A6C34878D82A}">
                    <a16:rowId xmlns:a16="http://schemas.microsoft.com/office/drawing/2014/main" val="4060761064"/>
                  </a:ext>
                </a:extLst>
              </a:tr>
              <a:tr h="0">
                <a:tc>
                  <a:txBody>
                    <a:bodyPr/>
                    <a:lstStyle/>
                    <a:p>
                      <a:pPr algn="ctr" fontAlgn="ctr"/>
                      <a:r>
                        <a:rPr lang="zh-CN" altLang="en-US" b="0">
                          <a:effectLst/>
                        </a:rPr>
                        <a:t>​</a:t>
                      </a:r>
                      <a:r>
                        <a:rPr lang="zh-CN" altLang="en-US" b="1">
                          <a:effectLst/>
                        </a:rPr>
                        <a:t>​数据处理​</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强</a:t>
                      </a:r>
                      <a:r>
                        <a:rPr lang="en-US" altLang="zh-CN" b="0">
                          <a:effectLst/>
                        </a:rPr>
                        <a:t>Schema</a:t>
                      </a:r>
                      <a:r>
                        <a:rPr lang="zh-CN" altLang="en-US" b="0">
                          <a:effectLst/>
                        </a:rPr>
                        <a:t>约束，以</a:t>
                      </a:r>
                      <a:r>
                        <a:rPr lang="en-US" altLang="zh-CN" b="0">
                          <a:effectLst/>
                        </a:rPr>
                        <a:t>ETL</a:t>
                      </a:r>
                      <a:r>
                        <a:rPr lang="zh-CN" altLang="en-US" b="0">
                          <a:effectLst/>
                        </a:rPr>
                        <a:t>为中心</a:t>
                      </a:r>
                      <a:endParaRPr lang="zh-CN" altLang="en-US" b="0">
                        <a:effectLst/>
                        <a:latin typeface="PingFang SC"/>
                      </a:endParaRPr>
                    </a:p>
                  </a:txBody>
                  <a:tcPr marL="101600" marR="101600" marT="76200" marB="76200" anchor="ctr"/>
                </a:tc>
                <a:tc>
                  <a:txBody>
                    <a:bodyPr/>
                    <a:lstStyle/>
                    <a:p>
                      <a:pPr algn="ctr" fontAlgn="ctr"/>
                      <a:r>
                        <a:rPr lang="en-US" b="0">
                          <a:effectLst/>
                        </a:rPr>
                        <a:t>Schema-on-Read，ELT</a:t>
                      </a:r>
                      <a:r>
                        <a:rPr lang="zh-CN" altLang="en-US" b="0">
                          <a:effectLst/>
                        </a:rPr>
                        <a:t>优先，支持原始数据入湖</a:t>
                      </a:r>
                      <a:endParaRPr lang="zh-CN" altLang="en-US" b="0">
                        <a:effectLst/>
                        <a:latin typeface="PingFang SC"/>
                      </a:endParaRPr>
                    </a:p>
                  </a:txBody>
                  <a:tcPr marL="101600" marR="101600" marT="76200" marB="76200" anchor="ctr"/>
                </a:tc>
                <a:extLst>
                  <a:ext uri="{0D108BD9-81ED-4DB2-BD59-A6C34878D82A}">
                    <a16:rowId xmlns:a16="http://schemas.microsoft.com/office/drawing/2014/main" val="125239374"/>
                  </a:ext>
                </a:extLst>
              </a:tr>
              <a:tr h="0">
                <a:tc>
                  <a:txBody>
                    <a:bodyPr/>
                    <a:lstStyle/>
                    <a:p>
                      <a:pPr algn="ctr" fontAlgn="ctr"/>
                      <a:r>
                        <a:rPr lang="zh-CN" altLang="en-US" b="0">
                          <a:effectLst/>
                        </a:rPr>
                        <a:t>​</a:t>
                      </a:r>
                      <a:r>
                        <a:rPr lang="zh-CN" altLang="en-US" b="1">
                          <a:effectLst/>
                        </a:rPr>
                        <a:t>​成本​</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硬件和维护成本高</a:t>
                      </a:r>
                      <a:endParaRPr lang="zh-CN" altLang="en-US" b="0">
                        <a:effectLst/>
                        <a:latin typeface="PingFang SC"/>
                      </a:endParaRPr>
                    </a:p>
                  </a:txBody>
                  <a:tcPr marL="101600" marR="101600" marT="76200" marB="76200" anchor="ctr"/>
                </a:tc>
                <a:tc>
                  <a:txBody>
                    <a:bodyPr/>
                    <a:lstStyle/>
                    <a:p>
                      <a:pPr algn="ctr" fontAlgn="ctr"/>
                      <a:r>
                        <a:rPr lang="zh-CN" altLang="en-US" b="0">
                          <a:effectLst/>
                        </a:rPr>
                        <a:t>按需付费，存储成本降低</a:t>
                      </a:r>
                      <a:r>
                        <a:rPr lang="en-US" altLang="zh-CN" b="0">
                          <a:effectLst/>
                        </a:rPr>
                        <a:t>50%+</a:t>
                      </a:r>
                      <a:endParaRPr lang="en-US" altLang="zh-CN" b="0">
                        <a:effectLst/>
                        <a:latin typeface="PingFang SC"/>
                      </a:endParaRPr>
                    </a:p>
                  </a:txBody>
                  <a:tcPr marL="101600" marR="101600" marT="76200" marB="76200" anchor="ctr"/>
                </a:tc>
                <a:extLst>
                  <a:ext uri="{0D108BD9-81ED-4DB2-BD59-A6C34878D82A}">
                    <a16:rowId xmlns:a16="http://schemas.microsoft.com/office/drawing/2014/main" val="2111798060"/>
                  </a:ext>
                </a:extLst>
              </a:tr>
              <a:tr h="0">
                <a:tc>
                  <a:txBody>
                    <a:bodyPr/>
                    <a:lstStyle/>
                    <a:p>
                      <a:pPr algn="ctr" fontAlgn="ctr"/>
                      <a:r>
                        <a:rPr lang="zh-CN" altLang="en-US" b="0">
                          <a:effectLst/>
                        </a:rPr>
                        <a:t>​</a:t>
                      </a:r>
                      <a:r>
                        <a:rPr lang="zh-CN" altLang="en-US" b="1">
                          <a:effectLst/>
                        </a:rPr>
                        <a:t>​实时性​</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分钟级批处理</a:t>
                      </a:r>
                      <a:endParaRPr lang="zh-CN" altLang="en-US" b="0">
                        <a:effectLst/>
                        <a:latin typeface="PingFang SC"/>
                      </a:endParaRPr>
                    </a:p>
                  </a:txBody>
                  <a:tcPr marL="101600" marR="101600" marT="76200" marB="76200" anchor="ctr"/>
                </a:tc>
                <a:tc>
                  <a:txBody>
                    <a:bodyPr/>
                    <a:lstStyle/>
                    <a:p>
                      <a:pPr algn="ctr" fontAlgn="ctr"/>
                      <a:r>
                        <a:rPr lang="zh-CN" altLang="en-US" b="0">
                          <a:effectLst/>
                        </a:rPr>
                        <a:t>支持秒级流处理与交互查询</a:t>
                      </a:r>
                      <a:endParaRPr lang="zh-CN" altLang="en-US" b="0">
                        <a:effectLst/>
                        <a:latin typeface="PingFang SC"/>
                      </a:endParaRPr>
                    </a:p>
                  </a:txBody>
                  <a:tcPr marL="101600" marR="101600" marT="76200" marB="76200" anchor="ctr"/>
                </a:tc>
                <a:extLst>
                  <a:ext uri="{0D108BD9-81ED-4DB2-BD59-A6C34878D82A}">
                    <a16:rowId xmlns:a16="http://schemas.microsoft.com/office/drawing/2014/main" val="3700096936"/>
                  </a:ext>
                </a:extLst>
              </a:tr>
              <a:tr h="0">
                <a:tc>
                  <a:txBody>
                    <a:bodyPr/>
                    <a:lstStyle/>
                    <a:p>
                      <a:pPr algn="ctr" fontAlgn="ctr"/>
                      <a:r>
                        <a:rPr lang="zh-CN" altLang="en-US" b="0">
                          <a:effectLst/>
                        </a:rPr>
                        <a:t>​</a:t>
                      </a:r>
                      <a:r>
                        <a:rPr lang="zh-CN" altLang="en-US" b="1">
                          <a:effectLst/>
                        </a:rPr>
                        <a:t>​生态兼容​</a:t>
                      </a:r>
                      <a:r>
                        <a:rPr lang="zh-CN" altLang="en-US" b="0">
                          <a:effectLst/>
                        </a:rPr>
                        <a:t>​</a:t>
                      </a:r>
                      <a:endParaRPr lang="zh-CN" altLang="en-US" b="0">
                        <a:effectLst/>
                        <a:latin typeface="PingFang SC"/>
                      </a:endParaRPr>
                    </a:p>
                  </a:txBody>
                  <a:tcPr marL="101600" marR="101600" marT="76200" marB="76200" anchor="ctr"/>
                </a:tc>
                <a:tc>
                  <a:txBody>
                    <a:bodyPr/>
                    <a:lstStyle/>
                    <a:p>
                      <a:pPr algn="ctr" fontAlgn="ctr"/>
                      <a:r>
                        <a:rPr lang="zh-CN" altLang="en-US" b="0">
                          <a:effectLst/>
                        </a:rPr>
                        <a:t>依赖</a:t>
                      </a:r>
                      <a:r>
                        <a:rPr lang="en-US" b="0">
                          <a:effectLst/>
                        </a:rPr>
                        <a:t>Hadoop</a:t>
                      </a:r>
                      <a:r>
                        <a:rPr lang="zh-CN" altLang="en-US" b="0">
                          <a:effectLst/>
                        </a:rPr>
                        <a:t>生态</a:t>
                      </a:r>
                      <a:endParaRPr lang="zh-CN" altLang="en-US" b="0">
                        <a:effectLst/>
                        <a:latin typeface="PingFang SC"/>
                      </a:endParaRPr>
                    </a:p>
                  </a:txBody>
                  <a:tcPr marL="101600" marR="101600" marT="76200" marB="76200" anchor="ctr"/>
                </a:tc>
                <a:tc>
                  <a:txBody>
                    <a:bodyPr/>
                    <a:lstStyle/>
                    <a:p>
                      <a:pPr algn="ctr" fontAlgn="ctr"/>
                      <a:r>
                        <a:rPr lang="zh-CN" altLang="en-US" b="0" dirty="0">
                          <a:effectLst/>
                        </a:rPr>
                        <a:t>开放格式（</a:t>
                      </a:r>
                      <a:r>
                        <a:rPr lang="en-US" b="0" dirty="0">
                          <a:effectLst/>
                        </a:rPr>
                        <a:t>Parquet/ORC），</a:t>
                      </a:r>
                      <a:r>
                        <a:rPr lang="zh-CN" altLang="en-US" b="0" dirty="0">
                          <a:effectLst/>
                        </a:rPr>
                        <a:t>兼容云原生服务</a:t>
                      </a:r>
                      <a:endParaRPr lang="zh-CN" altLang="en-US" b="0" dirty="0">
                        <a:effectLst/>
                        <a:latin typeface="PingFang SC"/>
                      </a:endParaRPr>
                    </a:p>
                  </a:txBody>
                  <a:tcPr marL="101600" marR="101600" marT="76200" marB="76200" anchor="ctr"/>
                </a:tc>
                <a:extLst>
                  <a:ext uri="{0D108BD9-81ED-4DB2-BD59-A6C34878D82A}">
                    <a16:rowId xmlns:a16="http://schemas.microsoft.com/office/drawing/2014/main" val="2851200358"/>
                  </a:ext>
                </a:extLst>
              </a:tr>
            </a:tbl>
          </a:graphicData>
        </a:graphic>
      </p:graphicFrame>
    </p:spTree>
    <p:extLst>
      <p:ext uri="{BB962C8B-B14F-4D97-AF65-F5344CB8AC3E}">
        <p14:creationId xmlns:p14="http://schemas.microsoft.com/office/powerpoint/2010/main" val="4051245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5D638-599B-9B88-03F9-D9657E96B2F5}"/>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F29DF565-F98F-865C-9817-4B81D1899890}"/>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D310FB0D-31E0-19E1-2145-8C494F70B969}"/>
              </a:ext>
            </a:extLst>
          </p:cNvPr>
          <p:cNvSpPr/>
          <p:nvPr/>
        </p:nvSpPr>
        <p:spPr>
          <a:xfrm>
            <a:off x="762000" y="566844"/>
            <a:ext cx="10668000" cy="533400"/>
          </a:xfrm>
          <a:prstGeom prst="rect">
            <a:avLst/>
          </a:prstGeom>
          <a:noFill/>
          <a:ln/>
        </p:spPr>
        <p:txBody>
          <a:bodyPr vert="horz" wrap="square" lIns="0" tIns="0" rIns="0" bIns="0" rtlCol="0" anchor="ctr"/>
          <a:lstStyle/>
          <a:p>
            <a:pPr>
              <a:lnSpc>
                <a:spcPts val="4200"/>
              </a:lnSpc>
            </a:pPr>
            <a:r>
              <a:rPr lang="zh-CN" altLang="en-US" sz="3000" b="1" dirty="0">
                <a:solidFill>
                  <a:srgbClr val="000000"/>
                </a:solidFill>
                <a:latin typeface="Microsoft YaHei" pitchFamily="34" charset="0"/>
                <a:ea typeface="Microsoft YaHei" pitchFamily="34" charset="-122"/>
              </a:rPr>
              <a:t>分层表结构设计</a:t>
            </a:r>
            <a:r>
              <a:rPr lang="zh-CN" altLang="en-US" sz="3200" dirty="0">
                <a:solidFill>
                  <a:srgbClr val="262626"/>
                </a:solidFill>
                <a:latin typeface="Microsoft YaHei Light" panose="020B0502040204020203" pitchFamily="34" charset="-122"/>
                <a:ea typeface="Microsoft YaHei Light" panose="020B0502040204020203" pitchFamily="34" charset="-122"/>
              </a:rPr>
              <a:t>​</a:t>
            </a:r>
            <a:endParaRPr lang="en-US" sz="3000" dirty="0">
              <a:latin typeface="微软雅黑" panose="020B0503020204020204" pitchFamily="34" charset="-122"/>
              <a:ea typeface="微软雅黑" panose="020B0503020204020204" pitchFamily="34" charset="-122"/>
            </a:endParaRPr>
          </a:p>
        </p:txBody>
      </p:sp>
      <p:sp>
        <p:nvSpPr>
          <p:cNvPr id="5" name="Text 2">
            <a:extLst>
              <a:ext uri="{FF2B5EF4-FFF2-40B4-BE49-F238E27FC236}">
                <a16:creationId xmlns:a16="http://schemas.microsoft.com/office/drawing/2014/main" id="{E0A92BC1-F8EC-D9FB-540A-1EA060AE7E7F}"/>
              </a:ext>
            </a:extLst>
          </p:cNvPr>
          <p:cNvSpPr/>
          <p:nvPr/>
        </p:nvSpPr>
        <p:spPr>
          <a:xfrm>
            <a:off x="762000" y="990600"/>
            <a:ext cx="10668000" cy="279400"/>
          </a:xfrm>
          <a:prstGeom prst="rect">
            <a:avLst/>
          </a:prstGeom>
          <a:noFill/>
          <a:ln/>
        </p:spPr>
        <p:txBody>
          <a:bodyPr vert="horz" wrap="square" lIns="0" tIns="0" rIns="0" bIns="0" rtlCol="0" anchor="ctr"/>
          <a:lstStyle/>
          <a:p>
            <a:pPr>
              <a:lnSpc>
                <a:spcPts val="2200"/>
              </a:lnSpc>
            </a:pPr>
            <a:endParaRPr lang="en-US" sz="1600" dirty="0"/>
          </a:p>
        </p:txBody>
      </p:sp>
      <p:sp>
        <p:nvSpPr>
          <p:cNvPr id="7" name="Text 4">
            <a:extLst>
              <a:ext uri="{FF2B5EF4-FFF2-40B4-BE49-F238E27FC236}">
                <a16:creationId xmlns:a16="http://schemas.microsoft.com/office/drawing/2014/main" id="{DBAB7320-F658-A4D3-5A78-2C1BA07F18E7}"/>
              </a:ext>
            </a:extLst>
          </p:cNvPr>
          <p:cNvSpPr/>
          <p:nvPr/>
        </p:nvSpPr>
        <p:spPr>
          <a:xfrm>
            <a:off x="1015589" y="1524000"/>
            <a:ext cx="8907900" cy="840149"/>
          </a:xfrm>
          <a:prstGeom prst="rect">
            <a:avLst/>
          </a:prstGeom>
          <a:noFill/>
          <a:ln/>
        </p:spPr>
        <p:txBody>
          <a:bodyPr vert="horz" wrap="square" lIns="0" tIns="0" rIns="0" bIns="0" rtlCol="0" anchor="ctr"/>
          <a:lstStyle/>
          <a:p>
            <a:pPr algn="l">
              <a:lnSpc>
                <a:spcPct val="150000"/>
              </a:lnSpc>
              <a:spcBef>
                <a:spcPts val="600"/>
              </a:spcBef>
              <a:spcAft>
                <a:spcPts val="1200"/>
              </a:spcAft>
            </a:pPr>
            <a:r>
              <a:rPr lang="zh-CN" altLang="en-US" sz="2000" b="0" i="0" dirty="0">
                <a:solidFill>
                  <a:srgbClr val="4D4D4D"/>
                </a:solidFill>
                <a:effectLst/>
                <a:latin typeface="微软雅黑" panose="020B0503020204020204" pitchFamily="34" charset="-122"/>
                <a:ea typeface="微软雅黑" panose="020B0503020204020204" pitchFamily="34" charset="-122"/>
              </a:rPr>
              <a:t>湖仓一体的表结构通常分为以下层级，以满足不同业务需求：</a:t>
            </a:r>
          </a:p>
        </p:txBody>
      </p:sp>
      <p:graphicFrame>
        <p:nvGraphicFramePr>
          <p:cNvPr id="2" name="表格 1">
            <a:extLst>
              <a:ext uri="{FF2B5EF4-FFF2-40B4-BE49-F238E27FC236}">
                <a16:creationId xmlns:a16="http://schemas.microsoft.com/office/drawing/2014/main" id="{D9C72F05-542C-CF0E-1DBD-839039FE6431}"/>
              </a:ext>
            </a:extLst>
          </p:cNvPr>
          <p:cNvGraphicFramePr>
            <a:graphicFrameLocks noGrp="1"/>
          </p:cNvGraphicFramePr>
          <p:nvPr/>
        </p:nvGraphicFramePr>
        <p:xfrm>
          <a:off x="314794" y="2384222"/>
          <a:ext cx="11355049" cy="4262229"/>
        </p:xfrm>
        <a:graphic>
          <a:graphicData uri="http://schemas.openxmlformats.org/drawingml/2006/table">
            <a:tbl>
              <a:tblPr>
                <a:tableStyleId>{616DA210-FB5B-4158-B5E0-FEB733F419BA}</a:tableStyleId>
              </a:tblPr>
              <a:tblGrid>
                <a:gridCol w="3005527">
                  <a:extLst>
                    <a:ext uri="{9D8B030D-6E8A-4147-A177-3AD203B41FA5}">
                      <a16:colId xmlns:a16="http://schemas.microsoft.com/office/drawing/2014/main" val="3169932578"/>
                    </a:ext>
                  </a:extLst>
                </a:gridCol>
                <a:gridCol w="4961745">
                  <a:extLst>
                    <a:ext uri="{9D8B030D-6E8A-4147-A177-3AD203B41FA5}">
                      <a16:colId xmlns:a16="http://schemas.microsoft.com/office/drawing/2014/main" val="1095685070"/>
                    </a:ext>
                  </a:extLst>
                </a:gridCol>
                <a:gridCol w="3387777">
                  <a:extLst>
                    <a:ext uri="{9D8B030D-6E8A-4147-A177-3AD203B41FA5}">
                      <a16:colId xmlns:a16="http://schemas.microsoft.com/office/drawing/2014/main" val="3271009699"/>
                    </a:ext>
                  </a:extLst>
                </a:gridCol>
              </a:tblGrid>
              <a:tr h="389757">
                <a:tc>
                  <a:txBody>
                    <a:bodyPr/>
                    <a:lstStyle/>
                    <a:p>
                      <a:pPr algn="ctr" fontAlgn="ctr"/>
                      <a:r>
                        <a:rPr lang="zh-CN" altLang="en-US" sz="1800" b="1" dirty="0">
                          <a:effectLst/>
                        </a:rPr>
                        <a:t>层级​​</a:t>
                      </a:r>
                      <a:endParaRPr lang="zh-CN" altLang="en-US" sz="1800" b="1" dirty="0">
                        <a:effectLst/>
                        <a:latin typeface="PingFang SC"/>
                      </a:endParaRPr>
                    </a:p>
                  </a:txBody>
                  <a:tcPr marL="85825" marR="85825" marT="64369" marB="64369" anchor="ctr"/>
                </a:tc>
                <a:tc>
                  <a:txBody>
                    <a:bodyPr/>
                    <a:lstStyle/>
                    <a:p>
                      <a:pPr algn="ctr" fontAlgn="ctr"/>
                      <a:r>
                        <a:rPr lang="zh-CN" altLang="en-US" sz="1800" b="1">
                          <a:effectLst/>
                        </a:rPr>
                        <a:t>​​功能​​</a:t>
                      </a:r>
                      <a:endParaRPr lang="zh-CN" altLang="en-US" sz="1800" b="1">
                        <a:effectLst/>
                        <a:latin typeface="PingFang SC"/>
                      </a:endParaRPr>
                    </a:p>
                  </a:txBody>
                  <a:tcPr marL="85825" marR="85825" marT="64369" marB="64369" anchor="ctr"/>
                </a:tc>
                <a:tc>
                  <a:txBody>
                    <a:bodyPr/>
                    <a:lstStyle/>
                    <a:p>
                      <a:pPr algn="ctr" fontAlgn="ctr"/>
                      <a:r>
                        <a:rPr lang="zh-CN" altLang="en-US" sz="1800" b="1">
                          <a:effectLst/>
                        </a:rPr>
                        <a:t>​​存储格式​​</a:t>
                      </a:r>
                      <a:endParaRPr lang="zh-CN" altLang="en-US" sz="1800" b="1">
                        <a:effectLst/>
                        <a:latin typeface="PingFang SC"/>
                      </a:endParaRPr>
                    </a:p>
                  </a:txBody>
                  <a:tcPr marL="85825" marR="85825" marT="64369" marB="64369" anchor="ctr"/>
                </a:tc>
                <a:extLst>
                  <a:ext uri="{0D108BD9-81ED-4DB2-BD59-A6C34878D82A}">
                    <a16:rowId xmlns:a16="http://schemas.microsoft.com/office/drawing/2014/main" val="4227530353"/>
                  </a:ext>
                </a:extLst>
              </a:tr>
              <a:tr h="1020813">
                <a:tc>
                  <a:txBody>
                    <a:bodyPr/>
                    <a:lstStyle/>
                    <a:p>
                      <a:pPr algn="ctr" fontAlgn="ctr"/>
                      <a:r>
                        <a:rPr lang="zh-CN" altLang="en-US" sz="1800" b="0" dirty="0">
                          <a:effectLst/>
                        </a:rPr>
                        <a:t>​</a:t>
                      </a:r>
                      <a:r>
                        <a:rPr lang="zh-CN" altLang="en-US" sz="1800" b="1" dirty="0">
                          <a:effectLst/>
                        </a:rPr>
                        <a:t>​原始层（</a:t>
                      </a:r>
                      <a:r>
                        <a:rPr lang="en-US" sz="1800" b="1" dirty="0">
                          <a:effectLst/>
                        </a:rPr>
                        <a:t>Raw）​</a:t>
                      </a:r>
                      <a:r>
                        <a:rPr lang="en-US" sz="1800" b="0" dirty="0">
                          <a:effectLst/>
                        </a:rPr>
                        <a:t>​</a:t>
                      </a:r>
                      <a:endParaRPr lang="en-US" sz="1800" b="0" dirty="0">
                        <a:effectLst/>
                        <a:latin typeface="PingFang SC"/>
                      </a:endParaRPr>
                    </a:p>
                  </a:txBody>
                  <a:tcPr marL="85825" marR="85825" marT="64369" marB="64369" anchor="ctr"/>
                </a:tc>
                <a:tc>
                  <a:txBody>
                    <a:bodyPr/>
                    <a:lstStyle/>
                    <a:p>
                      <a:pPr algn="ctr" fontAlgn="ctr"/>
                      <a:r>
                        <a:rPr lang="zh-CN" altLang="en-US" sz="1800" b="0" dirty="0">
                          <a:effectLst/>
                        </a:rPr>
                        <a:t>存储原始数据（结构化</a:t>
                      </a:r>
                      <a:r>
                        <a:rPr lang="en-US" altLang="zh-CN" sz="1800" b="0" dirty="0">
                          <a:effectLst/>
                        </a:rPr>
                        <a:t>/</a:t>
                      </a:r>
                      <a:r>
                        <a:rPr lang="zh-CN" altLang="en-US" sz="1800" b="0" dirty="0">
                          <a:effectLst/>
                        </a:rPr>
                        <a:t>半结构化</a:t>
                      </a:r>
                      <a:r>
                        <a:rPr lang="en-US" altLang="zh-CN" sz="1800" b="0" dirty="0">
                          <a:effectLst/>
                        </a:rPr>
                        <a:t>/</a:t>
                      </a:r>
                      <a:r>
                        <a:rPr lang="zh-CN" altLang="en-US" sz="1800" b="0" dirty="0">
                          <a:effectLst/>
                        </a:rPr>
                        <a:t>非结构化），保留数据的原始状态，支持快速写入。</a:t>
                      </a:r>
                      <a:endParaRPr lang="zh-CN" altLang="en-US" sz="1800" b="0" dirty="0">
                        <a:effectLst/>
                        <a:latin typeface="PingFang SC"/>
                      </a:endParaRPr>
                    </a:p>
                  </a:txBody>
                  <a:tcPr marL="85825" marR="85825" marT="64369" marB="64369" anchor="ctr"/>
                </a:tc>
                <a:tc>
                  <a:txBody>
                    <a:bodyPr/>
                    <a:lstStyle/>
                    <a:p>
                      <a:pPr algn="ctr" fontAlgn="ctr"/>
                      <a:r>
                        <a:rPr lang="en-US" sz="1800" b="0">
                          <a:effectLst/>
                        </a:rPr>
                        <a:t>Parquet、JSON、CSV、Avro</a:t>
                      </a:r>
                      <a:endParaRPr lang="en-US" sz="1800" b="0">
                        <a:effectLst/>
                        <a:latin typeface="PingFang SC"/>
                      </a:endParaRPr>
                    </a:p>
                  </a:txBody>
                  <a:tcPr marL="85825" marR="85825" marT="64369" marB="64369" anchor="ctr"/>
                </a:tc>
                <a:extLst>
                  <a:ext uri="{0D108BD9-81ED-4DB2-BD59-A6C34878D82A}">
                    <a16:rowId xmlns:a16="http://schemas.microsoft.com/office/drawing/2014/main" val="1111085522"/>
                  </a:ext>
                </a:extLst>
              </a:tr>
              <a:tr h="1020813">
                <a:tc>
                  <a:txBody>
                    <a:bodyPr/>
                    <a:lstStyle/>
                    <a:p>
                      <a:pPr algn="ctr" fontAlgn="ctr"/>
                      <a:r>
                        <a:rPr lang="zh-CN" altLang="en-US" sz="1800" b="0">
                          <a:effectLst/>
                        </a:rPr>
                        <a:t>​</a:t>
                      </a:r>
                      <a:r>
                        <a:rPr lang="zh-CN" altLang="en-US" sz="1800" b="1">
                          <a:effectLst/>
                        </a:rPr>
                        <a:t>​清洗层（</a:t>
                      </a:r>
                      <a:r>
                        <a:rPr lang="en-US" sz="1800" b="1">
                          <a:effectLst/>
                        </a:rPr>
                        <a:t>Cleansed）​</a:t>
                      </a:r>
                      <a:r>
                        <a:rPr lang="en-US" sz="1800" b="0">
                          <a:effectLst/>
                        </a:rPr>
                        <a:t>​</a:t>
                      </a:r>
                      <a:endParaRPr lang="en-US" sz="1800" b="0">
                        <a:effectLst/>
                        <a:latin typeface="PingFang SC"/>
                      </a:endParaRPr>
                    </a:p>
                  </a:txBody>
                  <a:tcPr marL="85825" marR="85825" marT="64369" marB="64369" anchor="ctr"/>
                </a:tc>
                <a:tc>
                  <a:txBody>
                    <a:bodyPr/>
                    <a:lstStyle/>
                    <a:p>
                      <a:pPr algn="ctr" fontAlgn="ctr"/>
                      <a:r>
                        <a:rPr lang="zh-CN" altLang="en-US" sz="1800" b="0" dirty="0">
                          <a:effectLst/>
                        </a:rPr>
                        <a:t>对原始数据进行清洗、标准化、分区处理，形成结构化数据，适合后续分析。</a:t>
                      </a:r>
                      <a:endParaRPr lang="zh-CN" altLang="en-US" sz="1800" b="0" dirty="0">
                        <a:effectLst/>
                        <a:latin typeface="PingFang SC"/>
                      </a:endParaRPr>
                    </a:p>
                  </a:txBody>
                  <a:tcPr marL="85825" marR="85825" marT="64369" marB="64369" anchor="ctr"/>
                </a:tc>
                <a:tc>
                  <a:txBody>
                    <a:bodyPr/>
                    <a:lstStyle/>
                    <a:p>
                      <a:pPr algn="ctr" fontAlgn="ctr"/>
                      <a:r>
                        <a:rPr lang="en-US" sz="1800" b="0">
                          <a:effectLst/>
                        </a:rPr>
                        <a:t>Delta Lake、Iceberg、Hudi</a:t>
                      </a:r>
                      <a:endParaRPr lang="en-US" sz="1800" b="0">
                        <a:effectLst/>
                        <a:latin typeface="PingFang SC"/>
                      </a:endParaRPr>
                    </a:p>
                  </a:txBody>
                  <a:tcPr marL="85825" marR="85825" marT="64369" marB="64369" anchor="ctr"/>
                </a:tc>
                <a:extLst>
                  <a:ext uri="{0D108BD9-81ED-4DB2-BD59-A6C34878D82A}">
                    <a16:rowId xmlns:a16="http://schemas.microsoft.com/office/drawing/2014/main" val="3405227849"/>
                  </a:ext>
                </a:extLst>
              </a:tr>
              <a:tr h="796732">
                <a:tc>
                  <a:txBody>
                    <a:bodyPr/>
                    <a:lstStyle/>
                    <a:p>
                      <a:pPr algn="ctr" fontAlgn="ctr"/>
                      <a:r>
                        <a:rPr lang="zh-CN" altLang="en-US" sz="1800" b="0">
                          <a:effectLst/>
                        </a:rPr>
                        <a:t>​</a:t>
                      </a:r>
                      <a:r>
                        <a:rPr lang="zh-CN" altLang="en-US" sz="1800" b="1">
                          <a:effectLst/>
                        </a:rPr>
                        <a:t>​聚合层（</a:t>
                      </a:r>
                      <a:r>
                        <a:rPr lang="en-US" sz="1800" b="1">
                          <a:effectLst/>
                        </a:rPr>
                        <a:t>Aggregated）​</a:t>
                      </a:r>
                      <a:r>
                        <a:rPr lang="en-US" sz="1800" b="0">
                          <a:effectLst/>
                        </a:rPr>
                        <a:t>​</a:t>
                      </a:r>
                      <a:endParaRPr lang="en-US" sz="1800" b="0">
                        <a:effectLst/>
                        <a:latin typeface="PingFang SC"/>
                      </a:endParaRPr>
                    </a:p>
                  </a:txBody>
                  <a:tcPr marL="85825" marR="85825" marT="64369" marB="64369" anchor="ctr"/>
                </a:tc>
                <a:tc>
                  <a:txBody>
                    <a:bodyPr/>
                    <a:lstStyle/>
                    <a:p>
                      <a:pPr algn="ctr" fontAlgn="ctr"/>
                      <a:r>
                        <a:rPr lang="zh-CN" altLang="en-US" sz="1800" b="0" dirty="0">
                          <a:effectLst/>
                        </a:rPr>
                        <a:t>基于清洗层构建聚合表、</a:t>
                      </a:r>
                      <a:r>
                        <a:rPr lang="en-US" altLang="zh-CN" sz="1800" b="0" dirty="0">
                          <a:effectLst/>
                        </a:rPr>
                        <a:t>Cube</a:t>
                      </a:r>
                      <a:r>
                        <a:rPr lang="zh-CN" altLang="en-US" sz="1800" b="0" dirty="0">
                          <a:effectLst/>
                        </a:rPr>
                        <a:t>或物化视图，支持高效查询和分析。</a:t>
                      </a:r>
                      <a:endParaRPr lang="zh-CN" altLang="en-US" sz="1800" b="0" dirty="0">
                        <a:effectLst/>
                        <a:latin typeface="PingFang SC"/>
                      </a:endParaRPr>
                    </a:p>
                  </a:txBody>
                  <a:tcPr marL="85825" marR="85825" marT="64369" marB="64369" anchor="ctr"/>
                </a:tc>
                <a:tc>
                  <a:txBody>
                    <a:bodyPr/>
                    <a:lstStyle/>
                    <a:p>
                      <a:pPr algn="ctr" fontAlgn="ctr"/>
                      <a:r>
                        <a:rPr lang="en-US" sz="1800" b="0">
                          <a:effectLst/>
                        </a:rPr>
                        <a:t>Parquet（</a:t>
                      </a:r>
                      <a:r>
                        <a:rPr lang="zh-CN" altLang="en-US" sz="1800" b="0">
                          <a:effectLst/>
                        </a:rPr>
                        <a:t>列式存储）、</a:t>
                      </a:r>
                      <a:r>
                        <a:rPr lang="en-US" sz="1800" b="0">
                          <a:effectLst/>
                        </a:rPr>
                        <a:t>ORC</a:t>
                      </a:r>
                      <a:endParaRPr lang="en-US" sz="1800" b="0">
                        <a:effectLst/>
                        <a:latin typeface="PingFang SC"/>
                      </a:endParaRPr>
                    </a:p>
                  </a:txBody>
                  <a:tcPr marL="85825" marR="85825" marT="64369" marB="64369" anchor="ctr"/>
                </a:tc>
                <a:extLst>
                  <a:ext uri="{0D108BD9-81ED-4DB2-BD59-A6C34878D82A}">
                    <a16:rowId xmlns:a16="http://schemas.microsoft.com/office/drawing/2014/main" val="3951014822"/>
                  </a:ext>
                </a:extLst>
              </a:tr>
              <a:tr h="1020813">
                <a:tc>
                  <a:txBody>
                    <a:bodyPr/>
                    <a:lstStyle/>
                    <a:p>
                      <a:pPr algn="ctr" fontAlgn="ctr"/>
                      <a:r>
                        <a:rPr lang="zh-CN" altLang="en-US" sz="1800" b="0">
                          <a:effectLst/>
                        </a:rPr>
                        <a:t>​</a:t>
                      </a:r>
                      <a:r>
                        <a:rPr lang="zh-CN" altLang="en-US" sz="1800" b="1">
                          <a:effectLst/>
                        </a:rPr>
                        <a:t>​服务层（</a:t>
                      </a:r>
                      <a:r>
                        <a:rPr lang="en-US" sz="1800" b="1">
                          <a:effectLst/>
                        </a:rPr>
                        <a:t>Serving）​</a:t>
                      </a:r>
                      <a:r>
                        <a:rPr lang="en-US" sz="1800" b="0">
                          <a:effectLst/>
                        </a:rPr>
                        <a:t>​</a:t>
                      </a:r>
                      <a:endParaRPr lang="en-US" sz="1800" b="0">
                        <a:effectLst/>
                        <a:latin typeface="PingFang SC"/>
                      </a:endParaRPr>
                    </a:p>
                  </a:txBody>
                  <a:tcPr marL="85825" marR="85825" marT="64369" marB="64369" anchor="ctr"/>
                </a:tc>
                <a:tc>
                  <a:txBody>
                    <a:bodyPr/>
                    <a:lstStyle/>
                    <a:p>
                      <a:pPr algn="ctr" fontAlgn="ctr"/>
                      <a:r>
                        <a:rPr lang="zh-CN" altLang="en-US" sz="1800" b="0">
                          <a:effectLst/>
                        </a:rPr>
                        <a:t>对外提供低延迟查询的优化表（如</a:t>
                      </a:r>
                      <a:r>
                        <a:rPr lang="en-US" altLang="zh-CN" sz="1800" b="0">
                          <a:effectLst/>
                        </a:rPr>
                        <a:t>OLAP</a:t>
                      </a:r>
                      <a:r>
                        <a:rPr lang="zh-CN" altLang="en-US" sz="1800" b="0">
                          <a:effectLst/>
                        </a:rPr>
                        <a:t>数据库中的表），或直接暴露给</a:t>
                      </a:r>
                      <a:r>
                        <a:rPr lang="en-US" altLang="zh-CN" sz="1800" b="0">
                          <a:effectLst/>
                        </a:rPr>
                        <a:t>BI</a:t>
                      </a:r>
                      <a:r>
                        <a:rPr lang="zh-CN" altLang="en-US" sz="1800" b="0">
                          <a:effectLst/>
                        </a:rPr>
                        <a:t>工具。</a:t>
                      </a:r>
                      <a:endParaRPr lang="zh-CN" altLang="en-US" sz="1800" b="0">
                        <a:effectLst/>
                        <a:latin typeface="PingFang SC"/>
                      </a:endParaRPr>
                    </a:p>
                  </a:txBody>
                  <a:tcPr marL="85825" marR="85825" marT="64369" marB="64369" anchor="ctr"/>
                </a:tc>
                <a:tc>
                  <a:txBody>
                    <a:bodyPr/>
                    <a:lstStyle/>
                    <a:p>
                      <a:pPr algn="ctr" fontAlgn="ctr"/>
                      <a:r>
                        <a:rPr lang="en-US" sz="1800" b="0" dirty="0" err="1">
                          <a:effectLst/>
                        </a:rPr>
                        <a:t>ClickHouse、StarRocks、Doris</a:t>
                      </a:r>
                      <a:endParaRPr lang="en-US" sz="1800" b="0" dirty="0">
                        <a:effectLst/>
                        <a:latin typeface="PingFang SC"/>
                      </a:endParaRPr>
                    </a:p>
                  </a:txBody>
                  <a:tcPr marL="85825" marR="85825" marT="64369" marB="64369" anchor="ctr"/>
                </a:tc>
                <a:extLst>
                  <a:ext uri="{0D108BD9-81ED-4DB2-BD59-A6C34878D82A}">
                    <a16:rowId xmlns:a16="http://schemas.microsoft.com/office/drawing/2014/main" val="472686710"/>
                  </a:ext>
                </a:extLst>
              </a:tr>
            </a:tbl>
          </a:graphicData>
        </a:graphic>
      </p:graphicFrame>
    </p:spTree>
    <p:extLst>
      <p:ext uri="{BB962C8B-B14F-4D97-AF65-F5344CB8AC3E}">
        <p14:creationId xmlns:p14="http://schemas.microsoft.com/office/powerpoint/2010/main" val="4036983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02BB7-E089-5F4B-E1BA-0914DFB3AF37}"/>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A62F04C8-88F8-927E-7375-F3363EF8A1DD}"/>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9BCA7FFB-17A3-B609-10E9-BB5BC78216FD}"/>
              </a:ext>
            </a:extLst>
          </p:cNvPr>
          <p:cNvSpPr/>
          <p:nvPr/>
        </p:nvSpPr>
        <p:spPr>
          <a:xfrm>
            <a:off x="762000" y="566844"/>
            <a:ext cx="10668000" cy="533400"/>
          </a:xfrm>
          <a:prstGeom prst="rect">
            <a:avLst/>
          </a:prstGeom>
          <a:noFill/>
          <a:ln/>
        </p:spPr>
        <p:txBody>
          <a:bodyPr vert="horz" wrap="square" lIns="0" tIns="0" rIns="0" bIns="0" rtlCol="0" anchor="ctr"/>
          <a:lstStyle/>
          <a:p>
            <a:pPr>
              <a:lnSpc>
                <a:spcPts val="4200"/>
              </a:lnSpc>
            </a:pPr>
            <a:r>
              <a:rPr lang="zh-CN" altLang="en-US" sz="3000" b="1" dirty="0">
                <a:solidFill>
                  <a:srgbClr val="000000"/>
                </a:solidFill>
                <a:latin typeface="Microsoft YaHei" pitchFamily="34" charset="0"/>
                <a:ea typeface="Microsoft YaHei" pitchFamily="34" charset="-122"/>
              </a:rPr>
              <a:t>表结构关键技术特性</a:t>
            </a:r>
            <a:r>
              <a:rPr lang="zh-CN" altLang="en-US" sz="3200" dirty="0">
                <a:solidFill>
                  <a:srgbClr val="262626"/>
                </a:solidFill>
                <a:latin typeface="Microsoft YaHei Light" panose="020B0502040204020203" pitchFamily="34" charset="-122"/>
                <a:ea typeface="Microsoft YaHei Light" panose="020B0502040204020203" pitchFamily="34" charset="-122"/>
              </a:rPr>
              <a:t>​</a:t>
            </a:r>
            <a:endParaRPr lang="en-US" sz="3000" dirty="0">
              <a:latin typeface="微软雅黑" panose="020B0503020204020204" pitchFamily="34" charset="-122"/>
              <a:ea typeface="微软雅黑" panose="020B0503020204020204" pitchFamily="34" charset="-122"/>
            </a:endParaRPr>
          </a:p>
        </p:txBody>
      </p:sp>
      <p:sp>
        <p:nvSpPr>
          <p:cNvPr id="5" name="Text 2">
            <a:extLst>
              <a:ext uri="{FF2B5EF4-FFF2-40B4-BE49-F238E27FC236}">
                <a16:creationId xmlns:a16="http://schemas.microsoft.com/office/drawing/2014/main" id="{2E656909-31C6-3950-9611-B5EC3D6FFBDA}"/>
              </a:ext>
            </a:extLst>
          </p:cNvPr>
          <p:cNvSpPr/>
          <p:nvPr/>
        </p:nvSpPr>
        <p:spPr>
          <a:xfrm>
            <a:off x="762000" y="990600"/>
            <a:ext cx="10668000" cy="279400"/>
          </a:xfrm>
          <a:prstGeom prst="rect">
            <a:avLst/>
          </a:prstGeom>
          <a:noFill/>
          <a:ln/>
        </p:spPr>
        <p:txBody>
          <a:bodyPr vert="horz" wrap="square" lIns="0" tIns="0" rIns="0" bIns="0" rtlCol="0" anchor="ctr"/>
          <a:lstStyle/>
          <a:p>
            <a:pPr>
              <a:lnSpc>
                <a:spcPts val="2200"/>
              </a:lnSpc>
            </a:pPr>
            <a:endParaRPr lang="en-US" sz="1600" dirty="0"/>
          </a:p>
        </p:txBody>
      </p:sp>
      <p:sp>
        <p:nvSpPr>
          <p:cNvPr id="2" name="Rectangle 1">
            <a:extLst>
              <a:ext uri="{FF2B5EF4-FFF2-40B4-BE49-F238E27FC236}">
                <a16:creationId xmlns:a16="http://schemas.microsoft.com/office/drawing/2014/main" id="{5F56D00B-52E2-EFA3-DE60-D6A27C65134D}"/>
              </a:ext>
            </a:extLst>
          </p:cNvPr>
          <p:cNvSpPr>
            <a:spLocks noChangeArrowheads="1"/>
          </p:cNvSpPr>
          <p:nvPr/>
        </p:nvSpPr>
        <p:spPr bwMode="auto">
          <a:xfrm>
            <a:off x="0" y="-147313"/>
            <a:ext cx="65" cy="294626"/>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F8DAF0F3-C263-3582-47AE-5E6B9FE53DB6}"/>
              </a:ext>
            </a:extLst>
          </p:cNvPr>
          <p:cNvSpPr txBox="1"/>
          <p:nvPr/>
        </p:nvSpPr>
        <p:spPr>
          <a:xfrm>
            <a:off x="495301" y="1693756"/>
            <a:ext cx="11201398" cy="48013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lang="zh-CN" altLang="zh-CN" sz="2000" b="1" dirty="0">
                <a:solidFill>
                  <a:srgbClr val="4D4D4D"/>
                </a:solidFill>
                <a:latin typeface="微软雅黑" panose="020B0503020204020204" pitchFamily="34" charset="-122"/>
                <a:ea typeface="微软雅黑" panose="020B0503020204020204" pitchFamily="34" charset="-122"/>
              </a:rPr>
              <a:t>​​统一元数据管理​​</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所有表的元数据（表名、字段、分区、存储路径）通过统一的元数据服务（如Hive Metastore、AWS Glue）管理。</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支持跨引擎（Spark、Trino、Flink）共享元数据，避免数据孤岛。</a:t>
            </a:r>
          </a:p>
          <a:p>
            <a:pPr eaLnBrk="0" fontAlgn="base" hangingPunct="0">
              <a:lnSpc>
                <a:spcPct val="150000"/>
              </a:lnSpc>
              <a:spcBef>
                <a:spcPct val="0"/>
              </a:spcBef>
              <a:spcAft>
                <a:spcPct val="0"/>
              </a:spcAft>
              <a:buFontTx/>
              <a:buAutoNum type="arabicPeriod"/>
            </a:pPr>
            <a:r>
              <a:rPr lang="zh-CN" altLang="zh-CN" sz="2000" b="1" dirty="0">
                <a:solidFill>
                  <a:srgbClr val="4D4D4D"/>
                </a:solidFill>
                <a:latin typeface="微软雅黑" panose="020B0503020204020204" pitchFamily="34" charset="-122"/>
                <a:ea typeface="微软雅黑" panose="020B0503020204020204" pitchFamily="34" charset="-122"/>
              </a:rPr>
              <a:t>​​多模态存储格式​​</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b="1" dirty="0">
                <a:solidFill>
                  <a:srgbClr val="4D4D4D"/>
                </a:solidFill>
                <a:latin typeface="微软雅黑" panose="020B0503020204020204" pitchFamily="34" charset="-122"/>
                <a:ea typeface="微软雅黑" panose="020B0503020204020204" pitchFamily="34" charset="-122"/>
              </a:rPr>
              <a:t>Delta Lake/Iceberg/Hudi</a:t>
            </a:r>
            <a:r>
              <a:rPr lang="zh-CN" altLang="zh-CN" sz="2000" dirty="0">
                <a:solidFill>
                  <a:srgbClr val="4D4D4D"/>
                </a:solidFill>
                <a:latin typeface="微软雅黑" panose="020B0503020204020204" pitchFamily="34" charset="-122"/>
                <a:ea typeface="微软雅黑" panose="020B0503020204020204" pitchFamily="34" charset="-122"/>
              </a:rPr>
              <a:t>​​：提供ACID事务、Schema演化（Schema Evolution）和时间旅行（Time Travel）功能。</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b="1" dirty="0">
                <a:solidFill>
                  <a:srgbClr val="4D4D4D"/>
                </a:solidFill>
                <a:latin typeface="微软雅黑" panose="020B0503020204020204" pitchFamily="34" charset="-122"/>
                <a:ea typeface="微软雅黑" panose="020B0503020204020204" pitchFamily="34" charset="-122"/>
              </a:rPr>
              <a:t>Parquet/ORC</a:t>
            </a:r>
            <a:r>
              <a:rPr lang="zh-CN" altLang="zh-CN" sz="2000" dirty="0">
                <a:solidFill>
                  <a:srgbClr val="4D4D4D"/>
                </a:solidFill>
                <a:latin typeface="微软雅黑" panose="020B0503020204020204" pitchFamily="34" charset="-122"/>
                <a:ea typeface="微软雅黑" panose="020B0503020204020204" pitchFamily="34" charset="-122"/>
              </a:rPr>
              <a:t>​​：列式存储，适合分析型查询。</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a:t>
            </a:r>
            <a:r>
              <a:rPr lang="zh-CN" altLang="zh-CN" sz="2000" b="1" dirty="0">
                <a:solidFill>
                  <a:srgbClr val="4D4D4D"/>
                </a:solidFill>
                <a:latin typeface="微软雅黑" panose="020B0503020204020204" pitchFamily="34" charset="-122"/>
                <a:ea typeface="微软雅黑" panose="020B0503020204020204" pitchFamily="34" charset="-122"/>
              </a:rPr>
              <a:t>JSON/CSV</a:t>
            </a:r>
            <a:r>
              <a:rPr lang="zh-CN" altLang="zh-CN" sz="2000" dirty="0">
                <a:solidFill>
                  <a:srgbClr val="4D4D4D"/>
                </a:solidFill>
                <a:latin typeface="微软雅黑" panose="020B0503020204020204" pitchFamily="34" charset="-122"/>
                <a:ea typeface="微软雅黑" panose="020B0503020204020204" pitchFamily="34" charset="-122"/>
              </a:rPr>
              <a:t>​​：保留原始数据，支持灵活读写。</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101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DB052-5579-61EE-EF88-D7A98748C012}"/>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603CFEE6-E08A-274E-25A2-7A52B3A2EB38}"/>
              </a:ext>
            </a:extLst>
          </p:cNvPr>
          <p:cNvPicPr>
            <a:picLocks noChangeAspect="1"/>
          </p:cNvPicPr>
          <p:nvPr/>
        </p:nvPicPr>
        <p:blipFill>
          <a:blip r:embed="rId3"/>
          <a:srcRect t="3571" b="3571"/>
          <a:stretch/>
        </p:blipFill>
        <p:spPr>
          <a:xfrm>
            <a:off x="0" y="0"/>
            <a:ext cx="12192000" cy="1651000"/>
          </a:xfrm>
          <a:prstGeom prst="rect">
            <a:avLst/>
          </a:prstGeom>
        </p:spPr>
      </p:pic>
      <p:sp>
        <p:nvSpPr>
          <p:cNvPr id="4" name="Text 1">
            <a:extLst>
              <a:ext uri="{FF2B5EF4-FFF2-40B4-BE49-F238E27FC236}">
                <a16:creationId xmlns:a16="http://schemas.microsoft.com/office/drawing/2014/main" id="{F80AE350-35E3-B817-A331-E75C1EB65A69}"/>
              </a:ext>
            </a:extLst>
          </p:cNvPr>
          <p:cNvSpPr/>
          <p:nvPr/>
        </p:nvSpPr>
        <p:spPr>
          <a:xfrm>
            <a:off x="762000" y="566844"/>
            <a:ext cx="10668000" cy="533400"/>
          </a:xfrm>
          <a:prstGeom prst="rect">
            <a:avLst/>
          </a:prstGeom>
          <a:noFill/>
          <a:ln/>
        </p:spPr>
        <p:txBody>
          <a:bodyPr vert="horz" wrap="square" lIns="0" tIns="0" rIns="0" bIns="0" rtlCol="0" anchor="ctr"/>
          <a:lstStyle/>
          <a:p>
            <a:pPr>
              <a:lnSpc>
                <a:spcPts val="4200"/>
              </a:lnSpc>
            </a:pPr>
            <a:r>
              <a:rPr lang="zh-CN" altLang="en-US" sz="3000" b="1" dirty="0">
                <a:solidFill>
                  <a:srgbClr val="000000"/>
                </a:solidFill>
                <a:latin typeface="Microsoft YaHei" pitchFamily="34" charset="0"/>
                <a:ea typeface="Microsoft YaHei" pitchFamily="34" charset="-122"/>
              </a:rPr>
              <a:t>表结构关键技术特性</a:t>
            </a:r>
            <a:r>
              <a:rPr lang="zh-CN" altLang="en-US" sz="3200" dirty="0">
                <a:solidFill>
                  <a:srgbClr val="262626"/>
                </a:solidFill>
                <a:latin typeface="Microsoft YaHei Light" panose="020B0502040204020203" pitchFamily="34" charset="-122"/>
                <a:ea typeface="Microsoft YaHei Light" panose="020B0502040204020203" pitchFamily="34" charset="-122"/>
              </a:rPr>
              <a:t>​</a:t>
            </a:r>
            <a:endParaRPr lang="en-US" sz="3000" dirty="0">
              <a:latin typeface="微软雅黑" panose="020B0503020204020204" pitchFamily="34" charset="-122"/>
              <a:ea typeface="微软雅黑" panose="020B0503020204020204" pitchFamily="34" charset="-122"/>
            </a:endParaRPr>
          </a:p>
        </p:txBody>
      </p:sp>
      <p:sp>
        <p:nvSpPr>
          <p:cNvPr id="5" name="Text 2">
            <a:extLst>
              <a:ext uri="{FF2B5EF4-FFF2-40B4-BE49-F238E27FC236}">
                <a16:creationId xmlns:a16="http://schemas.microsoft.com/office/drawing/2014/main" id="{E2366370-F017-FDA3-17C4-3250F07DCC5C}"/>
              </a:ext>
            </a:extLst>
          </p:cNvPr>
          <p:cNvSpPr/>
          <p:nvPr/>
        </p:nvSpPr>
        <p:spPr>
          <a:xfrm>
            <a:off x="762000" y="990600"/>
            <a:ext cx="10668000" cy="279400"/>
          </a:xfrm>
          <a:prstGeom prst="rect">
            <a:avLst/>
          </a:prstGeom>
          <a:noFill/>
          <a:ln/>
        </p:spPr>
        <p:txBody>
          <a:bodyPr vert="horz" wrap="square" lIns="0" tIns="0" rIns="0" bIns="0" rtlCol="0" anchor="ctr"/>
          <a:lstStyle/>
          <a:p>
            <a:pPr>
              <a:lnSpc>
                <a:spcPts val="2200"/>
              </a:lnSpc>
            </a:pPr>
            <a:endParaRPr lang="en-US" sz="1600" dirty="0"/>
          </a:p>
        </p:txBody>
      </p:sp>
      <p:sp>
        <p:nvSpPr>
          <p:cNvPr id="2" name="Rectangle 1">
            <a:extLst>
              <a:ext uri="{FF2B5EF4-FFF2-40B4-BE49-F238E27FC236}">
                <a16:creationId xmlns:a16="http://schemas.microsoft.com/office/drawing/2014/main" id="{7871D926-BD2B-938A-A773-54E3836C038B}"/>
              </a:ext>
            </a:extLst>
          </p:cNvPr>
          <p:cNvSpPr>
            <a:spLocks noChangeArrowheads="1"/>
          </p:cNvSpPr>
          <p:nvPr/>
        </p:nvSpPr>
        <p:spPr bwMode="auto">
          <a:xfrm>
            <a:off x="0" y="-147313"/>
            <a:ext cx="65" cy="294626"/>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文本框 9">
            <a:extLst>
              <a:ext uri="{FF2B5EF4-FFF2-40B4-BE49-F238E27FC236}">
                <a16:creationId xmlns:a16="http://schemas.microsoft.com/office/drawing/2014/main" id="{4B712A5A-56DD-7C01-993C-A92104969319}"/>
              </a:ext>
            </a:extLst>
          </p:cNvPr>
          <p:cNvSpPr txBox="1"/>
          <p:nvPr/>
        </p:nvSpPr>
        <p:spPr>
          <a:xfrm>
            <a:off x="762000" y="2293414"/>
            <a:ext cx="9872896" cy="2807948"/>
          </a:xfrm>
          <a:prstGeom prst="rect">
            <a:avLst/>
          </a:prstGeom>
          <a:noFill/>
        </p:spPr>
        <p:txBody>
          <a:bodyPr wrap="square">
            <a:spAutoFit/>
          </a:bodyPr>
          <a:lstStyle/>
          <a:p>
            <a:pPr marR="0" lvl="0" eaLnBrk="0" fontAlgn="base" hangingPunct="0">
              <a:lnSpc>
                <a:spcPct val="150000"/>
              </a:lnSpc>
              <a:spcBef>
                <a:spcPct val="0"/>
              </a:spcBef>
              <a:spcAft>
                <a:spcPct val="0"/>
              </a:spcAft>
              <a:buClrTx/>
              <a:buSzTx/>
              <a:tabLst/>
            </a:pPr>
            <a:r>
              <a:rPr lang="en-US" altLang="zh-CN" sz="2000" b="1" dirty="0">
                <a:solidFill>
                  <a:srgbClr val="4D4D4D"/>
                </a:solidFill>
                <a:latin typeface="微软雅黑" panose="020B0503020204020204" pitchFamily="34" charset="-122"/>
                <a:ea typeface="微软雅黑" panose="020B0503020204020204" pitchFamily="34" charset="-122"/>
              </a:rPr>
              <a:t>3. </a:t>
            </a:r>
            <a:r>
              <a:rPr lang="zh-CN" altLang="zh-CN" sz="2000" b="1" dirty="0">
                <a:solidFill>
                  <a:srgbClr val="4D4D4D"/>
                </a:solidFill>
                <a:latin typeface="微软雅黑" panose="020B0503020204020204" pitchFamily="34" charset="-122"/>
                <a:ea typeface="微软雅黑" panose="020B0503020204020204" pitchFamily="34" charset="-122"/>
              </a:rPr>
              <a:t>分区与分桶​​</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​​分区​​：按时间（date）、地域（region）等字段分区，提升查询效率。</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​​分桶​​：对高频查询字段（如user_id）分桶，加速JOIN和聚合。</a:t>
            </a:r>
          </a:p>
          <a:p>
            <a:pPr eaLnBrk="0" fontAlgn="base" hangingPunct="0">
              <a:lnSpc>
                <a:spcPct val="150000"/>
              </a:lnSpc>
              <a:spcBef>
                <a:spcPct val="0"/>
              </a:spcBef>
              <a:spcAft>
                <a:spcPct val="0"/>
              </a:spcAft>
            </a:pPr>
            <a:r>
              <a:rPr lang="en-US" altLang="zh-CN" sz="2000" b="1" dirty="0">
                <a:solidFill>
                  <a:srgbClr val="4D4D4D"/>
                </a:solidFill>
                <a:latin typeface="微软雅黑" panose="020B0503020204020204" pitchFamily="34" charset="-122"/>
                <a:ea typeface="微软雅黑" panose="020B0503020204020204" pitchFamily="34" charset="-122"/>
              </a:rPr>
              <a:t>4. </a:t>
            </a:r>
            <a:r>
              <a:rPr lang="zh-CN" altLang="zh-CN" sz="2000" b="1" dirty="0">
                <a:solidFill>
                  <a:srgbClr val="4D4D4D"/>
                </a:solidFill>
                <a:latin typeface="微软雅黑" panose="020B0503020204020204" pitchFamily="34" charset="-122"/>
                <a:ea typeface="微软雅黑" panose="020B0503020204020204" pitchFamily="34" charset="-122"/>
              </a:rPr>
              <a:t>Schema管理​​</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支持动态Schema（适用于日志类数据）和严格Schema（适用于交易类数据）。</a:t>
            </a:r>
          </a:p>
          <a:p>
            <a:pPr marL="457200" marR="0" lvl="1" indent="0" algn="l" defTabSz="914400" rtl="0" eaLnBrk="0" fontAlgn="base" latinLnBrk="0" hangingPunct="0">
              <a:lnSpc>
                <a:spcPct val="150000"/>
              </a:lnSpc>
              <a:spcBef>
                <a:spcPct val="0"/>
              </a:spcBef>
              <a:spcAft>
                <a:spcPct val="0"/>
              </a:spcAft>
              <a:buClrTx/>
              <a:buSzTx/>
              <a:buFontTx/>
              <a:buChar char="•"/>
              <a:tabLst/>
            </a:pPr>
            <a:r>
              <a:rPr lang="zh-CN" altLang="zh-CN" sz="2000" dirty="0">
                <a:solidFill>
                  <a:srgbClr val="4D4D4D"/>
                </a:solidFill>
                <a:latin typeface="微软雅黑" panose="020B0503020204020204" pitchFamily="34" charset="-122"/>
                <a:ea typeface="微软雅黑" panose="020B0503020204020204" pitchFamily="34" charset="-122"/>
              </a:rPr>
              <a:t>通过Schema约束（如字段类型、非空校验）保障数据质量。</a:t>
            </a:r>
          </a:p>
        </p:txBody>
      </p:sp>
    </p:spTree>
    <p:extLst>
      <p:ext uri="{BB962C8B-B14F-4D97-AF65-F5344CB8AC3E}">
        <p14:creationId xmlns:p14="http://schemas.microsoft.com/office/powerpoint/2010/main" val="33691159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TotalTime>
  <Words>3783</Words>
  <Application>Microsoft Office PowerPoint</Application>
  <PresentationFormat>宽屏</PresentationFormat>
  <Paragraphs>339</Paragraphs>
  <Slides>30</Slides>
  <Notes>30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inherit</vt:lpstr>
      <vt:lpstr>Microsoft YaHei Light</vt:lpstr>
      <vt:lpstr>PingFang SC</vt:lpstr>
      <vt:lpstr>等线</vt:lpstr>
      <vt:lpstr>等线 Light</vt:lpstr>
      <vt:lpstr>微软雅黑</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beijiamiao@gmail.com</dc:creator>
  <cp:lastModifiedBy>beijiamiao@gmail.com</cp:lastModifiedBy>
  <cp:revision>4</cp:revision>
  <dcterms:created xsi:type="dcterms:W3CDTF">2025-05-18T06:55:39Z</dcterms:created>
  <dcterms:modified xsi:type="dcterms:W3CDTF">2025-05-21T16:55:20Z</dcterms:modified>
</cp:coreProperties>
</file>