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7" r:id="rId2"/>
    <p:sldId id="258" r:id="rId3"/>
    <p:sldId id="259" r:id="rId4"/>
    <p:sldId id="302" r:id="rId5"/>
    <p:sldId id="303" r:id="rId6"/>
    <p:sldId id="283" r:id="rId7"/>
    <p:sldId id="301" r:id="rId8"/>
    <p:sldId id="260" r:id="rId9"/>
    <p:sldId id="277" r:id="rId10"/>
    <p:sldId id="275" r:id="rId11"/>
    <p:sldId id="288" r:id="rId12"/>
    <p:sldId id="291" r:id="rId13"/>
    <p:sldId id="304" r:id="rId14"/>
    <p:sldId id="289" r:id="rId15"/>
    <p:sldId id="305" r:id="rId16"/>
    <p:sldId id="276" r:id="rId17"/>
    <p:sldId id="306" r:id="rId18"/>
    <p:sldId id="298" r:id="rId19"/>
    <p:sldId id="293" r:id="rId20"/>
    <p:sldId id="307" r:id="rId21"/>
    <p:sldId id="284" r:id="rId22"/>
    <p:sldId id="308" r:id="rId23"/>
    <p:sldId id="309" r:id="rId24"/>
    <p:sldId id="311" r:id="rId25"/>
    <p:sldId id="310" r:id="rId26"/>
    <p:sldId id="312" r:id="rId27"/>
    <p:sldId id="313" r:id="rId28"/>
    <p:sldId id="314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2" autoAdjust="0"/>
    <p:restoredTop sz="94660"/>
  </p:normalViewPr>
  <p:slideViewPr>
    <p:cSldViewPr snapToGrid="0">
      <p:cViewPr varScale="1">
        <p:scale>
          <a:sx n="85" d="100"/>
          <a:sy n="85" d="100"/>
        </p:scale>
        <p:origin x="56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E1DBE2-7EB2-49C9-ADEB-B5B07348AE68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175D6-06C9-4D6A-B02B-93044DD42F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412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08A63-61A9-F655-6D34-60CCF5DBD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9E328B-ADD8-6DCA-6F7F-FF00E97C8A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CF02F6-C960-B644-9C03-9DE703627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65610-E212-8B0C-F4E2-5FEEDE7B37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765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DF427-82D4-5ACA-F4E4-0206A8408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666ED-1449-C93C-48CC-6810BF4B6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567804-B289-0DED-5265-1FAD3FAEA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D6619-0B66-5435-C814-4C687C60D1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5726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F7B77-589E-98B3-3FD2-208C9BA5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7587C2-7727-CC48-1DC9-AB468A8D3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AB7652-016A-EA66-775A-6B8071CD0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E826A-F08A-4C23-E136-80B4C88AE8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127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70B43-6652-9252-F42E-1541EDA26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EA238-9B98-B2EF-68EF-95149EFE2A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ACDCBC-7286-7414-947B-A5064ACA8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FCDED-2553-E87A-8651-F304276DD9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2362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AE7D6-FE44-55C2-1786-8E3B9432E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731244-DB1F-7FE6-6206-FAAA1C3C6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8606C3-E256-0061-76C1-FE7B9B3E5C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9CCDF-3712-3631-D749-7B1B6F3198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1895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35775-483E-3627-CE09-B0F477EA8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B81F6F-81C8-31C5-3784-ABD1D68FDA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654739-DB4A-8F51-2C2F-D80358D3D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0CD68-2681-DBDE-A0D0-54992AE415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608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257B0-0FBA-CAE5-0EFE-26ABE466E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32A260-24E0-3001-FDB3-4F01A26B2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09038C-5A78-81C3-1179-D1A589AE22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4CF19-C782-FADB-2C32-F97D12E80D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8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D8F9C-EE60-E21B-BA38-9F5809979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71647C-5D9E-AA66-E351-78588B4B2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A28F00-0658-6C31-6E85-118068A4B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468E7-E0E4-1EEF-F043-19B4025798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9594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8BE5D-A2BF-40EA-E445-9610BD6D6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64C5B3-6678-A5D9-EA39-D4F13E0E5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458493-CE77-E4B7-52CD-B5776C0EA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B2E04-B9B1-86FB-9A86-B75942C5BA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1667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0047A-44FA-1A92-A0F6-1A11A64FE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21A8B8-C4D3-98D5-CCFA-0CF9B5756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E2F2F3-3946-2034-9819-BAAF02D56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24C9B-D586-341C-F704-93A2B5B1FE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885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1853D-4CCE-E775-4F1E-64AEFD03B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C24E7B-9047-CAB7-471D-3B50147BD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F7902C-BF19-36B9-2E0B-574EA8C18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D1C68-48A6-3BB8-986E-AF2E342540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8082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D4391-358A-3DDC-C0E7-9811BDFA4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241C0-FD01-C8AA-96CE-64BCD0F416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103CB-83E7-6DFC-6D41-E41F4D41B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DDDB7-6891-0D7F-F04E-4FBE1BCAC7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9547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385A8-9499-450A-D496-0E84B8208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16F01F-2680-5308-FB3C-CCC43E971E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4711F5-AAF4-3D7C-AC7B-E5B475013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F01A8-A088-8606-C42D-4A7C892DBD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264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018D5-E78C-4A69-8D31-3987D0FB9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AC13EA-F990-FED9-D799-A786CE1F4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F24680-04D3-DF47-4F82-10ACD2370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747F2-7AA2-20B8-F05D-FE73402B70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8961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F8AA8-E919-F3F2-260F-CCC8098B5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EC2B7B-68A9-B37E-6823-8F0AF21E4A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204F2-FD92-1C4F-5931-CD78EB95F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50947-B656-9898-50CA-4B960ED9E3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7486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9F60E-CAEB-81AB-7ED9-33A565D9E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B0C6D3-52D4-48BC-36C3-24931B19B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883F9A-97D7-8A4A-AF07-D120360680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A76F6-FD1C-D826-5B67-BDDF8156CB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233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A5A1A-D791-645D-11B6-DD1879271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592AC8-089A-D294-003D-60C4933C8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7B1597-48E6-E198-9276-6FE9E2E5F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317F6-1C37-01C3-177C-5DC9E996D3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279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55229-32B6-C7BF-2185-1B9D1E053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07BA58-C7A2-C5E2-1643-E0075A2D51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452624-A251-D021-C05E-4E41CD789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EDC9F-01B5-16EA-2F79-E759F44C4B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6161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35A03-E852-7CA4-79CB-990574ABE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937406-2A8F-2F55-49B4-A42C23FDA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98DB31-7A62-CC37-00E1-EED75888E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3DEA2-E3D8-C5C0-E1C7-858DB7FD0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0978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05420-B5DE-21EF-8A4B-51679D531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897703-ED05-7802-2108-850866B2F8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C8D38A-D97D-BCC6-734A-57E0ED634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FC87F-E63D-4771-37F9-D1B01F0E43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7681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EE972-BCCD-2685-EBC7-6C8A94134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8C1A51-D0A1-30C2-9CF4-A639F77BA4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0C07DE-B609-6B36-DC58-E00FFF1F4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68F9A-D4A7-CC3A-2004-A2C25A8E3F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9679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0CB19-A163-2065-2289-29D070FA9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F5BC71-8CD4-3936-9884-2D241322B7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CD74FD-13D6-3DE0-8ACD-FB2CDB2C14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BFC2D-CFB0-0076-BFDE-B6D8E4C483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5212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A8945-C8EE-6D2D-C42D-8EC6BB092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954E68-B7C0-37AB-6194-B216DB33A4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3C3AC8-F84B-74BB-8E2F-375AB1F01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A91B0-D44F-D474-9DDB-96C1A1F5E6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38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EEF4A-D873-9E0E-A0B9-92DC8CED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44E30-4109-382B-7005-CF460321F1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F6C562-7B04-3068-AE8F-DCC8B7258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D2BE2-7C46-A97B-17C5-738AB6B628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933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4FFB66-70DC-A9EA-77FE-ED3C0461E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1958FD-E811-5D57-90E9-10436506A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501D5B-1C48-D194-98F5-7215822ED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49E3C-40B8-4D42-9119-C8213361B884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B7CC9D-2BB5-07F2-D6C2-B3230FD25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87D6F2-90EF-B5D5-A424-C6C9B4F04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01F15-E2FE-4003-B653-582BB9B6E6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851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F18603-60D6-EEC6-DC26-358D45386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C44A13-4F68-9D14-49F0-9DCAC34C0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BC5067-C38F-EA9B-34B3-D7243F1B3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49E3C-40B8-4D42-9119-C8213361B884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869289-FB51-023B-9125-8B97E05C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852D40-0699-0C1C-9114-A193D12BD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01F15-E2FE-4003-B653-582BB9B6E6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345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4EE417-79BE-35C7-B707-1B53A2907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3498D7-BBB5-41EE-37F7-E321A91FB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FFF8CA-742C-6AB5-285A-1EA6AD67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49E3C-40B8-4D42-9119-C8213361B884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3E837A-86BE-1752-46F6-0A50F1036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1B65D4-93A5-3568-BC3E-E0CD4FBE9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01F15-E2FE-4003-B653-582BB9B6E6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026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C90D25-F826-BBF9-4C0D-27D6821B6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5AD1D4-41AE-B385-30AC-3C85A79826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2FD46C-87FC-8563-EB42-4EAF1475D2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897586-3AD4-FFB8-5F81-9B9E8B52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49E3C-40B8-4D42-9119-C8213361B884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89B118-B36E-0E11-9B87-7B1BE2C2B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5EA5BC-91EC-18D5-C0F5-D3FC884FC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01F15-E2FE-4003-B653-582BB9B6E6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972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9AF13B-CFFB-5DC2-783B-EC39D28B5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94BA17-E353-7424-6CC3-6B50E63C2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5D74BB-662A-E968-388E-FEE1CBD92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9EF6451-DD38-5645-0532-69A142C00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C78F35A-A9F2-9037-1579-E446003B43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A2E3610-9CD5-BC5B-E797-B896E2CAD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49E3C-40B8-4D42-9119-C8213361B884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D49B27B-4427-0F5C-EB93-EC00384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0F6DC9-2709-3D3F-A63E-D5AC32211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01F15-E2FE-4003-B653-582BB9B6E6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776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7542DE-C64B-3999-9B91-881334108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4E04404-96FA-582D-532A-2486F4037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49E3C-40B8-4D42-9119-C8213361B884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B567F5-4280-5E7B-6D67-E77498287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7E3545-A32E-CDC1-C5D0-5DCF6203E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01F15-E2FE-4003-B653-582BB9B6E6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40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ACF3E62-08BA-955A-1139-A6838A622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49E3C-40B8-4D42-9119-C8213361B884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5BF7294-8B8D-D4F7-41DE-EEDDBCA1B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113AB7-A1B1-0722-1A04-2EDE48D13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01F15-E2FE-4003-B653-582BB9B6E6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238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7B6860-315D-6C2F-ABEF-2094CB9D9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970215-CB0D-A857-4A19-9CA10F1BB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42A9CB1-E761-7ACC-65A7-58BCD630A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653EF7-217D-1FF0-52C1-C666B9278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49E3C-40B8-4D42-9119-C8213361B884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1E0660-AD05-54AA-A34E-0D820C282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B26C09-FD89-A7D4-C05C-05B9B5F82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01F15-E2FE-4003-B653-582BB9B6E6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6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4E54E-5304-0D18-9DAB-68EDFCAAB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51BD889-D94C-470A-D1D2-E4F5B72F2D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5FC1AD-0EB5-9408-67BF-AB256A499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79ED0F-3F80-2749-7021-29578952D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49E3C-40B8-4D42-9119-C8213361B884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5B592C-E527-EECE-C5BE-860CFD6BB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5F89A3-4A6A-448E-18B5-10D2360C5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01F15-E2FE-4003-B653-582BB9B6E6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404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FC738A-8D3E-1A79-ADF1-4D26E6183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0CE31D-9E99-FE50-90A4-499CC22A0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DC6599-ECE8-A7DB-0415-4B6B67051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49E3C-40B8-4D42-9119-C8213361B884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0BF467-5CC8-9B65-84B3-3C5B45CCE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13F994-4CBE-3586-5FD7-7A24EBB61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01F15-E2FE-4003-B653-582BB9B6E6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327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A005FA7-E867-388E-EE2B-214EB6F578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239984-EB70-95ED-16A4-1AE3F8ED1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917B8E-F5D1-3EDC-3FFC-75166FA84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49E3C-40B8-4D42-9119-C8213361B884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96DF40-ADD9-D217-EE84-603EE3625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54B8D3-5B47-3D60-17C7-223C13121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01F15-E2FE-4003-B653-582BB9B6E6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7745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3967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D382093-C5C4-A3D5-AE56-8D11098A9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241D82-EE01-C3F4-FEA2-B96D53609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8DF39A-3B8D-9E89-33C7-B51D7C436F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49E3C-40B8-4D42-9119-C8213361B884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7422EC-D572-AEC6-9156-CA41605AF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7CFDD6-339F-0C94-6A31-BB2A7C8823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01F15-E2FE-4003-B653-582BB9B6E6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16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2000251"/>
            <a:ext cx="10668000" cy="889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7000"/>
              </a:lnSpc>
            </a:pPr>
            <a:r>
              <a:rPr lang="zh-CN" altLang="en-US" sz="5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湖仓一体</a:t>
            </a:r>
            <a:endParaRPr lang="en-US" sz="5000" dirty="0"/>
          </a:p>
        </p:txBody>
      </p:sp>
      <p:sp>
        <p:nvSpPr>
          <p:cNvPr id="5" name="Shape 2"/>
          <p:cNvSpPr/>
          <p:nvPr/>
        </p:nvSpPr>
        <p:spPr>
          <a:xfrm>
            <a:off x="762000" y="3968751"/>
            <a:ext cx="806451" cy="152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565651"/>
            <a:ext cx="106680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300"/>
              </a:lnSpc>
            </a:pPr>
            <a:r>
              <a:rPr lang="zh-CN" altLang="en-US" sz="1867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量潮科技 张果</a:t>
            </a:r>
            <a:endParaRPr lang="en-US" sz="186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3024633"/>
            <a:ext cx="4972051" cy="1778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7000"/>
              </a:lnSpc>
            </a:pPr>
            <a:r>
              <a:rPr lang="zh-CN" altLang="en-US" sz="5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湖仓一体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762000" y="5816600"/>
            <a:ext cx="63500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219949" y="3403600"/>
            <a:ext cx="4972051" cy="381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29999"/>
              </a:lnSpc>
            </a:pPr>
            <a:r>
              <a:rPr lang="en-US" sz="29999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999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湖仓一体简介</a:t>
            </a:r>
            <a:endParaRPr lang="en-US" sz="3000" b="1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2000" y="990600"/>
            <a:ext cx="106680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32384" y="2893102"/>
            <a:ext cx="9927231" cy="15242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湖仓一体（</a:t>
            </a:r>
            <a:r>
              <a:rPr lang="en-US" altLang="zh-CN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Lakehouse</a:t>
            </a:r>
            <a:r>
              <a:rPr lang="zh-CN" alt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）是一种融合数据湖和数据仓库优势的新型架构，其核心目标是在统一的存储层（基于对象存储，如</a:t>
            </a:r>
            <a:r>
              <a:rPr lang="en-US" altLang="zh-CN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S3</a:t>
            </a:r>
            <a:r>
              <a:rPr lang="zh-CN" alt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lang="zh-CN" alt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等）上同时支持灵活的数据湖能力（非结构化数据处理）和严格的数据仓库功能（事务、</a:t>
            </a:r>
            <a:r>
              <a:rPr lang="en-US" altLang="zh-CN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ACID</a:t>
            </a:r>
            <a:r>
              <a:rPr lang="zh-CN" alt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、高性能分析）。</a:t>
            </a:r>
            <a:endParaRPr lang="en-US" altLang="zh-CN" sz="2000" dirty="0">
              <a:solidFill>
                <a:srgbClr val="26262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2BBB74F5-BCF9-88E7-50BB-9CD858C84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A3F18F96-B065-23A5-36AB-0C36DD9766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F46A7FA2-AA33-6E3A-4EE5-475859A1FF22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​​数据仓库的痛点</a:t>
            </a:r>
            <a:endParaRPr lang="en-US" sz="3000" b="1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B1BA076-92A0-DF03-0294-2554035BB116}"/>
              </a:ext>
            </a:extLst>
          </p:cNvPr>
          <p:cNvSpPr/>
          <p:nvPr/>
        </p:nvSpPr>
        <p:spPr>
          <a:xfrm>
            <a:off x="762000" y="990600"/>
            <a:ext cx="106680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1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2ACD01-66EC-69D5-EFD6-4385DD07FA56}"/>
              </a:ext>
            </a:extLst>
          </p:cNvPr>
          <p:cNvSpPr txBox="1"/>
          <p:nvPr/>
        </p:nvSpPr>
        <p:spPr>
          <a:xfrm>
            <a:off x="859435" y="1911355"/>
            <a:ext cx="10060273" cy="4269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4290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​​扩展性受限​​</a:t>
            </a:r>
          </a:p>
          <a:p>
            <a:pPr lvl="1" algn="l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传统数仓（如 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Teradata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Redshift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）依赖专用硬件，扩容成本高、周期长。</a:t>
            </a:r>
          </a:p>
          <a:p>
            <a:pPr indent="-34290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​​高昂的存储成本​​</a:t>
            </a:r>
          </a:p>
          <a:p>
            <a:pPr lvl="1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结构化数据存储费用高，难以支持半结构化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非结构化数据（如 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JSON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、图片）。</a:t>
            </a:r>
          </a:p>
          <a:p>
            <a:pPr indent="-34290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</a:t>
            </a:r>
            <a:r>
              <a:rPr lang="en-US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ETL </a:t>
            </a: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流程复杂​​</a:t>
            </a:r>
          </a:p>
          <a:p>
            <a:pPr lvl="1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数据需预先清洗并导入数仓，无法直接分析原始数据。</a:t>
            </a:r>
          </a:p>
          <a:p>
            <a:pPr indent="-34290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​​实时能力弱​​</a:t>
            </a:r>
          </a:p>
          <a:p>
            <a:pPr lvl="1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批量处理为主，难以支持实时更新和流式分析。</a:t>
            </a:r>
          </a:p>
        </p:txBody>
      </p:sp>
    </p:spTree>
    <p:extLst>
      <p:ext uri="{BB962C8B-B14F-4D97-AF65-F5344CB8AC3E}">
        <p14:creationId xmlns:p14="http://schemas.microsoft.com/office/powerpoint/2010/main" val="41622375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BB89B-3314-D050-3552-72FD1AEEE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3D39CA6-E717-1D01-FA83-F918026581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9E6ACD0-A568-E0E1-B032-08F185A7704F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altLang="zh-CN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Iceberg 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的解决方案</a:t>
            </a:r>
            <a:r>
              <a:rPr lang="zh-CN" altLang="en-US" sz="3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</a:t>
            </a:r>
            <a:endParaRPr lang="en-US" sz="3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CDD8176-354B-0427-9938-31E688995C80}"/>
              </a:ext>
            </a:extLst>
          </p:cNvPr>
          <p:cNvSpPr/>
          <p:nvPr/>
        </p:nvSpPr>
        <p:spPr>
          <a:xfrm>
            <a:off x="762000" y="990600"/>
            <a:ext cx="106680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1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CFFC5C-6640-E3D2-BFFF-EEBFD807C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7313"/>
            <a:ext cx="65" cy="294626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7457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E1E66FD-9107-29A7-6508-0C43F76CF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7313"/>
            <a:ext cx="65" cy="294626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7457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265BDBF-E81E-A898-5312-7C9F97DE031B}"/>
              </a:ext>
            </a:extLst>
          </p:cNvPr>
          <p:cNvSpPr txBox="1"/>
          <p:nvPr/>
        </p:nvSpPr>
        <p:spPr>
          <a:xfrm>
            <a:off x="558383" y="1693756"/>
            <a:ext cx="11531183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zh-CN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​​云原生弹性扩展​​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基于对象存储（如 S3）和分布式计算引擎（如 Spark），按需扩展存储和算力。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zh-CN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​​低成本存储多模态数据​​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数据湖存储原始数据（Parquet/ORC/JSON），成本仅为数仓的 1/10，且支持任意数据类型。</a:t>
            </a:r>
          </a:p>
          <a:p>
            <a:pPr marR="0" lvl="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zh-CN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​​免 ETL 直接分析​​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 Iceberg 表格式直接查询原始数据，支持​​增量处理​​（如 MERGE INTO 实现 Upsert）。</a:t>
            </a:r>
          </a:p>
          <a:p>
            <a:pPr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zh-CN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​​实时与批量统一​​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 Flink CDC 实时写入 Iceberg，利用 Trino 实现亚秒级到分钟级的混合分析。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967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80FA6-9CBC-2483-7472-266895FB6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3EE4E423-66C5-9812-5E6D-8F2DD97CAF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585F521-88DC-7354-C611-92DBA07CD0C6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​​数据湖的痛点</a:t>
            </a:r>
            <a:endParaRPr lang="en-US" sz="3000" b="1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BB657A1-F3EC-5896-86A0-8B2E25337BDD}"/>
              </a:ext>
            </a:extLst>
          </p:cNvPr>
          <p:cNvSpPr/>
          <p:nvPr/>
        </p:nvSpPr>
        <p:spPr>
          <a:xfrm>
            <a:off x="762000" y="990600"/>
            <a:ext cx="106680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16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F28B63C-1A1F-A5C4-836E-6B5742D4E8F4}"/>
              </a:ext>
            </a:extLst>
          </p:cNvPr>
          <p:cNvSpPr txBox="1"/>
          <p:nvPr/>
        </p:nvSpPr>
        <p:spPr>
          <a:xfrm>
            <a:off x="874425" y="1961309"/>
            <a:ext cx="10352582" cy="4269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4290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​​缺乏事务支持​​</a:t>
            </a:r>
          </a:p>
          <a:p>
            <a:pPr lvl="1" algn="l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并发写入易导致数据不一致（如 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Hive 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 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ACID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</a:p>
          <a:p>
            <a:pPr algn="l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 查询性能差​​</a:t>
            </a:r>
          </a:p>
          <a:p>
            <a:pPr lvl="1" algn="l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依赖目录分区，元数据管理粗糙，无法高效过滤数据。</a:t>
            </a:r>
          </a:p>
          <a:p>
            <a:pPr indent="-34290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​​元数据管理困难​​</a:t>
            </a:r>
          </a:p>
          <a:p>
            <a:pPr lvl="1" algn="l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Schema 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变更需重写数据，分区结构调整复杂。</a:t>
            </a:r>
          </a:p>
          <a:p>
            <a:pPr indent="-34290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​​数据孤岛​​</a:t>
            </a:r>
          </a:p>
          <a:p>
            <a:pPr lvl="1" algn="l" fontAlgn="base">
              <a:lnSpc>
                <a:spcPct val="150000"/>
              </a:lnSpc>
              <a:spcBef>
                <a:spcPts val="300"/>
              </a:spcBef>
              <a:spcAft>
                <a:spcPts val="1200"/>
              </a:spcAft>
            </a:pP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计算引擎（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Spark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Flink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）与存储格式（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Parquet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ORC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）耦合度高。</a:t>
            </a:r>
          </a:p>
        </p:txBody>
      </p:sp>
    </p:spTree>
    <p:extLst>
      <p:ext uri="{BB962C8B-B14F-4D97-AF65-F5344CB8AC3E}">
        <p14:creationId xmlns:p14="http://schemas.microsoft.com/office/powerpoint/2010/main" val="3649544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1098A-1B70-F7E2-6AF1-A429E3F40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E15AC929-A9F2-BEAF-009A-F567DC6C80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DD1D659-8BB0-1999-C507-0F65DDBDF3A0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altLang="zh-CN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Iceberg 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的解决方案</a:t>
            </a:r>
            <a:r>
              <a:rPr lang="zh-CN" altLang="en-US" sz="3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</a:t>
            </a:r>
            <a:endParaRPr lang="en-US" sz="3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E318A0B-239C-3348-6D98-FFD5A78D894F}"/>
              </a:ext>
            </a:extLst>
          </p:cNvPr>
          <p:cNvSpPr/>
          <p:nvPr/>
        </p:nvSpPr>
        <p:spPr>
          <a:xfrm>
            <a:off x="762000" y="990600"/>
            <a:ext cx="106680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1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72CA3B-4ABD-7CDC-0A32-655573861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7313"/>
            <a:ext cx="65" cy="294626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7457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3B8678-4226-78BA-F9A4-8BA209F55FBD}"/>
              </a:ext>
            </a:extLst>
          </p:cNvPr>
          <p:cNvSpPr txBox="1"/>
          <p:nvPr/>
        </p:nvSpPr>
        <p:spPr>
          <a:xfrm>
            <a:off x="689547" y="1265836"/>
            <a:ext cx="12428719" cy="5796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indent="-34290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+mj-lt"/>
              <a:buAutoNum type="arabicPeriod"/>
              <a:tabLst/>
            </a:pPr>
            <a:r>
              <a:rPr lang="zh-CN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ACID 事务支持​​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基于快照隔离（Snapshot Isolation）实现原子性提交，支持并发写入和回滚。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​​示例​​：多个作业写入时，生成独立快照，提交后仅更新元数据指针，避免覆盖。</a:t>
            </a:r>
          </a:p>
          <a:p>
            <a:pPr indent="-34290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​​高性能元数据管理​​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通过​​清单文件（Manifest File）​​记录数据文件的位置和统计信息，实现快速剪枝。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​​隐藏分区​​：逻辑分区（如 date_trunc('month', ts)）对用户透明，引擎自动优化查询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PingFang SC"/>
              </a:rPr>
              <a:t>。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ingFang SC"/>
            </a:endParaRPr>
          </a:p>
          <a:p>
            <a:pPr marR="0" lvl="0" indent="-34290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+mj-lt"/>
              <a:buAutoNum type="arabicPeriod"/>
              <a:tabLst/>
            </a:pPr>
            <a:r>
              <a:rPr lang="zh-CN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​​灵活的 Schema 和分区演化​​</a:t>
            </a:r>
          </a:p>
          <a:p>
            <a:pPr marR="0" lvl="1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新增/重命名列无需重写数据文件，分区字段可动态调整（如从 day 改为 hour）。</a:t>
            </a:r>
          </a:p>
          <a:p>
            <a:pPr indent="-34290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​​计算与存储解耦​​</a:t>
            </a:r>
          </a:p>
          <a:p>
            <a:pPr lvl="1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 Spark、Flink、Trino 等多引擎直接读写同一份存储（如 S3、HDFS），打破孤岛。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278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57810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湖仓一体（</a:t>
            </a:r>
            <a:r>
              <a:rPr lang="en-US" altLang="zh-CN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Iceberg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）如何同时解决两类问题？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62000" y="990600"/>
            <a:ext cx="106680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1867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8E92782E-A574-D8D0-CE23-7C4C6ADAEAF6}"/>
              </a:ext>
            </a:extLst>
          </p:cNvPr>
          <p:cNvSpPr/>
          <p:nvPr/>
        </p:nvSpPr>
        <p:spPr>
          <a:xfrm>
            <a:off x="1001843" y="1524000"/>
            <a:ext cx="9776085" cy="54732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l" fontAlgn="base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统一存储层</a:t>
            </a:r>
            <a:r>
              <a:rPr lang="zh-CN" altLang="en-US" sz="2000" b="1" i="0" dirty="0">
                <a:effectLst/>
                <a:latin typeface="inherit"/>
              </a:rPr>
              <a:t>​</a:t>
            </a:r>
            <a:r>
              <a:rPr lang="zh-CN" altLang="en-US" sz="2000" b="1" i="0" dirty="0">
                <a:effectLst/>
                <a:latin typeface="PingFang SC"/>
              </a:rPr>
              <a:t>​</a:t>
            </a:r>
          </a:p>
          <a:p>
            <a:pPr algn="l" fontAlgn="base">
              <a:spcBef>
                <a:spcPts val="600"/>
              </a:spcBef>
              <a:spcAft>
                <a:spcPts val="300"/>
              </a:spcAft>
            </a:pP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数据湖存储​​：低成本存储原始数据（解决数仓扩展性和成本问题）。</a:t>
            </a:r>
          </a:p>
          <a:p>
            <a:pPr algn="l" fontAlgn="base">
              <a:spcBef>
                <a:spcPts val="300"/>
              </a:spcBef>
              <a:spcAft>
                <a:spcPts val="1200"/>
              </a:spcAft>
            </a:pP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数仓能力​​：通过 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Iceberg 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的事务和元数据管理，实现高性能分析（解决数据湖查询性能问题）。</a:t>
            </a:r>
          </a:p>
          <a:p>
            <a:pPr algn="l" fontAlgn="base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​</a:t>
            </a: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​事务与一致性​​</a:t>
            </a:r>
          </a:p>
          <a:p>
            <a:pPr fontAlgn="base">
              <a:spcBef>
                <a:spcPts val="600"/>
              </a:spcBef>
              <a:spcAft>
                <a:spcPts val="1200"/>
              </a:spcAft>
            </a:pP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支持 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ACID 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事务，避免数据湖的脏读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写冲突，同时提供数仓级可靠性。</a:t>
            </a:r>
          </a:p>
          <a:p>
            <a:pPr fontAlgn="base">
              <a:spcBef>
                <a:spcPts val="1200"/>
              </a:spcBef>
              <a:spcAft>
                <a:spcPts val="600"/>
              </a:spcAft>
            </a:pPr>
            <a:r>
              <a:rPr lang="en-US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​</a:t>
            </a: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​多模态数据处理​​</a:t>
            </a:r>
          </a:p>
          <a:p>
            <a:pPr fontAlgn="base">
              <a:spcBef>
                <a:spcPts val="600"/>
              </a:spcBef>
              <a:spcAft>
                <a:spcPts val="1200"/>
              </a:spcAft>
            </a:pP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结构化数据（数仓场景）与非结构化数据（数据湖场景）统一存储在 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Iceberg 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表中，通过统一 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 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接口查询。</a:t>
            </a:r>
          </a:p>
          <a:p>
            <a:pPr algn="l" fontAlgn="base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​</a:t>
            </a: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​实时与离线融合​​</a:t>
            </a:r>
          </a:p>
          <a:p>
            <a:pPr fontAlgn="base">
              <a:spcBef>
                <a:spcPts val="600"/>
              </a:spcBef>
              <a:spcAft>
                <a:spcPts val="1200"/>
              </a:spcAft>
            </a:pP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流批一体：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Flink 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实时写入 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Iceberg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Spark/Trino 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批量分析，共享同一份数据。</a:t>
            </a:r>
          </a:p>
          <a:p>
            <a:pPr>
              <a:buNone/>
            </a:pPr>
            <a:br>
              <a:rPr lang="zh-CN" altLang="en-US" sz="2000" dirty="0"/>
            </a:br>
            <a:endParaRPr lang="en-US" altLang="zh-CN" sz="20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87FC2-188B-153F-D585-36413B6B8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F6FD4ED-51ED-4BDE-201F-9B0C8D2CBD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480" y="0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EB0697C-0DD1-A5D9-19B3-B3E4AE666E31}"/>
              </a:ext>
            </a:extLst>
          </p:cNvPr>
          <p:cNvSpPr/>
          <p:nvPr/>
        </p:nvSpPr>
        <p:spPr>
          <a:xfrm>
            <a:off x="1046813" y="834851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湖仓一体与数据湖、数仓对比</a:t>
            </a:r>
            <a:endParaRPr lang="en-US" sz="3000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25734A6-503B-C231-5641-2C9F89ADE7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28395"/>
              </p:ext>
            </p:extLst>
          </p:nvPr>
        </p:nvGraphicFramePr>
        <p:xfrm>
          <a:off x="924394" y="2060749"/>
          <a:ext cx="10343211" cy="39624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86811">
                  <a:extLst>
                    <a:ext uri="{9D8B030D-6E8A-4147-A177-3AD203B41FA5}">
                      <a16:colId xmlns:a16="http://schemas.microsoft.com/office/drawing/2014/main" val="924015581"/>
                    </a:ext>
                  </a:extLst>
                </a:gridCol>
                <a:gridCol w="2635090">
                  <a:extLst>
                    <a:ext uri="{9D8B030D-6E8A-4147-A177-3AD203B41FA5}">
                      <a16:colId xmlns:a16="http://schemas.microsoft.com/office/drawing/2014/main" val="49193409"/>
                    </a:ext>
                  </a:extLst>
                </a:gridCol>
                <a:gridCol w="2570813">
                  <a:extLst>
                    <a:ext uri="{9D8B030D-6E8A-4147-A177-3AD203B41FA5}">
                      <a16:colId xmlns:a16="http://schemas.microsoft.com/office/drawing/2014/main" val="3022296568"/>
                    </a:ext>
                  </a:extLst>
                </a:gridCol>
                <a:gridCol w="3050497">
                  <a:extLst>
                    <a:ext uri="{9D8B030D-6E8A-4147-A177-3AD203B41FA5}">
                      <a16:colId xmlns:a16="http://schemas.microsoft.com/office/drawing/2014/main" val="25285441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dirty="0">
                          <a:effectLst/>
                        </a:rPr>
                        <a:t>​​场景​​</a:t>
                      </a:r>
                      <a:endParaRPr lang="zh-CN" altLang="en-US" sz="2000" b="1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dirty="0">
                          <a:effectLst/>
                        </a:rPr>
                        <a:t>​​传统数据湖​​</a:t>
                      </a:r>
                      <a:endParaRPr lang="zh-CN" altLang="en-US" sz="2000" b="1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>
                          <a:effectLst/>
                        </a:rPr>
                        <a:t>​​传统数据仓库​​</a:t>
                      </a:r>
                      <a:endParaRPr lang="zh-CN" altLang="en-US" sz="2000" b="1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dirty="0">
                          <a:effectLst/>
                        </a:rPr>
                        <a:t>​​湖仓一体（</a:t>
                      </a:r>
                      <a:r>
                        <a:rPr lang="en-US" sz="2000" b="1" dirty="0">
                          <a:effectLst/>
                        </a:rPr>
                        <a:t>Iceberg）​​</a:t>
                      </a:r>
                      <a:endParaRPr lang="en-US" sz="2000" b="1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1940309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>
                          <a:effectLst/>
                        </a:rPr>
                        <a:t>​</a:t>
                      </a:r>
                      <a:r>
                        <a:rPr lang="zh-CN" altLang="en-US" sz="2000" b="1">
                          <a:effectLst/>
                        </a:rPr>
                        <a:t>​数据一致性​</a:t>
                      </a:r>
                      <a:r>
                        <a:rPr lang="zh-CN" altLang="en-US" sz="2000" b="0">
                          <a:effectLst/>
                        </a:rPr>
                        <a:t>​</a:t>
                      </a:r>
                      <a:endParaRPr lang="zh-CN" altLang="en-US" sz="2000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>
                          <a:effectLst/>
                        </a:rPr>
                        <a:t>弱（无 </a:t>
                      </a:r>
                      <a:r>
                        <a:rPr lang="en-US" sz="2000" b="0">
                          <a:effectLst/>
                        </a:rPr>
                        <a:t>ACID）</a:t>
                      </a:r>
                      <a:endParaRPr lang="en-US" sz="2000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>
                          <a:effectLst/>
                        </a:rPr>
                        <a:t>强（</a:t>
                      </a:r>
                      <a:r>
                        <a:rPr lang="en-US" sz="2000" b="0">
                          <a:effectLst/>
                        </a:rPr>
                        <a:t>ACID）</a:t>
                      </a:r>
                      <a:endParaRPr lang="en-US" sz="2000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>
                          <a:effectLst/>
                        </a:rPr>
                        <a:t>强（快照隔离 </a:t>
                      </a:r>
                      <a:r>
                        <a:rPr lang="en-US" sz="2000" b="0">
                          <a:effectLst/>
                        </a:rPr>
                        <a:t>ACID）</a:t>
                      </a:r>
                      <a:endParaRPr lang="en-US" sz="2000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2068145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>
                          <a:effectLst/>
                        </a:rPr>
                        <a:t>​</a:t>
                      </a:r>
                      <a:r>
                        <a:rPr lang="zh-CN" altLang="en-US" sz="2000" b="1">
                          <a:effectLst/>
                        </a:rPr>
                        <a:t>​存储成本​</a:t>
                      </a:r>
                      <a:r>
                        <a:rPr lang="zh-CN" altLang="en-US" sz="2000" b="0">
                          <a:effectLst/>
                        </a:rPr>
                        <a:t>​</a:t>
                      </a:r>
                      <a:endParaRPr lang="zh-CN" altLang="en-US" sz="2000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>
                          <a:effectLst/>
                        </a:rPr>
                        <a:t>极低（对象存储）</a:t>
                      </a:r>
                      <a:endParaRPr lang="zh-CN" altLang="en-US" sz="2000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dirty="0">
                          <a:effectLst/>
                        </a:rPr>
                        <a:t>高（专用存储）</a:t>
                      </a:r>
                      <a:endParaRPr lang="zh-CN" altLang="en-US" sz="2000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>
                          <a:effectLst/>
                        </a:rPr>
                        <a:t>低（对象存储 </a:t>
                      </a:r>
                      <a:r>
                        <a:rPr lang="en-US" altLang="zh-CN" sz="2000" b="0">
                          <a:effectLst/>
                        </a:rPr>
                        <a:t>+ </a:t>
                      </a:r>
                      <a:r>
                        <a:rPr lang="zh-CN" altLang="en-US" sz="2000" b="0">
                          <a:effectLst/>
                        </a:rPr>
                        <a:t>高效压缩）</a:t>
                      </a:r>
                      <a:endParaRPr lang="zh-CN" altLang="en-US" sz="2000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525624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>
                          <a:effectLst/>
                        </a:rPr>
                        <a:t>​</a:t>
                      </a:r>
                      <a:r>
                        <a:rPr lang="zh-CN" altLang="en-US" sz="2000" b="1">
                          <a:effectLst/>
                        </a:rPr>
                        <a:t>​查询性能​</a:t>
                      </a:r>
                      <a:r>
                        <a:rPr lang="zh-CN" altLang="en-US" sz="2000" b="0">
                          <a:effectLst/>
                        </a:rPr>
                        <a:t>​</a:t>
                      </a:r>
                      <a:endParaRPr lang="zh-CN" altLang="en-US" sz="2000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>
                          <a:effectLst/>
                        </a:rPr>
                        <a:t>慢（全表扫描）</a:t>
                      </a:r>
                      <a:endParaRPr lang="zh-CN" altLang="en-US" sz="2000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>
                          <a:effectLst/>
                        </a:rPr>
                        <a:t>快（索引优化）</a:t>
                      </a:r>
                      <a:endParaRPr lang="zh-CN" altLang="en-US" sz="2000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dirty="0">
                          <a:effectLst/>
                        </a:rPr>
                        <a:t>快（元数据剪枝 </a:t>
                      </a:r>
                      <a:r>
                        <a:rPr lang="en-US" altLang="zh-CN" sz="2000" b="0" dirty="0">
                          <a:effectLst/>
                        </a:rPr>
                        <a:t>+ </a:t>
                      </a:r>
                      <a:r>
                        <a:rPr lang="zh-CN" altLang="en-US" sz="2000" b="0" dirty="0">
                          <a:effectLst/>
                        </a:rPr>
                        <a:t>统计信息）</a:t>
                      </a:r>
                      <a:endParaRPr lang="zh-CN" altLang="en-US" sz="2000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1073619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>
                          <a:effectLst/>
                        </a:rPr>
                        <a:t>​</a:t>
                      </a:r>
                      <a:r>
                        <a:rPr lang="zh-CN" altLang="en-US" sz="2000" b="1">
                          <a:effectLst/>
                        </a:rPr>
                        <a:t>​实时能力​</a:t>
                      </a:r>
                      <a:r>
                        <a:rPr lang="zh-CN" altLang="en-US" sz="2000" b="0">
                          <a:effectLst/>
                        </a:rPr>
                        <a:t>​</a:t>
                      </a:r>
                      <a:endParaRPr lang="zh-CN" altLang="en-US" sz="2000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>
                          <a:effectLst/>
                        </a:rPr>
                        <a:t>弱（批量为主）</a:t>
                      </a:r>
                      <a:endParaRPr lang="zh-CN" altLang="en-US" sz="2000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>
                          <a:effectLst/>
                        </a:rPr>
                        <a:t>弱（批量 </a:t>
                      </a:r>
                      <a:r>
                        <a:rPr lang="en-US" sz="2000" b="0">
                          <a:effectLst/>
                        </a:rPr>
                        <a:t>ETL）</a:t>
                      </a:r>
                      <a:endParaRPr lang="en-US" sz="2000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dirty="0">
                          <a:effectLst/>
                        </a:rPr>
                        <a:t>强（</a:t>
                      </a:r>
                      <a:r>
                        <a:rPr lang="en-US" sz="2000" b="0" dirty="0">
                          <a:effectLst/>
                        </a:rPr>
                        <a:t>Flink CDC + </a:t>
                      </a:r>
                      <a:r>
                        <a:rPr lang="zh-CN" altLang="en-US" sz="2000" b="0" dirty="0">
                          <a:effectLst/>
                        </a:rPr>
                        <a:t>流式更新）</a:t>
                      </a:r>
                      <a:endParaRPr lang="zh-CN" altLang="en-US" sz="2000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2221228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>
                          <a:effectLst/>
                        </a:rPr>
                        <a:t>​</a:t>
                      </a:r>
                      <a:r>
                        <a:rPr lang="en-US" sz="2000" b="1">
                          <a:effectLst/>
                        </a:rPr>
                        <a:t>​Schema </a:t>
                      </a:r>
                      <a:r>
                        <a:rPr lang="zh-CN" altLang="en-US" sz="2000" b="1">
                          <a:effectLst/>
                        </a:rPr>
                        <a:t>灵活性​</a:t>
                      </a:r>
                      <a:r>
                        <a:rPr lang="zh-CN" altLang="en-US" sz="2000" b="0">
                          <a:effectLst/>
                        </a:rPr>
                        <a:t>​</a:t>
                      </a:r>
                      <a:endParaRPr lang="zh-CN" altLang="en-US" sz="2000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>
                          <a:effectLst/>
                        </a:rPr>
                        <a:t>高（</a:t>
                      </a:r>
                      <a:r>
                        <a:rPr lang="en-US" sz="2000" b="0">
                          <a:effectLst/>
                        </a:rPr>
                        <a:t>Schema-on-Read）</a:t>
                      </a:r>
                      <a:endParaRPr lang="en-US" sz="2000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>
                          <a:effectLst/>
                        </a:rPr>
                        <a:t>低（</a:t>
                      </a:r>
                      <a:r>
                        <a:rPr lang="en-US" sz="2000" b="0">
                          <a:effectLst/>
                        </a:rPr>
                        <a:t>Schema-on-Write）</a:t>
                      </a:r>
                      <a:endParaRPr lang="en-US" sz="2000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dirty="0">
                          <a:effectLst/>
                        </a:rPr>
                        <a:t>高（</a:t>
                      </a:r>
                      <a:r>
                        <a:rPr lang="en-US" sz="2000" b="0" dirty="0">
                          <a:effectLst/>
                        </a:rPr>
                        <a:t>Schema </a:t>
                      </a:r>
                      <a:r>
                        <a:rPr lang="zh-CN" altLang="en-US" sz="2000" b="0" dirty="0">
                          <a:effectLst/>
                        </a:rPr>
                        <a:t>演化 </a:t>
                      </a:r>
                      <a:r>
                        <a:rPr lang="en-US" altLang="zh-CN" sz="2000" b="0" dirty="0">
                          <a:effectLst/>
                        </a:rPr>
                        <a:t>+ </a:t>
                      </a:r>
                      <a:r>
                        <a:rPr lang="zh-CN" altLang="en-US" sz="2000" b="0" dirty="0">
                          <a:effectLst/>
                        </a:rPr>
                        <a:t>分区调整）</a:t>
                      </a:r>
                      <a:endParaRPr lang="zh-CN" altLang="en-US" sz="2000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1188754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1245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316E9-1BCC-60D9-BF57-93560E9A1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CB758EE-BD38-9F46-C93B-12F108343A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DE3B8A0-496B-3E10-6181-37D67EEEB0BD}"/>
              </a:ext>
            </a:extLst>
          </p:cNvPr>
          <p:cNvSpPr/>
          <p:nvPr/>
        </p:nvSpPr>
        <p:spPr>
          <a:xfrm>
            <a:off x="762000" y="618067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湖仓一体带来的新问题​​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C9365EF-E3E4-40DA-1372-285350B8369A}"/>
              </a:ext>
            </a:extLst>
          </p:cNvPr>
          <p:cNvSpPr txBox="1"/>
          <p:nvPr/>
        </p:nvSpPr>
        <p:spPr>
          <a:xfrm>
            <a:off x="170513" y="1575963"/>
            <a:ext cx="5990444" cy="555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base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tabLst/>
            </a:pPr>
            <a:r>
              <a:rPr lang="zh-CN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 技术复杂性提升  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多组件协同 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：</a:t>
            </a:r>
            <a:r>
              <a:rPr lang="zh-CN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需同时管理存储层、表格式、计算引擎、治理工具，运维复杂度高于单一数仓或数据湖。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版本兼容性挑战 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：</a:t>
            </a:r>
            <a:r>
              <a:rPr lang="zh-CN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如Iceberg与Spark版本需严格匹配，升级时可能引发兼容性问题。</a:t>
            </a:r>
          </a:p>
          <a:p>
            <a:pPr fontAlgn="base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FontTx/>
              <a:buNone/>
            </a:pPr>
            <a:r>
              <a:rPr lang="zh-CN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2. 性能权衡 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延迟增加 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：</a:t>
            </a:r>
            <a:r>
              <a:rPr lang="zh-CN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相比纯数仓的预计算优化（如物化视图），湖仓一体的Schema-on-Read可能导致即席查询延迟上升。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小文件问题 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：</a:t>
            </a:r>
            <a:r>
              <a:rPr lang="zh-CN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流式写入易产生大量小文件，需额外合并操作。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herit"/>
              </a:rPr>
              <a:t> 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63D51A-1F4C-73F4-B5EC-50E4B710B31E}"/>
              </a:ext>
            </a:extLst>
          </p:cNvPr>
          <p:cNvSpPr txBox="1"/>
          <p:nvPr/>
        </p:nvSpPr>
        <p:spPr>
          <a:xfrm>
            <a:off x="6331470" y="1575963"/>
            <a:ext cx="5990443" cy="602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base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tabLst/>
            </a:pPr>
            <a:r>
              <a:rPr lang="zh-CN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生态碎片化 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格式与引擎分裂 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：</a:t>
            </a:r>
            <a:r>
              <a:rPr lang="zh-CN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Delta Lake、Iceberg、Hudi三大表格式阵营并行，生态工具支持不统一。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厂商锁定风险 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：</a:t>
            </a:r>
            <a:r>
              <a:rPr lang="zh-CN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如Delta Lake深度绑定Databricks平台，跨云部署时可能受限于厂商方案。</a:t>
            </a:r>
          </a:p>
          <a:p>
            <a:pPr fontAlgn="base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FontTx/>
              <a:buNone/>
            </a:pPr>
            <a:r>
              <a:rPr lang="zh-CN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4. 技能门槛提高  </a:t>
            </a:r>
            <a:endParaRPr lang="zh-CN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调试难度大 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：</a:t>
            </a:r>
            <a:r>
              <a:rPr lang="zh-CN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事务冲突、元数据不一致等问题排查成本高于传统架构。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跨领域知识需求 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：</a:t>
            </a:r>
            <a:r>
              <a:rPr lang="zh-CN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团队需同时掌握数据工程（ETL/Spark）、数据治理（ACID/权限）、云原生技术（对象存储/IAM）。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zh-CN" altLang="en-US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2191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4898B-BDC3-6C4D-E442-8CF1917E0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45F58FC-7D5D-4ED7-8F3C-025EE75DC0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344C8A2-6A5D-3534-3DDD-F47B4BF19BCE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altLang="zh-CN" sz="30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ClickHouse</a:t>
            </a:r>
            <a:r>
              <a:rPr lang="en-US" altLang="zh-CN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</a:t>
            </a:r>
            <a:r>
              <a:rPr lang="en-US" altLang="zh-CN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S3 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的集成方式</a:t>
            </a:r>
            <a:endParaRPr lang="en-US" sz="3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4615DAD-02B3-E1A6-E5B5-33136660F7A9}"/>
              </a:ext>
            </a:extLst>
          </p:cNvPr>
          <p:cNvSpPr txBox="1"/>
          <p:nvPr/>
        </p:nvSpPr>
        <p:spPr>
          <a:xfrm>
            <a:off x="516041" y="2656463"/>
            <a:ext cx="10831513" cy="454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​​1. S3 </a:t>
            </a: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作为外部存储​​</a:t>
            </a: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S3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表引擎或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S3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函数，直接查询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S3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上的文件（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Parquet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CSV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等）。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​​适用场景​​：临时分析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S3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上的原始数据，无需导入 </a:t>
            </a:r>
            <a:r>
              <a:rPr lang="en-US" altLang="zh-CN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ClickHouse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​​2. S3 </a:t>
            </a: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作为存储后端​​</a:t>
            </a: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使用 ​​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S3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磁盘类型​​，将 </a:t>
            </a:r>
            <a:r>
              <a:rPr lang="en-US" altLang="zh-CN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ClickHouse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表的底层数据存储在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S3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中（需配置存储策略）。</a:t>
            </a: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      适用场景​​：将表数据持久化到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S3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，降低本地存储成本，支持冷热数据分层。</a:t>
            </a: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S3 </a:t>
            </a: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2000" b="1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MergeTree</a:t>
            </a:r>
            <a:r>
              <a:rPr lang="en-US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引擎结合​​</a:t>
            </a: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将 </a:t>
            </a:r>
            <a:r>
              <a:rPr lang="en-US" altLang="zh-CN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MergeTree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表的数据存储在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S3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上，通过本地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SSD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缓存热数据，加速查询。</a:t>
            </a: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9579E9C-BA6A-B2EA-F487-0A417E7432C1}"/>
              </a:ext>
            </a:extLst>
          </p:cNvPr>
          <p:cNvSpPr txBox="1"/>
          <p:nvPr/>
        </p:nvSpPr>
        <p:spPr>
          <a:xfrm>
            <a:off x="516041" y="1708208"/>
            <a:ext cx="11175167" cy="1720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当数据以批量写入、低频更新​​为主；需要低成本存储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高性能查询​​，且不依赖复杂事务；技术栈以 </a:t>
            </a:r>
            <a:r>
              <a:rPr lang="en-US" altLang="zh-CN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ClickHouse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为核心时，适合选择选择 </a:t>
            </a:r>
            <a:r>
              <a:rPr lang="en-US" altLang="zh-CN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ClickHouse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直接挂载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S3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ClickHouse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S3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的集成方式如下：</a:t>
            </a:r>
          </a:p>
          <a:p>
            <a:pPr fontAlgn="base">
              <a:spcBef>
                <a:spcPts val="300"/>
              </a:spcBef>
              <a:spcAft>
                <a:spcPts val="300"/>
              </a:spcAft>
            </a:pP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endParaRPr lang="zh-CN" altLang="en-US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42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5BBBF-1603-B365-CC2B-FDDE9210B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504077C-22F4-39E6-8DC1-706D1F9B28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BFC894CA-6A53-0C1D-2F97-A87A8DC55F7F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altLang="zh-CN" sz="30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ClickHouse</a:t>
            </a:r>
            <a:r>
              <a:rPr lang="en-US" altLang="zh-CN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S3 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的优势​</a:t>
            </a:r>
            <a:endParaRPr lang="en-US" sz="3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23EFD7A-395D-56C3-58B1-2D0285888ED8}"/>
              </a:ext>
            </a:extLst>
          </p:cNvPr>
          <p:cNvSpPr txBox="1"/>
          <p:nvPr/>
        </p:nvSpPr>
        <p:spPr>
          <a:xfrm>
            <a:off x="597733" y="2067943"/>
            <a:ext cx="1178414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Bef>
                <a:spcPts val="1200"/>
              </a:spcBef>
              <a:spcAft>
                <a:spcPts val="600"/>
              </a:spcAft>
              <a:buNone/>
            </a:pPr>
            <a:endParaRPr lang="zh-CN" altLang="en-US" b="1" i="0" dirty="0">
              <a:effectLst/>
              <a:latin typeface="PingFang SC"/>
            </a:endParaRP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​​极简架构​​</a:t>
            </a:r>
          </a:p>
          <a:p>
            <a:pPr marL="0" lvl="1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无需引入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Hive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Iceberg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等组件，直接通过 </a:t>
            </a:r>
            <a:r>
              <a:rPr lang="en-US" altLang="zh-CN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ClickHouse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实现“轻量级湖仓一体”。</a:t>
            </a:r>
          </a:p>
          <a:p>
            <a:pPr indent="-34290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​​查询性能卓越​​</a:t>
            </a:r>
          </a:p>
          <a:p>
            <a:pPr marL="0" lvl="1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针对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S3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上的列式数据（如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Parquet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en-US" altLang="zh-CN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ClickHouse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的并行扫描和索引优化可大幅提升性能。</a:t>
            </a:r>
          </a:p>
          <a:p>
            <a:pPr indent="-34290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​​存储成本优化​​</a:t>
            </a:r>
          </a:p>
          <a:p>
            <a:pPr marL="0" lvl="1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利用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S3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的低成本特性，结合本地缓存策略，平衡性能与成本。</a:t>
            </a:r>
          </a:p>
          <a:p>
            <a:pPr algn="l" fontAlgn="base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i="0" dirty="0">
                <a:effectLst/>
                <a:latin typeface="PingFang SC"/>
              </a:rPr>
              <a:t>​</a:t>
            </a:r>
            <a:r>
              <a:rPr lang="zh-CN" altLang="en-US" b="1" i="0" dirty="0">
                <a:effectLst/>
                <a:latin typeface="inherit"/>
              </a:rPr>
              <a:t>​</a:t>
            </a:r>
            <a:endParaRPr lang="zh-CN" altLang="en-US" b="0" i="0" dirty="0">
              <a:effectLst/>
              <a:latin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1379011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2DAB8-2EA0-D705-2AC3-483910243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8038D8E-530C-EDDB-CBB5-CE081A9169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EDD55531-B73F-4B68-7ECA-50DD661CECBD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altLang="zh-CN" sz="30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ClickHouse</a:t>
            </a:r>
            <a:r>
              <a:rPr lang="en-US" altLang="zh-CN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S3 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的挑战​</a:t>
            </a:r>
            <a:endParaRPr lang="en-US" sz="3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DAC00A4-38BC-42DB-7A9C-78B3BD5CD65B}"/>
              </a:ext>
            </a:extLst>
          </p:cNvPr>
          <p:cNvSpPr txBox="1"/>
          <p:nvPr/>
        </p:nvSpPr>
        <p:spPr>
          <a:xfrm>
            <a:off x="762000" y="1490821"/>
            <a:ext cx="11784143" cy="5255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None/>
            </a:pPr>
            <a:endParaRPr lang="zh-CN" altLang="en-US" b="1" i="0" dirty="0">
              <a:effectLst/>
              <a:latin typeface="PingFang SC"/>
            </a:endParaRPr>
          </a:p>
          <a:p>
            <a:pPr indent="-34290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事务支持不足​​</a:t>
            </a:r>
          </a:p>
          <a:p>
            <a:pPr lvl="1" algn="l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ClickHouse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不支持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ACID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事务，无法保证并发写入的原子性（需外部工具协调）。</a:t>
            </a:r>
          </a:p>
          <a:p>
            <a:pPr algn="l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  元数据管理薄弱​​</a:t>
            </a:r>
          </a:p>
          <a:p>
            <a:pPr lvl="1" algn="l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缺乏全局元数据（如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Iceberg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Manifest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文件），表结构变更（如新增列）需手动处理。</a:t>
            </a:r>
          </a:p>
          <a:p>
            <a:pPr indent="-34290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​​实时更新能力有限​​</a:t>
            </a:r>
          </a:p>
          <a:p>
            <a:pPr lvl="1" algn="l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MergeTree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引擎的 </a:t>
            </a:r>
            <a:r>
              <a:rPr lang="en-US" altLang="zh-CN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Upsert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/Merge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能力较弱，不适合频繁更新的场景。</a:t>
            </a:r>
          </a:p>
          <a:p>
            <a:pPr indent="-34290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​​多引擎兼容性差​​</a:t>
            </a:r>
          </a:p>
          <a:p>
            <a:pPr lvl="1" algn="l" fontAlgn="base">
              <a:lnSpc>
                <a:spcPct val="150000"/>
              </a:lnSpc>
              <a:spcBef>
                <a:spcPts val="300"/>
              </a:spcBef>
              <a:spcAft>
                <a:spcPts val="12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数据格式（如 </a:t>
            </a:r>
            <a:r>
              <a:rPr lang="en-US" altLang="zh-CN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MergeTree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文件）仅能被 </a:t>
            </a:r>
            <a:r>
              <a:rPr lang="en-US" altLang="zh-CN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ClickHouse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读取，难以被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Spark/Flink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直接消费</a:t>
            </a:r>
            <a:r>
              <a:rPr lang="zh-CN" altLang="en-US" dirty="0">
                <a:solidFill>
                  <a:srgbClr val="4D4D4D"/>
                </a:solidFill>
                <a:latin typeface="PingFang SC"/>
                <a:ea typeface="微软雅黑" panose="020B0503020204020204" pitchFamily="34" charset="-122"/>
              </a:rPr>
              <a:t>。</a:t>
            </a:r>
            <a:endParaRPr lang="zh-CN" altLang="en-US" b="0" i="0" dirty="0">
              <a:effectLst/>
              <a:latin typeface="PingFang SC"/>
            </a:endParaRPr>
          </a:p>
          <a:p>
            <a:pPr algn="l" fontAlgn="base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b="1" i="0" dirty="0">
                <a:effectLst/>
                <a:latin typeface="PingFang SC"/>
              </a:rPr>
              <a:t>​</a:t>
            </a:r>
            <a:r>
              <a:rPr lang="zh-CN" altLang="en-US" b="1" i="0" dirty="0">
                <a:effectLst/>
                <a:latin typeface="inherit"/>
              </a:rPr>
              <a:t>​</a:t>
            </a:r>
            <a:endParaRPr lang="zh-CN" altLang="en-US" b="0" i="0" dirty="0">
              <a:effectLst/>
              <a:latin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1244997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00489-7ECE-E00C-BE7D-25C059D3A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5A677E97-5FD7-49A9-3E26-8928E69EDB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2D05011-7AF6-96E7-A08A-1726F378EA6C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优化方案：</a:t>
            </a:r>
            <a:r>
              <a:rPr lang="en-US" altLang="zh-CN" sz="30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ClickHouse</a:t>
            </a:r>
            <a:r>
              <a:rPr lang="en-US" altLang="zh-CN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S3 + 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外部表格式</a:t>
            </a:r>
            <a:endParaRPr lang="en-US" sz="3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D83A3CF-15BD-8928-29C1-35E169BEE7E9}"/>
              </a:ext>
            </a:extLst>
          </p:cNvPr>
          <p:cNvSpPr txBox="1"/>
          <p:nvPr/>
        </p:nvSpPr>
        <p:spPr>
          <a:xfrm>
            <a:off x="598487" y="1893157"/>
            <a:ext cx="10831513" cy="453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若需弥补 </a:t>
            </a:r>
            <a:r>
              <a:rPr lang="en-US" altLang="zh-CN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ClickHouse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在事务、元数据管理上的短板，可引入 ​​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Iceberg​​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作为表格式：</a:t>
            </a:r>
            <a:endParaRPr lang="zh-CN" altLang="en-US" b="1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34290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​​架构设计​​</a:t>
            </a: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     存储层​​：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S3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存储原始数据（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Parquet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文件）和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Iceberg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元数据（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Metadata JSON/Manifest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文件）。</a:t>
            </a: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     计算层​​：</a:t>
            </a:r>
            <a:r>
              <a:rPr lang="en-US" altLang="zh-CN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ClickHouse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Iceberg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插件读取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S3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上的表，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Spark/Flink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负责写入和元数据更新。</a:t>
            </a: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实现步骤​​</a:t>
            </a: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使用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Spark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写入数据到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Iceberg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表（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S3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路径），保证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ACID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事务和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Schema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演化。</a:t>
            </a: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ClickHouse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s3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函数或 ​​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Iceberg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插件​​（需第三方支持）读取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Iceberg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表的最新快照。</a:t>
            </a: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</a:t>
            </a:r>
            <a:r>
              <a:rPr lang="en-US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优势​​</a:t>
            </a: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保留 </a:t>
            </a:r>
            <a:r>
              <a:rPr lang="en-US" altLang="zh-CN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ClickHouse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的查询性能，同时通过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Iceberg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实现多引擎兼容、事务支持和元数据管理。</a:t>
            </a:r>
          </a:p>
        </p:txBody>
      </p:sp>
    </p:spTree>
    <p:extLst>
      <p:ext uri="{BB962C8B-B14F-4D97-AF65-F5344CB8AC3E}">
        <p14:creationId xmlns:p14="http://schemas.microsoft.com/office/powerpoint/2010/main" val="3356482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B09A5-943C-18FB-EDEB-44BB2380D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D3057C8-6DCF-9D03-3EBF-83C1D7132D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8F6B8A0-906F-0491-67DE-2EDD5E42104B}"/>
              </a:ext>
            </a:extLst>
          </p:cNvPr>
          <p:cNvSpPr/>
          <p:nvPr/>
        </p:nvSpPr>
        <p:spPr>
          <a:xfrm>
            <a:off x="762000" y="3024633"/>
            <a:ext cx="4972051" cy="1778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7000"/>
              </a:lnSpc>
            </a:pPr>
            <a:r>
              <a:rPr lang="zh-CN" altLang="en-US" sz="5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批流一体</a:t>
            </a:r>
            <a:endParaRPr lang="en-US" sz="5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308E2FB-12C6-46CB-C7E8-AAFB425C173A}"/>
              </a:ext>
            </a:extLst>
          </p:cNvPr>
          <p:cNvSpPr/>
          <p:nvPr/>
        </p:nvSpPr>
        <p:spPr>
          <a:xfrm>
            <a:off x="762000" y="5816600"/>
            <a:ext cx="63500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1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D13EE65-B414-0A29-CF27-33F60F55628E}"/>
              </a:ext>
            </a:extLst>
          </p:cNvPr>
          <p:cNvSpPr/>
          <p:nvPr/>
        </p:nvSpPr>
        <p:spPr>
          <a:xfrm>
            <a:off x="7219949" y="3403600"/>
            <a:ext cx="4972051" cy="381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29999"/>
              </a:lnSpc>
            </a:pPr>
            <a:r>
              <a:rPr lang="en-US" sz="29999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9999" dirty="0"/>
          </a:p>
        </p:txBody>
      </p:sp>
    </p:spTree>
    <p:extLst>
      <p:ext uri="{BB962C8B-B14F-4D97-AF65-F5344CB8AC3E}">
        <p14:creationId xmlns:p14="http://schemas.microsoft.com/office/powerpoint/2010/main" val="1859746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8EBF6-2C2F-2972-6FBE-B61409FCF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97762D0-363B-7211-935F-8F06E2504A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81C98930-59B8-356F-B35D-792427630476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批处理 </a:t>
            </a:r>
            <a:r>
              <a:rPr lang="en-US" altLang="zh-CN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流处理</a:t>
            </a:r>
            <a:endParaRPr lang="en-US" sz="30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C750F07-A477-2318-D165-3152632FF6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505494"/>
              </p:ext>
            </p:extLst>
          </p:nvPr>
        </p:nvGraphicFramePr>
        <p:xfrm>
          <a:off x="762000" y="1891179"/>
          <a:ext cx="10687986" cy="4511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49113">
                  <a:extLst>
                    <a:ext uri="{9D8B030D-6E8A-4147-A177-3AD203B41FA5}">
                      <a16:colId xmlns:a16="http://schemas.microsoft.com/office/drawing/2014/main" val="858573710"/>
                    </a:ext>
                  </a:extLst>
                </a:gridCol>
                <a:gridCol w="4519535">
                  <a:extLst>
                    <a:ext uri="{9D8B030D-6E8A-4147-A177-3AD203B41FA5}">
                      <a16:colId xmlns:a16="http://schemas.microsoft.com/office/drawing/2014/main" val="2080703387"/>
                    </a:ext>
                  </a:extLst>
                </a:gridCol>
                <a:gridCol w="4819338">
                  <a:extLst>
                    <a:ext uri="{9D8B030D-6E8A-4147-A177-3AD203B41FA5}">
                      <a16:colId xmlns:a16="http://schemas.microsoft.com/office/drawing/2014/main" val="21477406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zh-CN" altLang="en-US" sz="1800" b="1" spc="0" dirty="0">
                          <a:solidFill>
                            <a:srgbClr val="000000"/>
                          </a:solidFill>
                          <a:effectLst/>
                        </a:rPr>
                        <a:t> 维度 </a:t>
                      </a:r>
                      <a:endParaRPr lang="zh-CN" altLang="en-US" sz="1800" dirty="0">
                        <a:effectLst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zh-CN" altLang="en-US" sz="1800" b="1" spc="0" dirty="0">
                          <a:solidFill>
                            <a:srgbClr val="000000"/>
                          </a:solidFill>
                          <a:effectLst/>
                        </a:rPr>
                        <a:t> 批处理（</a:t>
                      </a:r>
                      <a:r>
                        <a:rPr lang="en-US" sz="1800" b="1" spc="0" dirty="0">
                          <a:solidFill>
                            <a:srgbClr val="000000"/>
                          </a:solidFill>
                          <a:effectLst/>
                        </a:rPr>
                        <a:t>Batch Processing） </a:t>
                      </a:r>
                      <a:endParaRPr lang="en-US" sz="1800" dirty="0">
                        <a:effectLst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zh-CN" altLang="en-US" sz="1800" b="1" spc="0" dirty="0">
                          <a:solidFill>
                            <a:srgbClr val="000000"/>
                          </a:solidFill>
                          <a:effectLst/>
                        </a:rPr>
                        <a:t> 流处理（</a:t>
                      </a:r>
                      <a:r>
                        <a:rPr lang="en-US" sz="1800" b="1" spc="0" dirty="0">
                          <a:solidFill>
                            <a:srgbClr val="000000"/>
                          </a:solidFill>
                          <a:effectLst/>
                        </a:rPr>
                        <a:t>Stream Processing） </a:t>
                      </a:r>
                      <a:endParaRPr lang="en-US" sz="1800" dirty="0">
                        <a:effectLst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2104579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zh-CN" altLang="en-US" sz="1800" b="1" spc="0" dirty="0">
                          <a:solidFill>
                            <a:srgbClr val="000000"/>
                          </a:solidFill>
                          <a:effectLst/>
                        </a:rPr>
                        <a:t> 数据范围 </a:t>
                      </a:r>
                      <a:endParaRPr lang="zh-CN" altLang="en-US" sz="1800" dirty="0">
                        <a:effectLst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zh-CN" altLang="en-US" sz="1800" kern="1200" dirty="0">
                          <a:solidFill>
                            <a:srgbClr val="4D4D4D"/>
                          </a:solidFill>
                        </a:rPr>
                        <a:t>处理有界数据（完整、静态的数据集）</a:t>
                      </a:r>
                      <a:endParaRPr lang="zh-CN" altLang="en-US" sz="1800" kern="1200" dirty="0">
                        <a:solidFill>
                          <a:srgbClr val="4D4D4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zh-CN" altLang="en-US" sz="1800" kern="1200" dirty="0">
                          <a:solidFill>
                            <a:srgbClr val="4D4D4D"/>
                          </a:solidFill>
                        </a:rPr>
                        <a:t>处理无界数据（持续生成、动态的数据流）</a:t>
                      </a:r>
                      <a:endParaRPr lang="zh-CN" altLang="en-US" sz="1800" kern="1200" dirty="0">
                        <a:solidFill>
                          <a:srgbClr val="4D4D4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288270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zh-CN" altLang="en-US" sz="1800" b="1" spc="0" dirty="0">
                          <a:solidFill>
                            <a:srgbClr val="000000"/>
                          </a:solidFill>
                          <a:effectLst/>
                        </a:rPr>
                        <a:t> 延迟要求 </a:t>
                      </a:r>
                      <a:endParaRPr lang="zh-CN" altLang="en-US" sz="1800" dirty="0">
                        <a:effectLst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zh-CN" altLang="en-US" sz="1800" kern="1200" dirty="0">
                          <a:solidFill>
                            <a:srgbClr val="4D4D4D"/>
                          </a:solidFill>
                        </a:rPr>
                        <a:t>高延迟（分钟级到小时级）</a:t>
                      </a:r>
                      <a:endParaRPr lang="zh-CN" altLang="en-US" sz="1800" kern="1200" dirty="0">
                        <a:solidFill>
                          <a:srgbClr val="4D4D4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zh-CN" altLang="en-US" sz="1800" kern="1200">
                          <a:solidFill>
                            <a:srgbClr val="4D4D4D"/>
                          </a:solidFill>
                        </a:rPr>
                        <a:t>低延迟（毫秒级到秒级）</a:t>
                      </a:r>
                      <a:endParaRPr lang="zh-CN" altLang="en-US" sz="1800" kern="1200">
                        <a:solidFill>
                          <a:srgbClr val="4D4D4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1403505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zh-CN" altLang="en-US" sz="1800" b="1" spc="0" dirty="0">
                          <a:solidFill>
                            <a:srgbClr val="000000"/>
                          </a:solidFill>
                          <a:effectLst/>
                        </a:rPr>
                        <a:t> 处理模型 </a:t>
                      </a:r>
                      <a:endParaRPr lang="zh-CN" altLang="en-US" sz="1800" dirty="0">
                        <a:effectLst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zh-CN" altLang="en-US" sz="1800" kern="1200" dirty="0">
                          <a:solidFill>
                            <a:srgbClr val="4D4D4D"/>
                          </a:solidFill>
                        </a:rPr>
                        <a:t>一次性处理全量数据（如按天</a:t>
                      </a:r>
                      <a:r>
                        <a:rPr lang="en-US" altLang="zh-CN" sz="1800" kern="1200" dirty="0">
                          <a:solidFill>
                            <a:srgbClr val="4D4D4D"/>
                          </a:solidFill>
                        </a:rPr>
                        <a:t>/</a:t>
                      </a:r>
                      <a:r>
                        <a:rPr lang="zh-CN" altLang="en-US" sz="1800" kern="1200" dirty="0">
                          <a:solidFill>
                            <a:srgbClr val="4D4D4D"/>
                          </a:solidFill>
                        </a:rPr>
                        <a:t>小时分批次）</a:t>
                      </a:r>
                      <a:endParaRPr lang="zh-CN" altLang="en-US" sz="1800" kern="1200" dirty="0">
                        <a:solidFill>
                          <a:srgbClr val="4D4D4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zh-CN" altLang="en-US" sz="1800" kern="1200">
                          <a:solidFill>
                            <a:srgbClr val="4D4D4D"/>
                          </a:solidFill>
                        </a:rPr>
                        <a:t>实时处理单个事件或按时间窗口处理（如滑动窗口）</a:t>
                      </a:r>
                      <a:endParaRPr lang="zh-CN" altLang="en-US" sz="1800" kern="1200">
                        <a:solidFill>
                          <a:srgbClr val="4D4D4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46418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zh-CN" altLang="en-US" sz="1800" b="1" spc="0" dirty="0">
                          <a:solidFill>
                            <a:srgbClr val="000000"/>
                          </a:solidFill>
                          <a:effectLst/>
                        </a:rPr>
                        <a:t> 状态管理 </a:t>
                      </a:r>
                      <a:endParaRPr lang="zh-CN" altLang="en-US" sz="1800" dirty="0">
                        <a:effectLst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zh-CN" altLang="en-US" sz="1800" kern="1200" dirty="0">
                          <a:solidFill>
                            <a:srgbClr val="4D4D4D"/>
                          </a:solidFill>
                        </a:rPr>
                        <a:t>通常无状态，或仅需简单聚合</a:t>
                      </a:r>
                      <a:endParaRPr lang="zh-CN" altLang="en-US" sz="1800" kern="1200" dirty="0">
                        <a:solidFill>
                          <a:srgbClr val="4D4D4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zh-CN" altLang="en-US" sz="1800" kern="1200">
                          <a:solidFill>
                            <a:srgbClr val="4D4D4D"/>
                          </a:solidFill>
                        </a:rPr>
                        <a:t>需维护状态（如计数器、窗口统计），处理乱序事件</a:t>
                      </a:r>
                      <a:endParaRPr lang="zh-CN" altLang="en-US" sz="1800" kern="1200">
                        <a:solidFill>
                          <a:srgbClr val="4D4D4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3689092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zh-CN" altLang="en-US" sz="1800" b="1" spc="0" dirty="0">
                          <a:solidFill>
                            <a:srgbClr val="000000"/>
                          </a:solidFill>
                          <a:effectLst/>
                        </a:rPr>
                        <a:t> 容错机制 </a:t>
                      </a:r>
                      <a:endParaRPr lang="zh-CN" altLang="en-US" sz="1800" dirty="0">
                        <a:effectLst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zh-CN" altLang="en-US" sz="1800" kern="1200" dirty="0">
                          <a:solidFill>
                            <a:srgbClr val="4D4D4D"/>
                          </a:solidFill>
                        </a:rPr>
                        <a:t>失败后重试整个任务（如</a:t>
                      </a:r>
                      <a:r>
                        <a:rPr lang="en-US" altLang="zh-CN" sz="1800" kern="1200" dirty="0">
                          <a:solidFill>
                            <a:srgbClr val="4D4D4D"/>
                          </a:solidFill>
                        </a:rPr>
                        <a:t>MapReduce</a:t>
                      </a:r>
                      <a:r>
                        <a:rPr lang="zh-CN" altLang="en-US" sz="1800" kern="1200" dirty="0">
                          <a:solidFill>
                            <a:srgbClr val="4D4D4D"/>
                          </a:solidFill>
                        </a:rPr>
                        <a:t>任务）</a:t>
                      </a:r>
                      <a:endParaRPr lang="zh-CN" altLang="en-US" sz="1800" kern="1200" dirty="0">
                        <a:solidFill>
                          <a:srgbClr val="4D4D4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zh-CN" altLang="en-US" sz="1800" kern="1200" dirty="0">
                          <a:solidFill>
                            <a:srgbClr val="4D4D4D"/>
                          </a:solidFill>
                        </a:rPr>
                        <a:t>需精确一次（</a:t>
                      </a:r>
                      <a:r>
                        <a:rPr lang="en-US" sz="1800" kern="1200" dirty="0">
                          <a:solidFill>
                            <a:srgbClr val="4D4D4D"/>
                          </a:solidFill>
                        </a:rPr>
                        <a:t>Exactly-Once）</a:t>
                      </a:r>
                      <a:r>
                        <a:rPr lang="zh-CN" altLang="en-US" sz="1800" kern="1200" dirty="0">
                          <a:solidFill>
                            <a:srgbClr val="4D4D4D"/>
                          </a:solidFill>
                        </a:rPr>
                        <a:t>语义保障（如</a:t>
                      </a:r>
                      <a:r>
                        <a:rPr lang="en-US" sz="1800" kern="1200" dirty="0">
                          <a:solidFill>
                            <a:srgbClr val="4D4D4D"/>
                          </a:solidFill>
                        </a:rPr>
                        <a:t>Flink</a:t>
                      </a:r>
                      <a:r>
                        <a:rPr lang="zh-CN" altLang="en-US" sz="1800" kern="1200" dirty="0">
                          <a:solidFill>
                            <a:srgbClr val="4D4D4D"/>
                          </a:solidFill>
                        </a:rPr>
                        <a:t>检查点）</a:t>
                      </a:r>
                      <a:endParaRPr lang="zh-CN" altLang="en-US" sz="1800" kern="1200" dirty="0">
                        <a:solidFill>
                          <a:srgbClr val="4D4D4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2382789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zh-CN" altLang="en-US" sz="1800" b="1" spc="0" dirty="0">
                          <a:solidFill>
                            <a:srgbClr val="000000"/>
                          </a:solidFill>
                          <a:effectLst/>
                        </a:rPr>
                        <a:t> 典型框架 </a:t>
                      </a:r>
                      <a:endParaRPr lang="zh-CN" altLang="en-US" sz="1800" dirty="0">
                        <a:effectLst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en-US" sz="1800" kern="1200">
                          <a:solidFill>
                            <a:srgbClr val="4D4D4D"/>
                          </a:solidFill>
                        </a:rPr>
                        <a:t>Hadoop MapReduce、Spark（批模式）、Hive</a:t>
                      </a:r>
                      <a:endParaRPr lang="en-US" sz="1800" kern="1200">
                        <a:solidFill>
                          <a:srgbClr val="4D4D4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en-US" sz="1800" kern="1200" dirty="0">
                          <a:solidFill>
                            <a:srgbClr val="4D4D4D"/>
                          </a:solidFill>
                        </a:rPr>
                        <a:t>Apache </a:t>
                      </a:r>
                      <a:r>
                        <a:rPr lang="en-US" sz="1800" kern="1200" dirty="0" err="1">
                          <a:solidFill>
                            <a:srgbClr val="4D4D4D"/>
                          </a:solidFill>
                        </a:rPr>
                        <a:t>Flink、Kafka</a:t>
                      </a:r>
                      <a:r>
                        <a:rPr lang="en-US" sz="1800" kern="1200" dirty="0">
                          <a:solidFill>
                            <a:srgbClr val="4D4D4D"/>
                          </a:solidFill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rgbClr val="4D4D4D"/>
                          </a:solidFill>
                        </a:rPr>
                        <a:t>Streams、Spark</a:t>
                      </a:r>
                      <a:r>
                        <a:rPr lang="en-US" sz="1800" kern="1200" dirty="0">
                          <a:solidFill>
                            <a:srgbClr val="4D4D4D"/>
                          </a:solidFill>
                        </a:rPr>
                        <a:t> Structured Streaming</a:t>
                      </a:r>
                      <a:endParaRPr lang="en-US" sz="1800" kern="1200" dirty="0">
                        <a:solidFill>
                          <a:srgbClr val="4D4D4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3767699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zh-CN" altLang="en-US" sz="1800" b="1" spc="0" dirty="0">
                          <a:solidFill>
                            <a:srgbClr val="000000"/>
                          </a:solidFill>
                          <a:effectLst/>
                        </a:rPr>
                        <a:t> 适用场景 </a:t>
                      </a:r>
                      <a:endParaRPr lang="zh-CN" altLang="en-US" sz="1800" dirty="0">
                        <a:effectLst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zh-CN" altLang="en-US" sz="1800" kern="1200">
                          <a:solidFill>
                            <a:srgbClr val="4D4D4D"/>
                          </a:solidFill>
                        </a:rPr>
                        <a:t>离线报表、历史数据分析、</a:t>
                      </a:r>
                      <a:r>
                        <a:rPr lang="en-US" altLang="zh-CN" sz="1800" kern="1200">
                          <a:solidFill>
                            <a:srgbClr val="4D4D4D"/>
                          </a:solidFill>
                        </a:rPr>
                        <a:t>ETL</a:t>
                      </a:r>
                      <a:endParaRPr lang="zh-CN" altLang="en-US" sz="1800" kern="1200">
                        <a:solidFill>
                          <a:srgbClr val="4D4D4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zh-CN" altLang="en-US" sz="1800" kern="1200" dirty="0">
                          <a:solidFill>
                            <a:srgbClr val="4D4D4D"/>
                          </a:solidFill>
                        </a:rPr>
                        <a:t>实时监控、告警、实时推荐、金融风控</a:t>
                      </a:r>
                      <a:endParaRPr lang="zh-CN" altLang="en-US" sz="1800" kern="1200" dirty="0">
                        <a:solidFill>
                          <a:srgbClr val="4D4D4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3830586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4787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F1080-14F6-9033-C2CD-56D5AB81D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C4088120-AC27-482E-14FC-8BEB835D44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B506868-8CD6-D063-A927-C8B30353D83B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流处理的应用场景​</a:t>
            </a:r>
            <a:endParaRPr lang="en-US" sz="3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E1C9C1E-0AE4-7DFF-9D97-C05BE008593D}"/>
              </a:ext>
            </a:extLst>
          </p:cNvPr>
          <p:cNvSpPr txBox="1"/>
          <p:nvPr/>
        </p:nvSpPr>
        <p:spPr>
          <a:xfrm>
            <a:off x="436589" y="1724587"/>
            <a:ext cx="5372100" cy="5282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4290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实时监控与告警  </a:t>
            </a:r>
            <a:endParaRPr lang="en-US" altLang="zh-CN" sz="2000" b="1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  ：</a:t>
            </a:r>
            <a:endParaRPr lang="en-US" altLang="zh-CN" b="1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使用率超过阈值时立即触发告警。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工厂设备传感器数据异常时实时停机保护。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  ：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避免因延迟导致故障扩大。  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 </a:t>
            </a: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动态业务决策  </a:t>
            </a:r>
            <a:endParaRPr lang="en-US" altLang="zh-CN" sz="2000" b="1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  ：</a:t>
            </a:r>
            <a:endParaRPr lang="en-US" altLang="zh-CN" b="1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电商实时调整推荐商品（如用户点击后立即更新推荐列表）。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网约车动态调价（基于供需变化实时计算溢价）。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  ：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利用最新数据快速优化业务策略。  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0F2FD4-B5C8-A20B-97FD-29EC3CD983B3}"/>
              </a:ext>
            </a:extLst>
          </p:cNvPr>
          <p:cNvSpPr txBox="1"/>
          <p:nvPr/>
        </p:nvSpPr>
        <p:spPr>
          <a:xfrm>
            <a:off x="6383313" y="1724587"/>
            <a:ext cx="5372098" cy="4406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金融实时风控  </a:t>
            </a:r>
            <a:endParaRPr lang="en-US" altLang="zh-CN" sz="2000" b="1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  ：</a:t>
            </a:r>
            <a:endParaRPr lang="en-US" altLang="zh-CN" b="1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检测信用卡盗刷（同一卡号短时间内多地交易）。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股票高频交易中的异常波动识别。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  ：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毫秒级响应以规避资金损失。  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物联网（</a:t>
            </a:r>
            <a:r>
              <a:rPr lang="en-US" altLang="zh-CN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IoT</a:t>
            </a: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）数据处理  </a:t>
            </a:r>
            <a:endParaRPr lang="en-US" altLang="zh-CN" sz="2000" b="1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  ：</a:t>
            </a:r>
            <a:endParaRPr lang="en-US" altLang="zh-CN" b="1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智能家居设备实时响应语音指令。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车联网中实时分析车辆位置与路况。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  ：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设备需即时反馈，无法容忍批处理延迟。</a:t>
            </a:r>
          </a:p>
        </p:txBody>
      </p:sp>
    </p:spTree>
    <p:extLst>
      <p:ext uri="{BB962C8B-B14F-4D97-AF65-F5344CB8AC3E}">
        <p14:creationId xmlns:p14="http://schemas.microsoft.com/office/powerpoint/2010/main" val="2415622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9EBE1-1AC1-EE63-F2EA-DB7F89B38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2180042-A12D-DBB4-0EBE-51E7088F33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5105C14-CD8B-97D0-83BF-D00A020D0CC0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</a:t>
            </a:r>
            <a:r>
              <a:rPr lang="en-US" altLang="zh-CN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CPI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编制的局限性 </a:t>
            </a:r>
            <a:endParaRPr lang="en-US" sz="3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96D5A3-DBA1-40B4-B609-5F71F823C308}"/>
              </a:ext>
            </a:extLst>
          </p:cNvPr>
          <p:cNvSpPr txBox="1"/>
          <p:nvPr/>
        </p:nvSpPr>
        <p:spPr>
          <a:xfrm>
            <a:off x="564004" y="1951855"/>
            <a:ext cx="9996565" cy="2346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通常基于月度或季度的批量数据采集与计算，存在明显短板：</a:t>
            </a:r>
            <a:endParaRPr lang="en-US" altLang="zh-CN" sz="20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数据延迟严重  ：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价格数据需人工采集或定期汇总，无法捕捉突发价格波动（如疫情期物资短缺、能源危机等）。</a:t>
            </a:r>
            <a:endParaRPr lang="en-US" altLang="zh-CN" sz="20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政策响应滞后  ：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经济决策依赖过时数据，难以快速应对通胀或通缩风险。</a:t>
            </a:r>
            <a:endParaRPr lang="en-US" altLang="zh-CN" sz="20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粒度粗糙  ：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无法细分高频维度（如小时级区域价格差异、线上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线下渠道差异）。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7FF7EFD-C677-78D5-B226-299FA6ECA87C}"/>
              </a:ext>
            </a:extLst>
          </p:cNvPr>
          <p:cNvSpPr txBox="1"/>
          <p:nvPr/>
        </p:nvSpPr>
        <p:spPr>
          <a:xfrm>
            <a:off x="761999" y="4778875"/>
            <a:ext cx="1084038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        在高频</a:t>
            </a:r>
            <a:r>
              <a:rPr lang="en-US" altLang="zh-CN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（居民消费价格指数）编制场景中，流处理技术能够解决传统批处理模式</a:t>
            </a: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时效性不足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动态响应滞后</a:t>
            </a:r>
            <a:r>
              <a:rPr lang="zh-CN" altLang="en-US" sz="20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的痛点，通过实时采集、处理和分析价格数据，显著提升经济监测与政策制定的效率。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3864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A007B-7F8C-4C7F-341F-50C010978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12F999D-9350-4E87-244E-E1CE66B736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CC06FE2-10D3-B66F-7307-2A4DB739EA54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流处理在高频</a:t>
            </a:r>
            <a:r>
              <a:rPr lang="en-US" altLang="zh-CN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CPI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中的核心作用</a:t>
            </a:r>
            <a:endParaRPr lang="en-US" sz="3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6D9DF2A-2913-BCC3-8DC1-38E7B68199F9}"/>
              </a:ext>
            </a:extLst>
          </p:cNvPr>
          <p:cNvSpPr txBox="1"/>
          <p:nvPr/>
        </p:nvSpPr>
        <p:spPr>
          <a:xfrm>
            <a:off x="598487" y="1893157"/>
            <a:ext cx="10831513" cy="4660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通过流处理技术（如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Flink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），可构建实时价格监测体系，实现以下目标：  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AutoNum type="arabicPeriod"/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实时数据采集与清洗  </a:t>
            </a:r>
            <a:endParaRPr lang="en-US" altLang="zh-CN" b="1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 数据源：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电商平台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（如天猫、京东实时价格）、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机交易流（超市、便利店实时销售数据）、移动支付记录（支付宝、微信支付流水）。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●  流处理任务：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过滤无效数据（如退货订单、测试数据）、标准化商品规格（如将“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500ml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可乐”统一编码）、检测异常值（如价格突增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的商品，触发人工审核）。  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AutoNum type="arabicPeriod" startAt="2"/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动态权重调整与指数计算  </a:t>
            </a:r>
            <a:endParaRPr lang="en-US" altLang="zh-CN" b="1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●  传统方法：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商品权重固定（如食品类占比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30%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），无法反映消费结构实时变化。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●  流处理优化：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基于实时交易流水，动态计算商品消费权重（如疫情期间口罩权重上升）、按时间窗口（如每小时）滚动更新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成分（使用流处理的滑动窗口功能）。</a:t>
            </a:r>
          </a:p>
        </p:txBody>
      </p:sp>
    </p:spTree>
    <p:extLst>
      <p:ext uri="{BB962C8B-B14F-4D97-AF65-F5344CB8AC3E}">
        <p14:creationId xmlns:p14="http://schemas.microsoft.com/office/powerpoint/2010/main" val="15529732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95EEC-22BC-4C6A-E6D0-94D25C345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BF83E88-F547-6D69-EAC3-63A5E51D08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B61501FF-2E75-55E8-08EE-10AFC26D6827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流处理在高频</a:t>
            </a:r>
            <a:r>
              <a:rPr lang="en-US" altLang="zh-CN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CPI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中的核心作用</a:t>
            </a:r>
            <a:endParaRPr lang="en-US" sz="3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188E386-256A-E268-42AC-5883C48B87D8}"/>
              </a:ext>
            </a:extLst>
          </p:cNvPr>
          <p:cNvSpPr txBox="1"/>
          <p:nvPr/>
        </p:nvSpPr>
        <p:spPr>
          <a:xfrm>
            <a:off x="598487" y="1893157"/>
            <a:ext cx="10831513" cy="4321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实时可视化与预警  </a:t>
            </a:r>
            <a:endParaRPr lang="en-US" altLang="zh-CN" b="1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●  输出结果  ：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仪表盘：展示全国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分区域、分品类的价格波动趋势。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自动预警：当某类商品价格连续上涨超过阈值时，触发短信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邮件告警（如“蔬菜价格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小时内上涨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20%”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  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支持政策模拟与预测  </a:t>
            </a:r>
            <a:endParaRPr lang="en-US" altLang="zh-CN" b="1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●  集成机器学习模型  ：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在流处理流水线中嵌入通胀预测模型（如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ARIMA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LSTM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），实时预测未来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走势。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模拟政策影响（如“加息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0.5%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的抑制作用”），为央行提供实时决策支持。</a:t>
            </a:r>
          </a:p>
        </p:txBody>
      </p:sp>
    </p:spTree>
    <p:extLst>
      <p:ext uri="{BB962C8B-B14F-4D97-AF65-F5344CB8AC3E}">
        <p14:creationId xmlns:p14="http://schemas.microsoft.com/office/powerpoint/2010/main" val="1179435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66621-B540-8B62-CDB4-DF787CAC9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E1457FD-8E87-216E-DC57-CA4D71C08B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480" y="0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A5DE301-3CDC-83BD-D25E-FCC1957768CD}"/>
              </a:ext>
            </a:extLst>
          </p:cNvPr>
          <p:cNvSpPr/>
          <p:nvPr/>
        </p:nvSpPr>
        <p:spPr>
          <a:xfrm>
            <a:off x="939384" y="460097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</a:t>
            </a:r>
            <a:r>
              <a:rPr lang="en-US" altLang="zh-CN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CPI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的流处理架构示例 </a:t>
            </a:r>
            <a:endParaRPr lang="en-US" sz="3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3C9206-9A33-F31F-F353-60FFE17F30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4105" y="1845107"/>
            <a:ext cx="9571219" cy="455279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D78A867-0E2F-2A4C-E25D-F3A4964F3F57}"/>
              </a:ext>
            </a:extLst>
          </p:cNvPr>
          <p:cNvSpPr txBox="1"/>
          <p:nvPr/>
        </p:nvSpPr>
        <p:spPr>
          <a:xfrm>
            <a:off x="939384" y="1268928"/>
            <a:ext cx="6187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以下是一个基于 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Apache Flink 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的实时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计算架构</a:t>
            </a:r>
            <a:r>
              <a:rPr lang="zh-CN" altLang="en-US" dirty="0"/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3661684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3707B-41AF-BD31-5E66-ED4EE1078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AC0543B1-0260-ADC3-66A8-FABEDCB0E2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E8CD7CAD-AA66-D58E-459B-2A423B8A6529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altLang="zh-CN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Kafka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的核心特性与价值​</a:t>
            </a:r>
            <a:endParaRPr lang="en-US" sz="3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8C3F9BE-9C13-2DD0-796C-28FFDABFDE54}"/>
              </a:ext>
            </a:extLst>
          </p:cNvPr>
          <p:cNvSpPr txBox="1"/>
          <p:nvPr/>
        </p:nvSpPr>
        <p:spPr>
          <a:xfrm>
            <a:off x="539646" y="1651000"/>
            <a:ext cx="11729803" cy="5152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​​分布式高可用架构​​</a:t>
            </a:r>
          </a:p>
          <a:p>
            <a:pPr marL="0" lvl="1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b="0" i="0" dirty="0">
                <a:effectLst/>
                <a:latin typeface="PingFang SC"/>
              </a:rPr>
              <a:t>​</a:t>
            </a:r>
            <a:r>
              <a:rPr lang="zh-CN" altLang="en-US" b="1" i="0" dirty="0">
                <a:effectLst/>
                <a:latin typeface="inherit"/>
              </a:rPr>
              <a:t>​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分区与副本机制​​：数据分片（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Partition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）存储，每个分区多副本（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Replica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）冗余，保障数据不丢失。</a:t>
            </a:r>
          </a:p>
          <a:p>
            <a:pPr marL="0" lvl="1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横向扩展​​：通过增加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Broker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节点提升吞吐量，支持百万级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TPS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（如金融交易、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IoT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场景）。</a:t>
            </a:r>
          </a:p>
          <a:p>
            <a:pPr marL="342900" indent="-34290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​​持久化与顺序性​​</a:t>
            </a:r>
          </a:p>
          <a:p>
            <a:pPr marL="0" lvl="1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日志结构存储​​：数据按追加顺序写入磁盘，支持高吞吐写入；保留策略可配置（如保留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天或按大小滚动删除）。</a:t>
            </a:r>
          </a:p>
          <a:p>
            <a:pPr marL="0" lvl="1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严格消息顺序​​：同一分区内消息顺序消费，保障业务逻辑正确性（如订单状态变更流）。</a:t>
            </a:r>
          </a:p>
          <a:p>
            <a:pPr marL="342900" indent="-34290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​​多角色适配​​</a:t>
            </a:r>
          </a:p>
          <a:p>
            <a:pPr marL="0" lvl="1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生产者（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Producer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）​​：数据源（如传感器、服务日志）实时写入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Kafka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消费者（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Consumer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）​​：下游系统（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Flink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Spark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、数据库）按需订阅并处理数据。</a:t>
            </a:r>
          </a:p>
          <a:p>
            <a:pPr marL="342900" indent="-34290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​​流批统一基础​​</a:t>
            </a:r>
          </a:p>
          <a:p>
            <a:pPr marL="0" lvl="1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历史数据重放​​：通过偏移量（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Offset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）回溯消费，同一</a:t>
            </a:r>
            <a:r>
              <a:rPr lang="en-US" altLang="zh-CN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Topic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支持实时流处理与历史批处理。</a:t>
            </a:r>
          </a:p>
        </p:txBody>
      </p:sp>
    </p:spTree>
    <p:extLst>
      <p:ext uri="{BB962C8B-B14F-4D97-AF65-F5344CB8AC3E}">
        <p14:creationId xmlns:p14="http://schemas.microsoft.com/office/powerpoint/2010/main" val="5599489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F0667-EB30-73A2-690B-7F9615E0B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CB82F299-1722-CA1B-30F3-F2AD276A4D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8FD97C07-AC4A-CCC6-AE8A-5C1637DB8940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altLang="zh-CN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Kafka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的典型应用场景​</a:t>
            </a:r>
            <a:endParaRPr lang="en-US" sz="3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470FFE5-8B51-5134-643E-D42BAA9230F0}"/>
              </a:ext>
            </a:extLst>
          </p:cNvPr>
          <p:cNvSpPr txBox="1"/>
          <p:nvPr/>
        </p:nvSpPr>
        <p:spPr>
          <a:xfrm>
            <a:off x="554636" y="2115695"/>
            <a:ext cx="11729803" cy="3905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​​实时数据管道​​</a:t>
            </a:r>
          </a:p>
          <a:p>
            <a:pPr marL="0" lvl="1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将业务数据库变更（通过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CDC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工具如</a:t>
            </a:r>
            <a:r>
              <a:rPr lang="en-US" altLang="zh-CN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Debezium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）实时同步到湖仓一体环境（如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Iceberg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表），供下游分析。</a:t>
            </a:r>
          </a:p>
          <a:p>
            <a:pPr marL="342900" indent="-34290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​​事件驱动架构​​</a:t>
            </a:r>
          </a:p>
          <a:p>
            <a:pPr marL="0" lvl="1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电商订单流程中，订单创建、支付、物流等事件通过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Kafka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流转，触发风控、库存更新等操作。</a:t>
            </a:r>
          </a:p>
          <a:p>
            <a:pPr marL="342900" indent="-34290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​​流处理数据源​​</a:t>
            </a:r>
          </a:p>
          <a:p>
            <a:pPr marL="0" lvl="1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​​与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Flink/Spark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集成​​：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Kafka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Flink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作业的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Source/Sink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，支撑实时指标计算（如高频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中的价格流处理）</a:t>
            </a:r>
            <a:r>
              <a:rPr lang="zh-CN" altLang="en-US" sz="16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​​削峰填谷​​</a:t>
            </a:r>
            <a:endParaRPr lang="en-US" altLang="zh-CN" b="1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突发流量缓冲​​：应对促销期间流量高峰，避免下游系统过载。</a:t>
            </a:r>
          </a:p>
        </p:txBody>
      </p:sp>
    </p:spTree>
    <p:extLst>
      <p:ext uri="{BB962C8B-B14F-4D97-AF65-F5344CB8AC3E}">
        <p14:creationId xmlns:p14="http://schemas.microsoft.com/office/powerpoint/2010/main" val="13682698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8A17A-18FD-841A-51B2-61CCD3E2B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B3F9BDB-9BC5-EE8C-465A-1BDC4EA725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04566CD-BC9D-2486-37BF-9F97969A6693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altLang="zh-CN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Flink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简介​</a:t>
            </a:r>
            <a:endParaRPr lang="en-US" sz="3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021525F-65AF-C151-499E-6511C7136D77}"/>
              </a:ext>
            </a:extLst>
          </p:cNvPr>
          <p:cNvSpPr txBox="1"/>
          <p:nvPr/>
        </p:nvSpPr>
        <p:spPr>
          <a:xfrm>
            <a:off x="914401" y="1883348"/>
            <a:ext cx="9196466" cy="1282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50"/>
              </a:spcAft>
              <a:buNone/>
            </a:pP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Apache Flink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是一个分布式计算框架，它能够对有界和无界的数据流进行高效的处理。</a:t>
            </a:r>
          </a:p>
          <a:p>
            <a:pPr algn="l">
              <a:spcAft>
                <a:spcPts val="1350"/>
              </a:spcAft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有界数据：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即批数据（离线数据），具有已定义的起止位置，属于静态数据集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Aft>
                <a:spcPts val="1350"/>
              </a:spcAft>
            </a:pP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无界数据：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即流式数据（实时数据），无已定义的结束位置，属于动态数据集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7A8A808-EC87-EC96-0C79-F805CCCCF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87" y="3519350"/>
            <a:ext cx="10385685" cy="237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686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E2DB6-63C4-2646-459F-257D8F57B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C22CE502-1AAF-D164-A235-1364EC5282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29A7287-A606-DEA1-8CFF-9E686F5E2A5F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altLang="zh-CN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Flink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的优点​</a:t>
            </a:r>
            <a:endParaRPr lang="en-US" sz="3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3B50A74-7AB0-2DEB-197C-18C1EBB366C6}"/>
              </a:ext>
            </a:extLst>
          </p:cNvPr>
          <p:cNvSpPr txBox="1"/>
          <p:nvPr/>
        </p:nvSpPr>
        <p:spPr>
          <a:xfrm>
            <a:off x="659567" y="1845872"/>
            <a:ext cx="10640518" cy="2113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50"/>
              </a:spcAft>
              <a:buNone/>
            </a:pPr>
            <a:r>
              <a:rPr lang="en-US" altLang="zh-CN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随处部署应用：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Flink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集成了所有常见的集群资源管理器，例如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Hadoop YARN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Apache Mesos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Kubernetes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，也可以作为独立集群运行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Aft>
                <a:spcPts val="1350"/>
              </a:spcAft>
              <a:buNone/>
            </a:pPr>
            <a:r>
              <a:rPr lang="en-US" altLang="zh-CN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以任意规模运行应用：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Flink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的设计目标就是为了支撑任意规模、有状态流应用程序的运行，应用程序被并行化为分布式集群中的数千个任务，因此，可以利用几乎无限量的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、主内存、磁盘和网络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</a:t>
            </a:r>
          </a:p>
          <a:p>
            <a:pPr algn="l">
              <a:spcAft>
                <a:spcPts val="1350"/>
              </a:spcAft>
              <a:buNone/>
            </a:pPr>
            <a:r>
              <a:rPr lang="en-US" altLang="zh-CN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内存级计算性能：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Flink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中，任务状态始终保存在内存中，因此，任务通过访问本地的状态（通常在内存中）来执行所有计算，从而产生非常低的处理延迟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6778A76-4B0D-EF6E-333C-44E7275B8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915" y="4236270"/>
            <a:ext cx="10408170" cy="230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370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468C0-E7B7-803C-70C4-39422FF48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8A85497-17DA-4929-3FAD-6A0B799B54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62D2504-145F-C6FE-9F4C-C492732B37BF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altLang="zh-CN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Flink 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状态管理​</a:t>
            </a:r>
            <a:endParaRPr lang="en-US" sz="3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CCB2D62-BF38-537B-C0B7-F72171A53ACB}"/>
              </a:ext>
            </a:extLst>
          </p:cNvPr>
          <p:cNvSpPr txBox="1"/>
          <p:nvPr/>
        </p:nvSpPr>
        <p:spPr>
          <a:xfrm>
            <a:off x="652072" y="1755931"/>
            <a:ext cx="10640518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50"/>
              </a:spcAft>
              <a:buNone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以最常见的词频统计为例。当单词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panda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第一次流入，统计任务会输出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(panda, 1)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的结果；当单词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panda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第二次流入，统计任务会输出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(panda, 2)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的结果。在这个过程中，出现了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1+1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的计算。</a:t>
            </a:r>
          </a:p>
          <a:p>
            <a:pPr algn="l">
              <a:spcAft>
                <a:spcPts val="1350"/>
              </a:spcAft>
              <a:buNone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第一个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是已经流走的数据，不像第二个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是刚刚流入的，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Flink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程序会通过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State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进行记录。</a:t>
            </a:r>
          </a:p>
          <a:p>
            <a:pPr algn="l">
              <a:spcAft>
                <a:spcPts val="1350"/>
              </a:spcAft>
              <a:buNone/>
            </a:pP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State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是记录 </a:t>
            </a:r>
            <a:r>
              <a:rPr lang="zh-CN" altLang="en-US" b="1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有状态算子任务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计算结果的载体，支持中间结果的读取、保存、更新与清除。在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Flink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中，一个带有 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State 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的流处理过程如下图所示：</a:t>
            </a:r>
          </a:p>
          <a:p>
            <a:pPr algn="l">
              <a:spcAft>
                <a:spcPts val="1350"/>
              </a:spcAft>
              <a:buNone/>
            </a:pPr>
            <a:endParaRPr lang="zh-CN" altLang="en-US" b="1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F86FE28-AEB6-2BE5-D9BC-E6CA42BC29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279" y="3623872"/>
            <a:ext cx="7081623" cy="311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3502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5EC2B-3247-DE12-A41D-97C831548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B50022D-A039-6ECD-73CB-2E45CA7FA3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E577E0D6-6A25-E9D3-869E-3932A6F5BDFF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altLang="zh-CN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Flink​​ vs Spark</a:t>
            </a: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​</a:t>
            </a:r>
            <a:endParaRPr lang="en-US" sz="3000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0934243-7426-1B6C-F29F-85E0758B95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107385"/>
              </p:ext>
            </p:extLst>
          </p:nvPr>
        </p:nvGraphicFramePr>
        <p:xfrm>
          <a:off x="616470" y="2023956"/>
          <a:ext cx="10959059" cy="4267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727397">
                  <a:extLst>
                    <a:ext uri="{9D8B030D-6E8A-4147-A177-3AD203B41FA5}">
                      <a16:colId xmlns:a16="http://schemas.microsoft.com/office/drawing/2014/main" val="3222598720"/>
                    </a:ext>
                  </a:extLst>
                </a:gridCol>
                <a:gridCol w="4244279">
                  <a:extLst>
                    <a:ext uri="{9D8B030D-6E8A-4147-A177-3AD203B41FA5}">
                      <a16:colId xmlns:a16="http://schemas.microsoft.com/office/drawing/2014/main" val="2075719697"/>
                    </a:ext>
                  </a:extLst>
                </a:gridCol>
                <a:gridCol w="3987383">
                  <a:extLst>
                    <a:ext uri="{9D8B030D-6E8A-4147-A177-3AD203B41FA5}">
                      <a16:colId xmlns:a16="http://schemas.microsoft.com/office/drawing/2014/main" val="37600868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dirty="0">
                          <a:effectLst/>
                        </a:rPr>
                        <a:t>维度​​</a:t>
                      </a:r>
                      <a:endParaRPr lang="zh-CN" altLang="en-US" sz="2000" b="1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dirty="0">
                          <a:effectLst/>
                        </a:rPr>
                        <a:t>​​Flink​​</a:t>
                      </a:r>
                      <a:endParaRPr lang="en-US" sz="2000" b="1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>
                          <a:effectLst/>
                        </a:rPr>
                        <a:t>​​Spark​​</a:t>
                      </a:r>
                      <a:endParaRPr lang="en-US" sz="2000" b="1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573885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dirty="0">
                          <a:effectLst/>
                        </a:rPr>
                        <a:t>​</a:t>
                      </a:r>
                      <a:r>
                        <a:rPr lang="zh-CN" altLang="en-US" sz="2000" b="1" dirty="0">
                          <a:effectLst/>
                        </a:rPr>
                        <a:t>​处理模型​</a:t>
                      </a:r>
                      <a:r>
                        <a:rPr lang="zh-CN" altLang="en-US" sz="2000" b="0" dirty="0">
                          <a:effectLst/>
                        </a:rPr>
                        <a:t>​</a:t>
                      </a:r>
                      <a:endParaRPr lang="zh-CN" altLang="en-US" sz="2000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dirty="0">
                          <a:effectLst/>
                        </a:rPr>
                        <a:t>​​逐事件实时处理​​（</a:t>
                      </a:r>
                      <a:r>
                        <a:rPr lang="en-US" sz="2000" b="0" dirty="0">
                          <a:effectLst/>
                        </a:rPr>
                        <a:t>True Streaming）</a:t>
                      </a:r>
                      <a:endParaRPr lang="en-US" sz="2000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>
                          <a:effectLst/>
                        </a:rPr>
                        <a:t>​​微批次处理​​（</a:t>
                      </a:r>
                      <a:r>
                        <a:rPr lang="en-US" sz="2000" b="0">
                          <a:effectLst/>
                        </a:rPr>
                        <a:t>Micro-Batching）</a:t>
                      </a:r>
                      <a:endParaRPr lang="en-US" sz="2000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2030084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>
                          <a:effectLst/>
                        </a:rPr>
                        <a:t>​</a:t>
                      </a:r>
                      <a:r>
                        <a:rPr lang="zh-CN" altLang="en-US" sz="2000" b="1">
                          <a:effectLst/>
                        </a:rPr>
                        <a:t>​延迟​</a:t>
                      </a:r>
                      <a:r>
                        <a:rPr lang="zh-CN" altLang="en-US" sz="2000" b="0">
                          <a:effectLst/>
                        </a:rPr>
                        <a:t>​</a:t>
                      </a:r>
                      <a:endParaRPr lang="zh-CN" altLang="en-US" sz="2000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dirty="0">
                          <a:effectLst/>
                        </a:rPr>
                        <a:t>​​毫秒级​​</a:t>
                      </a:r>
                      <a:endParaRPr lang="zh-CN" altLang="en-US" sz="2000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dirty="0">
                          <a:effectLst/>
                        </a:rPr>
                        <a:t>​​秒级​​</a:t>
                      </a:r>
                      <a:endParaRPr lang="zh-CN" altLang="en-US" sz="2000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2866342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>
                          <a:effectLst/>
                        </a:rPr>
                        <a:t>​</a:t>
                      </a:r>
                      <a:r>
                        <a:rPr lang="zh-CN" altLang="en-US" sz="2000" b="1">
                          <a:effectLst/>
                        </a:rPr>
                        <a:t>​核心设计​</a:t>
                      </a:r>
                      <a:r>
                        <a:rPr lang="zh-CN" altLang="en-US" sz="2000" b="0">
                          <a:effectLst/>
                        </a:rPr>
                        <a:t>​</a:t>
                      </a:r>
                      <a:endParaRPr lang="zh-CN" altLang="en-US" sz="2000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dirty="0">
                          <a:effectLst/>
                        </a:rPr>
                        <a:t>流处理优先，批处理是流的特例</a:t>
                      </a:r>
                      <a:endParaRPr lang="zh-CN" altLang="en-US" sz="2000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>
                          <a:effectLst/>
                        </a:rPr>
                        <a:t>批处理优先，流处理基于批次扩展</a:t>
                      </a:r>
                      <a:endParaRPr lang="zh-CN" altLang="en-US" sz="2000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334311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>
                          <a:effectLst/>
                        </a:rPr>
                        <a:t>​</a:t>
                      </a:r>
                      <a:r>
                        <a:rPr lang="zh-CN" altLang="en-US" sz="2000" b="1">
                          <a:effectLst/>
                        </a:rPr>
                        <a:t>​状态管理​</a:t>
                      </a:r>
                      <a:r>
                        <a:rPr lang="zh-CN" altLang="en-US" sz="2000" b="0">
                          <a:effectLst/>
                        </a:rPr>
                        <a:t>​</a:t>
                      </a:r>
                      <a:endParaRPr lang="zh-CN" altLang="en-US" sz="2000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dirty="0">
                          <a:effectLst/>
                        </a:rPr>
                        <a:t>原生大状态支持，增量检查点</a:t>
                      </a:r>
                      <a:endParaRPr lang="zh-CN" altLang="en-US" sz="2000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dirty="0">
                          <a:effectLst/>
                        </a:rPr>
                        <a:t>依赖</a:t>
                      </a:r>
                      <a:r>
                        <a:rPr lang="en-US" altLang="zh-CN" sz="2000" b="0" dirty="0">
                          <a:effectLst/>
                        </a:rPr>
                        <a:t>RDD</a:t>
                      </a:r>
                      <a:r>
                        <a:rPr lang="zh-CN" altLang="en-US" sz="2000" b="0" dirty="0">
                          <a:effectLst/>
                        </a:rPr>
                        <a:t>，需手动管理中间状态</a:t>
                      </a:r>
                      <a:endParaRPr lang="zh-CN" altLang="en-US" sz="2000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3054612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>
                          <a:effectLst/>
                        </a:rPr>
                        <a:t>​</a:t>
                      </a:r>
                      <a:r>
                        <a:rPr lang="zh-CN" altLang="en-US" sz="2000" b="1">
                          <a:effectLst/>
                        </a:rPr>
                        <a:t>​事件时间​</a:t>
                      </a:r>
                      <a:r>
                        <a:rPr lang="zh-CN" altLang="en-US" sz="2000" b="0">
                          <a:effectLst/>
                        </a:rPr>
                        <a:t>​</a:t>
                      </a:r>
                      <a:endParaRPr lang="zh-CN" altLang="en-US" sz="2000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>
                          <a:effectLst/>
                        </a:rPr>
                        <a:t>内置完善</a:t>
                      </a:r>
                      <a:r>
                        <a:rPr lang="en-US" sz="2000" b="0">
                          <a:effectLst/>
                        </a:rPr>
                        <a:t>Watermark</a:t>
                      </a:r>
                      <a:r>
                        <a:rPr lang="zh-CN" altLang="en-US" sz="2000" b="0">
                          <a:effectLst/>
                        </a:rPr>
                        <a:t>机制</a:t>
                      </a:r>
                      <a:endParaRPr lang="zh-CN" altLang="en-US" sz="2000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dirty="0">
                          <a:effectLst/>
                        </a:rPr>
                        <a:t>需手动配置（</a:t>
                      </a:r>
                      <a:r>
                        <a:rPr lang="en-US" sz="2000" b="0" dirty="0">
                          <a:effectLst/>
                        </a:rPr>
                        <a:t>Structured Streaming）</a:t>
                      </a:r>
                      <a:endParaRPr lang="en-US" sz="2000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2956376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>
                          <a:effectLst/>
                        </a:rPr>
                        <a:t>​</a:t>
                      </a:r>
                      <a:r>
                        <a:rPr lang="zh-CN" altLang="en-US" sz="2000" b="1">
                          <a:effectLst/>
                        </a:rPr>
                        <a:t>​容错​</a:t>
                      </a:r>
                      <a:r>
                        <a:rPr lang="zh-CN" altLang="en-US" sz="2000" b="0">
                          <a:effectLst/>
                        </a:rPr>
                        <a:t>​</a:t>
                      </a:r>
                      <a:endParaRPr lang="zh-CN" altLang="en-US" sz="2000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>
                          <a:effectLst/>
                        </a:rPr>
                        <a:t>轻量级分布式快照</a:t>
                      </a:r>
                      <a:endParaRPr lang="zh-CN" altLang="en-US" sz="2000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dirty="0">
                          <a:effectLst/>
                        </a:rPr>
                        <a:t>基于</a:t>
                      </a:r>
                      <a:r>
                        <a:rPr lang="en-US" altLang="zh-CN" sz="2000" b="0" dirty="0">
                          <a:effectLst/>
                        </a:rPr>
                        <a:t>RDD</a:t>
                      </a:r>
                      <a:r>
                        <a:rPr lang="zh-CN" altLang="en-US" sz="2000" b="0" dirty="0">
                          <a:effectLst/>
                        </a:rPr>
                        <a:t>血缘重计算</a:t>
                      </a:r>
                      <a:endParaRPr lang="zh-CN" altLang="en-US" sz="2000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3877928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dirty="0">
                          <a:effectLst/>
                        </a:rPr>
                        <a:t>​</a:t>
                      </a:r>
                      <a:r>
                        <a:rPr lang="zh-CN" altLang="en-US" sz="2000" b="1" dirty="0">
                          <a:effectLst/>
                        </a:rPr>
                        <a:t>​典型场景​</a:t>
                      </a:r>
                      <a:r>
                        <a:rPr lang="zh-CN" altLang="en-US" sz="2000" b="0" dirty="0">
                          <a:effectLst/>
                        </a:rPr>
                        <a:t>​</a:t>
                      </a:r>
                      <a:endParaRPr lang="zh-CN" altLang="en-US" sz="2000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>
                          <a:effectLst/>
                        </a:rPr>
                        <a:t>实时风控、</a:t>
                      </a:r>
                      <a:r>
                        <a:rPr lang="en-US" altLang="zh-CN" sz="2000" b="0">
                          <a:effectLst/>
                        </a:rPr>
                        <a:t>CEP</a:t>
                      </a:r>
                      <a:r>
                        <a:rPr lang="zh-CN" altLang="en-US" sz="2000" b="0">
                          <a:effectLst/>
                        </a:rPr>
                        <a:t>复杂事件处理</a:t>
                      </a:r>
                      <a:endParaRPr lang="zh-CN" altLang="en-US" sz="2000" b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0" dirty="0">
                          <a:effectLst/>
                        </a:rPr>
                        <a:t>离线</a:t>
                      </a:r>
                      <a:r>
                        <a:rPr lang="en-US" altLang="zh-CN" sz="2000" b="0" dirty="0">
                          <a:effectLst/>
                        </a:rPr>
                        <a:t>ETL</a:t>
                      </a:r>
                      <a:r>
                        <a:rPr lang="zh-CN" altLang="en-US" sz="2000" b="0" dirty="0">
                          <a:effectLst/>
                        </a:rPr>
                        <a:t>、机器学习（</a:t>
                      </a:r>
                      <a:r>
                        <a:rPr lang="en-US" altLang="zh-CN" sz="2000" b="0" dirty="0">
                          <a:effectLst/>
                        </a:rPr>
                        <a:t>MLlib</a:t>
                      </a:r>
                      <a:r>
                        <a:rPr lang="zh-CN" altLang="en-US" sz="2000" b="0" dirty="0">
                          <a:effectLst/>
                        </a:rPr>
                        <a:t>）</a:t>
                      </a:r>
                      <a:endParaRPr lang="zh-CN" altLang="en-US" sz="2000" b="0" dirty="0">
                        <a:effectLst/>
                        <a:latin typeface="PingFang SC"/>
                      </a:endParaRPr>
                    </a:p>
                  </a:txBody>
                  <a:tcPr marL="101600" marR="101600" marT="76200" marB="76200" anchor="ctr"/>
                </a:tc>
                <a:extLst>
                  <a:ext uri="{0D108BD9-81ED-4DB2-BD59-A6C34878D82A}">
                    <a16:rowId xmlns:a16="http://schemas.microsoft.com/office/drawing/2014/main" val="2106178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12716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87DD7-9A8A-29C8-3FA3-56530BAE7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54D4EE1C-C618-D7C9-10B6-F8D1564F58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12192000" cy="1651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1997479-B5EB-4908-2EB6-40DD228EF4B2}"/>
              </a:ext>
            </a:extLst>
          </p:cNvPr>
          <p:cNvSpPr/>
          <p:nvPr/>
        </p:nvSpPr>
        <p:spPr>
          <a:xfrm>
            <a:off x="762000" y="566844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3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批流一体的核心思想​</a:t>
            </a:r>
            <a:endParaRPr lang="en-US" sz="3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5D4084-0D7F-A8F8-8510-FF8140524CBF}"/>
              </a:ext>
            </a:extLst>
          </p:cNvPr>
          <p:cNvSpPr txBox="1"/>
          <p:nvPr/>
        </p:nvSpPr>
        <p:spPr>
          <a:xfrm>
            <a:off x="899410" y="5246404"/>
            <a:ext cx="10530590" cy="1795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350"/>
              </a:spcAft>
              <a:buNone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总之，批流一体就是用统一的处理模型和架构，将实时流数据与历史批数据视为同源异构的“数据表达形式”，通过底层引擎的抽象能力，实现“一套逻辑处理两种场景”，消除实时与离线系统的割裂。​</a:t>
            </a:r>
          </a:p>
          <a:p>
            <a:pPr algn="l">
              <a:spcAft>
                <a:spcPts val="1350"/>
              </a:spcAft>
              <a:buNone/>
            </a:pPr>
            <a:endParaRPr lang="zh-CN" altLang="en-US" b="1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4DEA3C7-3337-BF60-8AFF-BD2796FF8C1C}"/>
              </a:ext>
            </a:extLst>
          </p:cNvPr>
          <p:cNvSpPr txBox="1"/>
          <p:nvPr/>
        </p:nvSpPr>
        <p:spPr>
          <a:xfrm>
            <a:off x="899410" y="1755931"/>
            <a:ext cx="10755442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传统架构中，批处理和流处理是两套独立系统：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维护成本高：需开发两套代码，运维复杂（比如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Lambda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架构）。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数据不一致：两套系统计算结果可能冲突（比如实时统计和离线统计的销售额对不上）</a:t>
            </a:r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资源浪费：离线任务可能闲置时，实时任务却资源不足。</a:t>
            </a:r>
          </a:p>
          <a:p>
            <a:pPr>
              <a:spcAft>
                <a:spcPts val="1200"/>
              </a:spcAft>
              <a:buNone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而批流一体通过统一引擎（如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Flink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Spark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）和同一套代码，实现：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</a:t>
            </a:r>
            <a:r>
              <a:rPr lang="en-US" altLang="zh-CN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离线分析：例如电商既能实时推荐商品，又能结合历史数据优化促销策略。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降低成本：减少重复开发，资源灵活调配。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数据一致性：确保实时流和历史批量的计算结果一致。</a:t>
            </a:r>
          </a:p>
        </p:txBody>
      </p:sp>
    </p:spTree>
    <p:extLst>
      <p:ext uri="{BB962C8B-B14F-4D97-AF65-F5344CB8AC3E}">
        <p14:creationId xmlns:p14="http://schemas.microsoft.com/office/powerpoint/2010/main" val="1066127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510</TotalTime>
  <Words>3515</Words>
  <Application>Microsoft Office PowerPoint</Application>
  <PresentationFormat>宽屏</PresentationFormat>
  <Paragraphs>305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inherit</vt:lpstr>
      <vt:lpstr>PingFang SC</vt:lpstr>
      <vt:lpstr>等线</vt:lpstr>
      <vt:lpstr>等线 Light</vt:lpstr>
      <vt:lpstr>微软雅黑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beijiamiao@gmail.com</dc:creator>
  <cp:lastModifiedBy>beijiamiao@gmail.com</cp:lastModifiedBy>
  <cp:revision>6</cp:revision>
  <dcterms:created xsi:type="dcterms:W3CDTF">2025-05-20T11:26:47Z</dcterms:created>
  <dcterms:modified xsi:type="dcterms:W3CDTF">2025-05-21T16:55:29Z</dcterms:modified>
</cp:coreProperties>
</file>