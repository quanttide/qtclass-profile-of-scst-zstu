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79" r:id="rId3"/>
    <p:sldId id="257" r:id="rId4"/>
    <p:sldId id="258" r:id="rId5"/>
    <p:sldId id="259" r:id="rId6"/>
    <p:sldId id="260" r:id="rId7"/>
    <p:sldId id="277" r:id="rId8"/>
    <p:sldId id="261" r:id="rId9"/>
    <p:sldId id="276" r:id="rId10"/>
    <p:sldId id="263" r:id="rId11"/>
    <p:sldId id="262" r:id="rId12"/>
    <p:sldId id="267" r:id="rId13"/>
    <p:sldId id="278" r:id="rId14"/>
    <p:sldId id="275" r:id="rId15"/>
    <p:sldId id="268" r:id="rId16"/>
    <p:sldId id="269" r:id="rId17"/>
    <p:sldId id="272" r:id="rId18"/>
    <p:sldId id="264" r:id="rId19"/>
    <p:sldId id="265" r:id="rId20"/>
    <p:sldId id="271" r:id="rId21"/>
    <p:sldId id="273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B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7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9018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5811A-FDB8-36E3-B701-0235D0B11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C283D5-F5E0-9E6A-B299-40A7B840EC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5111D0-7131-F085-C646-43F3152FA2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AE67D-E4B9-9B9E-6F3C-DD48DB1BE6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71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AE7D6-FE44-55C2-1786-8E3B9432E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731244-DB1F-7FE6-6206-FAAA1C3C67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8606C3-E256-0061-76C1-FE7B9B3E5C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19CCDF-3712-3631-D749-7B1B6F3198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1895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D4391-358A-3DDC-C0E7-9811BDFA4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6241C0-FD01-C8AA-96CE-64BCD0F416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7103CB-83E7-6DFC-6D41-E41F4D41BE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8DDDB7-6891-0D7F-F04E-4FBE1BCAC7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9547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31B1D-3B56-1B98-8F5C-07963EDD7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6D98C7-33A1-71CE-CC30-A80C9831F1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545320-6E04-58F2-D54A-F784DBB0F7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79599-1E95-7E3F-B686-D33FA82713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5650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35775-483E-3627-CE09-B0F477EA8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B81F6F-81C8-31C5-3784-ABD1D68FDA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654739-DB4A-8F51-2C2F-D80358D3D2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0CD68-2681-DBDE-A0D0-54992AE415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0608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00188"/>
            <a:ext cx="80010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大数据技术发展脉络与未来趋势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571500" y="2243138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从Hadoop到云原生，大数据技术演进之路</a:t>
            </a: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571500" y="2976563"/>
            <a:ext cx="604838" cy="1143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3424238"/>
            <a:ext cx="8001000" cy="219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725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量潮科技 张果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E33DC-861F-297B-0428-6A8307D1D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E7D0627B-4AD2-4D98-7553-9DE83165E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48256"/>
            <a:ext cx="8302752" cy="3458976"/>
          </a:xfrm>
          <a:prstGeom prst="rect">
            <a:avLst/>
          </a:prstGeom>
        </p:spPr>
      </p:pic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19A98E1D-CBB5-DE46-38E1-64F05C18A3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3CC0778D-4341-7547-0EAA-EE14AF33B95B}"/>
              </a:ext>
            </a:extLst>
          </p:cNvPr>
          <p:cNvSpPr/>
          <p:nvPr/>
        </p:nvSpPr>
        <p:spPr>
          <a:xfrm>
            <a:off x="571500" y="425133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课程框架</a:t>
            </a:r>
            <a:endParaRPr lang="en-US" sz="2250" dirty="0"/>
          </a:p>
        </p:txBody>
      </p:sp>
    </p:spTree>
    <p:extLst>
      <p:ext uri="{BB962C8B-B14F-4D97-AF65-F5344CB8AC3E}">
        <p14:creationId xmlns:p14="http://schemas.microsoft.com/office/powerpoint/2010/main" val="275556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295275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2438" y="602139"/>
            <a:ext cx="1857375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00063" y="1264762"/>
            <a:ext cx="18097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3524250" y="1340644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75" dirty="0"/>
          </a:p>
        </p:txBody>
      </p:sp>
      <p:sp>
        <p:nvSpPr>
          <p:cNvPr id="7" name="Text 4"/>
          <p:cNvSpPr/>
          <p:nvPr/>
        </p:nvSpPr>
        <p:spPr>
          <a:xfrm>
            <a:off x="3990975" y="1412081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大数据技术起源与Hadoop生态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990975" y="1307306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524250" y="1969294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75" dirty="0"/>
          </a:p>
        </p:txBody>
      </p:sp>
      <p:sp>
        <p:nvSpPr>
          <p:cNvPr id="10" name="Text 7"/>
          <p:cNvSpPr/>
          <p:nvPr/>
        </p:nvSpPr>
        <p:spPr>
          <a:xfrm>
            <a:off x="3990975" y="2040731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Hadoop影响下的数据湖与数据仓库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990975" y="1935956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524250" y="2597944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3990975" y="3325771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数据湖与云数仓的融合趋势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990975" y="2564606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524250" y="3226594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3990975" y="2659856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云原生基础设施的崛起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990975" y="3193256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990975" y="3821906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306053"/>
            <a:ext cx="4762500" cy="1333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大数据技术起源与Hadoop生态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4962" y="25527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425133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Hadoop的诞生与核心组件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08633" y="1867300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Hadoop的诞生背景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7268" y="2250439"/>
            <a:ext cx="2413000" cy="12771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2003年，Google发表三大论文</a:t>
            </a:r>
            <a:r>
              <a:rPr lang="zh-CN" alt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r>
              <a:rPr lang="en-US" altLang="zh-CN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GFS</a:t>
            </a:r>
            <a:r>
              <a:rPr lang="zh-CN" alt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110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BigTable</a:t>
            </a:r>
            <a:r>
              <a:rPr lang="zh-CN" alt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MapReduce</a:t>
            </a:r>
            <a:r>
              <a:rPr lang="zh-CN" alt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r>
              <a:rPr lang="en-US" sz="110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奠定大数据技术基石</a:t>
            </a:r>
            <a:r>
              <a:rPr lang="zh-CN" alt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，雅虎发起开源实现，</a:t>
            </a:r>
            <a:r>
              <a:rPr lang="en-US" sz="110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Hadoop应运而生</a:t>
            </a: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zh-CN" alt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</a:t>
            </a:r>
            <a:r>
              <a:rPr lang="en-US" sz="110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由Apache基金会维护，旨在提供开源的大数据处理框架</a:t>
            </a: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365500" y="1440995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altLang="zh-CN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GFS-&gt;</a:t>
            </a: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HDFS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365500" y="1657750"/>
            <a:ext cx="5086898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Hadoop分布式文件系统(HDFS)借鉴GFS，专为海量数据设计，实现数据的分布式存储，支持廉价x86服务器集群。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365500" y="3583543"/>
            <a:ext cx="259334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MapReduce-&gt;</a:t>
            </a:r>
            <a:r>
              <a:rPr lang="en-US" altLang="zh-CN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MapReduce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365499" y="3868246"/>
            <a:ext cx="5151881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MapReduce建立在HDFS之上，提供任务调度与并行计算能力，实现大数据集的高效分析</a:t>
            </a: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0D1DBBF5-229F-DA59-2158-6202E6E3473F}"/>
              </a:ext>
            </a:extLst>
          </p:cNvPr>
          <p:cNvSpPr/>
          <p:nvPr/>
        </p:nvSpPr>
        <p:spPr>
          <a:xfrm>
            <a:off x="3365498" y="2483382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altLang="zh-CN" sz="140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BigTable</a:t>
            </a:r>
            <a:r>
              <a:rPr lang="en-US" altLang="zh-CN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-&gt;HBase</a:t>
            </a:r>
            <a:endParaRPr lang="en-US" sz="14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D39437A1-F448-B588-7C7F-00DA51962C2A}"/>
              </a:ext>
            </a:extLst>
          </p:cNvPr>
          <p:cNvSpPr/>
          <p:nvPr/>
        </p:nvSpPr>
        <p:spPr>
          <a:xfrm>
            <a:off x="3365500" y="2762998"/>
            <a:ext cx="5151881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altLang="zh-CN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HBase</a:t>
            </a:r>
            <a:r>
              <a:rPr lang="zh-CN" alt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</a:t>
            </a:r>
            <a:r>
              <a:rPr lang="en-US" altLang="zh-CN" sz="110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BigTable</a:t>
            </a:r>
            <a:r>
              <a:rPr lang="zh-CN" alt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的开源实现，为</a:t>
            </a:r>
            <a:r>
              <a:rPr lang="en-US" altLang="zh-CN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Hadoop</a:t>
            </a:r>
            <a:r>
              <a:rPr lang="zh-CN" alt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生态添加结构化数据实时访问能力，  </a:t>
            </a:r>
          </a:p>
          <a:p>
            <a:pPr marL="0" indent="0" algn="l">
              <a:lnSpc>
                <a:spcPts val="1650"/>
              </a:lnSpc>
              <a:buNone/>
            </a:pPr>
            <a:r>
              <a:rPr lang="zh-CN" alt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</a:t>
            </a:r>
            <a:r>
              <a:rPr lang="en-US" altLang="zh-CN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HDFS</a:t>
            </a:r>
            <a:r>
              <a:rPr lang="zh-CN" alt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的批处理存储互补，支持低延迟的随机读写操作。基于列式存储设计，可替代传统</a:t>
            </a:r>
            <a:r>
              <a:rPr lang="en-US" altLang="zh-CN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OLTP</a:t>
            </a:r>
            <a:r>
              <a:rPr lang="zh-CN" alt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数据库，  通过横向扩展支持海量数据</a:t>
            </a:r>
            <a:r>
              <a:rPr lang="en-US" altLang="zh-CN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OLAP</a:t>
            </a:r>
            <a:r>
              <a:rPr lang="zh-CN" alt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433578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HDFS</a:t>
            </a:r>
            <a:r>
              <a:rPr lang="zh-CN" alt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核心组件</a:t>
            </a:r>
            <a:r>
              <a:rPr lang="en-US" sz="225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详解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71500" y="1469328"/>
            <a:ext cx="1714500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71500" y="1740597"/>
            <a:ext cx="2023258" cy="2143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HDFS：海量数据存储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71499" y="2289837"/>
            <a:ext cx="2153887" cy="151620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20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HDFSDataNodes</a:t>
            </a:r>
            <a:r>
              <a:rPr lang="en-US" altLang="zh-CN" sz="120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（Hadoop</a:t>
            </a:r>
            <a:r>
              <a:rPr lang="en-US" altLang="zh-CN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Distributed File System）专为大规模数据流设计，采用主从架构，Master节点管理文件系统命名空间，</a:t>
            </a: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存储实际数据块，提供高容错性与高吞吐量访问。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84517" y="1477991"/>
            <a:ext cx="1714500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284516" y="1740598"/>
            <a:ext cx="2089067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MapReduce：分布式计算模型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287733" y="2419350"/>
            <a:ext cx="2153887" cy="1257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MapReduce将大规模数据集的处理分解为Map和Reduce两个阶段，Map阶段处理数据，Reduce阶段汇总结果，实现数据并行处理，极大提升了计算效率。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187093" y="1483929"/>
            <a:ext cx="1714500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187092" y="1756102"/>
            <a:ext cx="1870315" cy="21748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YARN：资源调度器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139591" y="2352686"/>
            <a:ext cx="2153887" cy="1257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YARN（Yet Another Resource Negotiator）作为Hadoop的资源管理系统，负责分配资源给MapReduce等计算框架，实现集群资源的统一管理和调度。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87FC2-188B-153F-D585-36413B6B8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2F6FD4ED-51ED-4BDE-201F-9B0C8D2CBD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" y="0"/>
            <a:ext cx="9144000" cy="51435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4EB0697C-0DD1-A5D9-19B3-B3E4AE666E31}"/>
              </a:ext>
            </a:extLst>
          </p:cNvPr>
          <p:cNvSpPr/>
          <p:nvPr/>
        </p:nvSpPr>
        <p:spPr>
          <a:xfrm>
            <a:off x="571500" y="433578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MapReduce：Hadoop</a:t>
            </a:r>
            <a:r>
              <a:rPr lang="zh-CN" alt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的并行计算引擎</a:t>
            </a:r>
            <a:endParaRPr lang="en-US" sz="2250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D877A2D4-4621-75E3-8C53-2BE115B59B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8182" y="1111925"/>
            <a:ext cx="6225362" cy="3753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245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267953"/>
            <a:ext cx="4762500" cy="1333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Hadoop影响下的数据湖与数据仓库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2578568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8EBF6-2C2F-2972-6FBE-B61409FCF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797762D0-363B-7211-935F-8F06E2504A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81C98930-59B8-356F-B35D-792427630476}"/>
              </a:ext>
            </a:extLst>
          </p:cNvPr>
          <p:cNvSpPr/>
          <p:nvPr/>
        </p:nvSpPr>
        <p:spPr>
          <a:xfrm>
            <a:off x="571500" y="425133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</a:t>
            </a: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OLTP</a:t>
            </a:r>
            <a:r>
              <a:rPr lang="zh-CN" alt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</a:t>
            </a:r>
            <a:r>
              <a:rPr lang="en-US" sz="225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OLAP：Hadoop</a:t>
            </a:r>
            <a:r>
              <a:rPr lang="zh-CN" alt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的技术突破</a:t>
            </a:r>
            <a:endParaRPr lang="en-US" sz="2250" dirty="0"/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9E78044A-0E77-EA51-0ABE-6C1204C08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1473180"/>
              </p:ext>
            </p:extLst>
          </p:nvPr>
        </p:nvGraphicFramePr>
        <p:xfrm>
          <a:off x="736092" y="1371600"/>
          <a:ext cx="7520941" cy="3278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6953">
                  <a:extLst>
                    <a:ext uri="{9D8B030D-6E8A-4147-A177-3AD203B41FA5}">
                      <a16:colId xmlns:a16="http://schemas.microsoft.com/office/drawing/2014/main" val="3998567360"/>
                    </a:ext>
                  </a:extLst>
                </a:gridCol>
                <a:gridCol w="1929407">
                  <a:extLst>
                    <a:ext uri="{9D8B030D-6E8A-4147-A177-3AD203B41FA5}">
                      <a16:colId xmlns:a16="http://schemas.microsoft.com/office/drawing/2014/main" val="3196159863"/>
                    </a:ext>
                  </a:extLst>
                </a:gridCol>
                <a:gridCol w="1915358">
                  <a:extLst>
                    <a:ext uri="{9D8B030D-6E8A-4147-A177-3AD203B41FA5}">
                      <a16:colId xmlns:a16="http://schemas.microsoft.com/office/drawing/2014/main" val="131418205"/>
                    </a:ext>
                  </a:extLst>
                </a:gridCol>
                <a:gridCol w="2449223">
                  <a:extLst>
                    <a:ext uri="{9D8B030D-6E8A-4147-A177-3AD203B41FA5}">
                      <a16:colId xmlns:a16="http://schemas.microsoft.com/office/drawing/2014/main" val="4145764798"/>
                    </a:ext>
                  </a:extLst>
                </a:gridCol>
              </a:tblGrid>
              <a:tr h="655625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OLTP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OLAP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Hadoop</a:t>
                      </a:r>
                      <a:r>
                        <a:rPr lang="zh-CN" altLang="en-US" sz="1600" dirty="0"/>
                        <a:t>生态的突破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8736399"/>
                  </a:ext>
                </a:extLst>
              </a:tr>
              <a:tr h="655625">
                <a:tc>
                  <a:txBody>
                    <a:bodyPr/>
                    <a:lstStyle/>
                    <a:p>
                      <a:r>
                        <a:rPr lang="zh-CN" altLang="en-US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数据操作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高频增删改（单条记录）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低频复杂查询（全表扫描）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HBase</a:t>
                      </a:r>
                      <a:r>
                        <a:rPr lang="zh-CN" altLang="en-US" sz="1400" dirty="0"/>
                        <a:t>支持高吞吐写入</a:t>
                      </a:r>
                      <a:r>
                        <a:rPr lang="en-US" altLang="zh-CN" sz="1400" dirty="0"/>
                        <a:t>+</a:t>
                      </a:r>
                      <a:r>
                        <a:rPr lang="zh-CN" altLang="en-US" sz="1400" dirty="0"/>
                        <a:t>批量分析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6131052"/>
                  </a:ext>
                </a:extLst>
              </a:tr>
              <a:tr h="655625">
                <a:tc>
                  <a:txBody>
                    <a:bodyPr/>
                    <a:lstStyle/>
                    <a:p>
                      <a:r>
                        <a:rPr lang="zh-CN" altLang="en-US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一致性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强一致性（</a:t>
                      </a:r>
                      <a:r>
                        <a:rPr lang="en-US" altLang="zh-CN" sz="1400" dirty="0"/>
                        <a:t>ACID</a:t>
                      </a:r>
                      <a:r>
                        <a:rPr lang="zh-CN" altLang="en-US" sz="1400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最终一致性（</a:t>
                      </a:r>
                      <a:r>
                        <a:rPr lang="en-US" altLang="zh-CN" sz="1400" dirty="0"/>
                        <a:t>BASE</a:t>
                      </a:r>
                      <a:r>
                        <a:rPr lang="zh-CN" altLang="en-US" sz="1400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HDFS</a:t>
                      </a:r>
                      <a:r>
                        <a:rPr lang="zh-CN" altLang="en-US" sz="1400" dirty="0"/>
                        <a:t>保证数据持久性，</a:t>
                      </a:r>
                      <a:r>
                        <a:rPr lang="en-US" altLang="zh-CN" sz="1400" dirty="0"/>
                        <a:t>MR/Spark</a:t>
                      </a:r>
                      <a:r>
                        <a:rPr lang="zh-CN" altLang="en-US" sz="1400" dirty="0"/>
                        <a:t>处理计算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3316257"/>
                  </a:ext>
                </a:extLst>
              </a:tr>
              <a:tr h="655625">
                <a:tc>
                  <a:txBody>
                    <a:bodyPr/>
                    <a:lstStyle/>
                    <a:p>
                      <a:r>
                        <a:rPr lang="zh-CN" altLang="en-US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存储格式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行存储（快速定位单行）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列存储（高效聚合列数据）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Parquet/ORC</a:t>
                      </a:r>
                      <a:r>
                        <a:rPr lang="zh-CN" altLang="en-US" sz="1400" dirty="0"/>
                        <a:t>列式格式优化分析性能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4037056"/>
                  </a:ext>
                </a:extLst>
              </a:tr>
              <a:tr h="655625">
                <a:tc>
                  <a:txBody>
                    <a:bodyPr/>
                    <a:lstStyle/>
                    <a:p>
                      <a:r>
                        <a:rPr lang="zh-CN" altLang="en-US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典型系统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MySQL</a:t>
                      </a:r>
                      <a:r>
                        <a:rPr lang="zh-CN" altLang="en-US" sz="1400" dirty="0"/>
                        <a:t>、</a:t>
                      </a:r>
                      <a:r>
                        <a:rPr lang="en-US" altLang="zh-CN" sz="1400" dirty="0"/>
                        <a:t>Oracle 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Hive</a:t>
                      </a:r>
                      <a:r>
                        <a:rPr lang="zh-CN" altLang="en-US" sz="1400" dirty="0"/>
                        <a:t>、</a:t>
                      </a:r>
                      <a:r>
                        <a:rPr lang="en-US" altLang="zh-CN" sz="1400" dirty="0" err="1"/>
                        <a:t>ClickHouse</a:t>
                      </a:r>
                      <a:r>
                        <a:rPr lang="en-US" altLang="zh-CN" sz="1400" dirty="0"/>
                        <a:t> 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HBase</a:t>
                      </a:r>
                      <a:r>
                        <a:rPr lang="zh-CN" altLang="en-US" sz="1400" dirty="0"/>
                        <a:t>融合行存与</a:t>
                      </a:r>
                      <a:r>
                        <a:rPr lang="en-US" altLang="zh-CN" sz="1400" dirty="0"/>
                        <a:t>LSM</a:t>
                      </a:r>
                      <a:r>
                        <a:rPr lang="zh-CN" altLang="en-US" sz="1400" dirty="0"/>
                        <a:t>树结构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26355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4787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数据仓库</a:t>
            </a:r>
            <a:r>
              <a:rPr lang="en-US" sz="225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的技术革新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0051" y="1496291"/>
            <a:ext cx="1963140" cy="22669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143220"/>
            <a:ext cx="2076301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Snowflake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52475" y="2433733"/>
            <a:ext cx="1177265" cy="11526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Snowflake首创存储计算分离，突破传统数仓扩展瓶颈，实现秒级数据分析。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421180" y="1496291"/>
            <a:ext cx="1847999" cy="22669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715615" y="2162270"/>
            <a:ext cx="137964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Redshift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2731134" y="2571750"/>
            <a:ext cx="1379645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Redshift采用列式存储，大幅提升分析性能，满足PB级数据的快速查询需求。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308418" y="1496291"/>
            <a:ext cx="2009255" cy="22669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19504" y="2162269"/>
            <a:ext cx="1500033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40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ClickHouse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4660844" y="2571750"/>
            <a:ext cx="122338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ClickHouse以向量化引擎实现单表查询极致速度，查询性能远超Hive。</a:t>
            </a:r>
            <a:endParaRPr lang="en-US" sz="1100" dirty="0"/>
          </a:p>
        </p:txBody>
      </p:sp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6B0DDEFB-6916-B6EE-2702-398A2F56386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00996" y="1496291"/>
            <a:ext cx="1847999" cy="2266950"/>
          </a:xfrm>
          <a:prstGeom prst="rect">
            <a:avLst/>
          </a:prstGeom>
        </p:spPr>
      </p:pic>
      <p:sp>
        <p:nvSpPr>
          <p:cNvPr id="16" name="Text 7">
            <a:extLst>
              <a:ext uri="{FF2B5EF4-FFF2-40B4-BE49-F238E27FC236}">
                <a16:creationId xmlns:a16="http://schemas.microsoft.com/office/drawing/2014/main" id="{5042D08C-5EA8-730C-6122-59073D7C9329}"/>
              </a:ext>
            </a:extLst>
          </p:cNvPr>
          <p:cNvSpPr/>
          <p:nvPr/>
        </p:nvSpPr>
        <p:spPr>
          <a:xfrm>
            <a:off x="6695706" y="2162268"/>
            <a:ext cx="1500033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Hive</a:t>
            </a:r>
            <a:endParaRPr lang="en-US" sz="1400" dirty="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C2843D1D-87E3-A323-ABB1-46261B81F79B}"/>
              </a:ext>
            </a:extLst>
          </p:cNvPr>
          <p:cNvSpPr/>
          <p:nvPr/>
        </p:nvSpPr>
        <p:spPr>
          <a:xfrm>
            <a:off x="6695706" y="2414681"/>
            <a:ext cx="1223380" cy="114124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基于</a:t>
            </a:r>
            <a:r>
              <a:rPr lang="en-US" altLang="zh-CN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Hadoop</a:t>
            </a:r>
            <a:r>
              <a:rPr lang="zh-CN" alt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生态的批处理数仓，支持</a:t>
            </a:r>
            <a:r>
              <a:rPr lang="en-US" altLang="zh-CN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SQL</a:t>
            </a:r>
            <a:r>
              <a:rPr lang="zh-CN" alt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接口，擅长海量数据离线分析，高容错性设计。</a:t>
            </a:r>
            <a:endParaRPr lang="en-US" sz="1100" dirty="0">
              <a:solidFill>
                <a:srgbClr val="666666"/>
              </a:solidFill>
              <a:latin typeface="Microsoft YaHei" pitchFamily="34" charset="0"/>
              <a:ea typeface="Microsoft YaHei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464503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数据湖的兴起与挑战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0050" y="1447800"/>
            <a:ext cx="2085975" cy="2762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228850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数据湖概念初探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2519363"/>
            <a:ext cx="1381125" cy="1295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数据湖，源于Hadoop生态，旨在存储海量多模态原始数据，支持按需计算分析，打破结构化与非结构化数据界限。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486025" y="1447800"/>
            <a:ext cx="2085975" cy="27622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838450" y="2228850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Hadoop局限性显现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838450" y="2519363"/>
            <a:ext cx="1381125" cy="1085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Hadoop早期生态批处理模式导致高延迟，HDFS与计算节点耦合限制扩展性，促使业界寻求更高效解决方案。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72000" y="1447800"/>
            <a:ext cx="2085975" cy="27622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24425" y="2228850"/>
            <a:ext cx="1381125" cy="4667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云计算与对象存储崛起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924425" y="2733675"/>
            <a:ext cx="1381125" cy="1085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 S3等对象存储服务凭借无限扩展性和存算分离特性，逐渐取代HDFS，成为数据湖主流存储方案。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57975" y="1447800"/>
            <a:ext cx="2085975" cy="27622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010400" y="2228850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Spark引领计算革命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7010400" y="2519363"/>
            <a:ext cx="1381125" cy="1085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Spark内存计算模型大幅提升效率，支持复杂任务编排，加速数据处理，推动数据湖架构革新。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124200"/>
            <a:ext cx="47625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云原生基础设施的崛起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242062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94D59-1270-0CE5-96F5-38D81F289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9508274-257A-F84E-7569-B190ED006B5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A898EBBB-EB73-AC54-1626-6BCE7245D6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E3DB6FD9-EDA7-894D-ADDF-FF50CDD688F2}"/>
              </a:ext>
            </a:extLst>
          </p:cNvPr>
          <p:cNvSpPr/>
          <p:nvPr/>
        </p:nvSpPr>
        <p:spPr>
          <a:xfrm>
            <a:off x="571500" y="4635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存算分离与对象存储</a:t>
            </a:r>
            <a:endParaRPr lang="en-US" sz="22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C90463D-F417-75BF-B4FE-4A81D846B781}"/>
              </a:ext>
            </a:extLst>
          </p:cNvPr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8505E9E1-E70C-5850-4B63-659AC79036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49985" y="1800225"/>
            <a:ext cx="476250" cy="476250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DC5562CC-1B32-289F-A2DE-5BBAFC5788D3}"/>
              </a:ext>
            </a:extLst>
          </p:cNvPr>
          <p:cNvSpPr/>
          <p:nvPr/>
        </p:nvSpPr>
        <p:spPr>
          <a:xfrm>
            <a:off x="476250" y="239141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存算分离概念</a:t>
            </a:r>
            <a:endParaRPr lang="en-US" sz="14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DD7429F0-4AE1-7ECC-A2C3-EFEF2B5BE460}"/>
              </a:ext>
            </a:extLst>
          </p:cNvPr>
          <p:cNvSpPr/>
          <p:nvPr/>
        </p:nvSpPr>
        <p:spPr>
          <a:xfrm>
            <a:off x="571500" y="2900680"/>
            <a:ext cx="1714500" cy="1047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存算分离架构打破了传统Hadoop中存储与计算紧密绑定的局限，允许数据存储与处理独立扩展，显著提升了资源利用率与灵活性。</a:t>
            </a:r>
            <a:endParaRPr lang="en-US" sz="120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0B6A9D08-E7BE-4DA2-D360-D51A2CC8016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245485" y="1800225"/>
            <a:ext cx="476250" cy="476250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6BFDFF32-7D51-2F61-9448-6C0B5084C558}"/>
              </a:ext>
            </a:extLst>
          </p:cNvPr>
          <p:cNvSpPr/>
          <p:nvPr/>
        </p:nvSpPr>
        <p:spPr>
          <a:xfrm>
            <a:off x="2619375" y="239141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对象存储优势</a:t>
            </a:r>
            <a:endParaRPr lang="en-US" sz="14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85331C40-174C-3930-9BE4-4EBCDF6A851A}"/>
              </a:ext>
            </a:extLst>
          </p:cNvPr>
          <p:cNvSpPr/>
          <p:nvPr/>
        </p:nvSpPr>
        <p:spPr>
          <a:xfrm>
            <a:off x="2667000" y="2900680"/>
            <a:ext cx="1714500" cy="1047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对象存储如AWS S3，通过HTTP/HTTPS协议访问，支持高并发与无限扩展，成为大数据处理中存储层的首选，替代了HDFS的局限性。</a:t>
            </a:r>
            <a:endParaRPr lang="en-US" sz="1200" dirty="0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180AC8E1-4B05-2613-B8AB-47A48D0BC9A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351145" y="1795145"/>
            <a:ext cx="476250" cy="476250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65AECBEE-31C0-BDC9-3745-D6AD0FF1B07F}"/>
              </a:ext>
            </a:extLst>
          </p:cNvPr>
          <p:cNvSpPr/>
          <p:nvPr/>
        </p:nvSpPr>
        <p:spPr>
          <a:xfrm>
            <a:off x="4723765" y="239141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网络技术进步</a:t>
            </a:r>
            <a:endParaRPr lang="en-US" sz="14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89413F24-C448-2E5E-D773-EB2448791514}"/>
              </a:ext>
            </a:extLst>
          </p:cNvPr>
          <p:cNvSpPr/>
          <p:nvPr/>
        </p:nvSpPr>
        <p:spPr>
          <a:xfrm>
            <a:off x="4762500" y="2900680"/>
            <a:ext cx="1714500" cy="1047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高速网络技术的发展，尤其是低延迟、高带宽网络的普及，为存算分离架构的实现提供了坚实的基础，加速了数据传输与处理效率。</a:t>
            </a:r>
            <a:endParaRPr lang="en-US" sz="1200" dirty="0"/>
          </a:p>
        </p:txBody>
      </p:sp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B3BFBD09-DBC0-FBC5-9C8F-01B9AB43F5A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461885" y="1800225"/>
            <a:ext cx="476250" cy="476250"/>
          </a:xfrm>
          <a:prstGeom prst="rect">
            <a:avLst/>
          </a:prstGeom>
        </p:spPr>
      </p:pic>
      <p:sp>
        <p:nvSpPr>
          <p:cNvPr id="16" name="Text 9">
            <a:extLst>
              <a:ext uri="{FF2B5EF4-FFF2-40B4-BE49-F238E27FC236}">
                <a16:creationId xmlns:a16="http://schemas.microsoft.com/office/drawing/2014/main" id="{C2E15EE6-F2F8-9FA2-2738-E59AD4E9C789}"/>
              </a:ext>
            </a:extLst>
          </p:cNvPr>
          <p:cNvSpPr/>
          <p:nvPr/>
        </p:nvSpPr>
        <p:spPr>
          <a:xfrm>
            <a:off x="6866890" y="239141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现代数据湖基石</a:t>
            </a:r>
            <a:endParaRPr lang="en-US" sz="140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6AFB20C3-A221-08A3-1E66-E5A58655549A}"/>
              </a:ext>
            </a:extLst>
          </p:cNvPr>
          <p:cNvSpPr/>
          <p:nvPr/>
        </p:nvSpPr>
        <p:spPr>
          <a:xfrm>
            <a:off x="6866890" y="2857500"/>
            <a:ext cx="1714500" cy="1047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基于对象存储的存算分离架构，构建了现代数据湖的基石，支持多模态数据的灵活存储与按需计算，满足了大数据分析的多样化需求。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23062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316E9-1BCC-60D9-BF57-93560E9A1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1CB758EE-BD38-9F46-C93B-12F108343A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DDE3B8A0-496B-3E10-6181-37D67EEEB0BD}"/>
              </a:ext>
            </a:extLst>
          </p:cNvPr>
          <p:cNvSpPr/>
          <p:nvPr/>
        </p:nvSpPr>
        <p:spPr>
          <a:xfrm>
            <a:off x="571500" y="4635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altLang="zh-CN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S3</a:t>
            </a:r>
            <a:r>
              <a:rPr lang="zh-CN" alt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协议的技术标准与开放生态</a:t>
            </a:r>
            <a:endParaRPr lang="en-US" sz="225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5CAAA50-C83E-578C-6157-090E5982C0BF}"/>
              </a:ext>
            </a:extLst>
          </p:cNvPr>
          <p:cNvSpPr txBox="1"/>
          <p:nvPr/>
        </p:nvSpPr>
        <p:spPr>
          <a:xfrm>
            <a:off x="438150" y="1451739"/>
            <a:ext cx="8528050" cy="3014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S3</a:t>
            </a:r>
            <a:r>
              <a:rPr lang="zh-CN" alt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协议的核心特性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标准化接口：基于</a:t>
            </a:r>
            <a:r>
              <a:rPr lang="en-US" altLang="zh-CN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HTTP RESTful API</a:t>
            </a: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设计，提供跨云</a:t>
            </a:r>
            <a:r>
              <a:rPr lang="en-US" altLang="zh-CN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/</a:t>
            </a: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本地环境统一的存储访问方式，兼容</a:t>
            </a:r>
            <a:r>
              <a:rPr lang="en-US" altLang="zh-CN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AWS S3</a:t>
            </a: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、</a:t>
            </a:r>
            <a:r>
              <a:rPr lang="en-US" altLang="zh-CN" sz="120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MinIO</a:t>
            </a: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、</a:t>
            </a:r>
            <a:r>
              <a:rPr lang="en-US" altLang="zh-CN" sz="120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Ceph</a:t>
            </a: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等实现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无限扩展性：扁平化命名空间突破传统文件系统目录层级限制，支持</a:t>
            </a:r>
            <a:r>
              <a:rPr lang="en-US" altLang="zh-CN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EB</a:t>
            </a: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级数据存储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数据持久性：</a:t>
            </a:r>
            <a:r>
              <a:rPr lang="en-US" altLang="zh-CN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11</a:t>
            </a: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个</a:t>
            </a:r>
            <a:r>
              <a:rPr lang="en-US" altLang="zh-CN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9</a:t>
            </a: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（</a:t>
            </a:r>
            <a:r>
              <a:rPr lang="en-US" altLang="zh-CN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99.999999999%</a:t>
            </a: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）的持久性设计，保障企业级数据可靠性</a:t>
            </a:r>
          </a:p>
          <a:p>
            <a:pPr>
              <a:lnSpc>
                <a:spcPct val="150000"/>
              </a:lnSpc>
            </a:pPr>
            <a:endParaRPr lang="zh-CN" altLang="en-US" sz="1200" dirty="0">
              <a:solidFill>
                <a:srgbClr val="666666"/>
              </a:solidFill>
              <a:latin typeface="Microsoft YaHei" pitchFamily="34" charset="0"/>
              <a:ea typeface="Microsoft YaHei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技术生态影响力</a:t>
            </a:r>
            <a:endParaRPr lang="en-US" altLang="zh-CN" sz="1600" b="1" dirty="0">
              <a:solidFill>
                <a:srgbClr val="000000"/>
              </a:solidFill>
              <a:latin typeface="Microsoft YaHei" pitchFamily="34" charset="0"/>
              <a:ea typeface="Microsoft YaHei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推动存算分离架构：</a:t>
            </a:r>
            <a:r>
              <a:rPr lang="en-US" altLang="zh-CN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S3</a:t>
            </a: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协议使存储层与计算层解耦成为可能，奠定现代数据湖架构基础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  （示例：</a:t>
            </a:r>
            <a:r>
              <a:rPr lang="en-US" altLang="zh-CN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Delta Lake/Iceberg</a:t>
            </a: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元数据层可直接对接</a:t>
            </a:r>
            <a:r>
              <a:rPr lang="en-US" altLang="zh-CN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S3</a:t>
            </a: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存储）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打破云厂商锁定：通过</a:t>
            </a:r>
            <a:r>
              <a:rPr lang="en-US" altLang="zh-CN" sz="120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MinIO</a:t>
            </a: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等开源实现，构建混合云统一存储层，支持数据跨云自由流动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性能优化突破：与</a:t>
            </a:r>
            <a:r>
              <a:rPr lang="en-US" altLang="zh-CN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RDMA</a:t>
            </a: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高速网络、</a:t>
            </a:r>
            <a:r>
              <a:rPr lang="en-US" altLang="zh-CN" sz="120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Zstandard</a:t>
            </a: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压缩算法等技术结合，吞吐量可达</a:t>
            </a:r>
            <a:r>
              <a:rPr lang="en-US" altLang="zh-CN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HDFS 3</a:t>
            </a: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倍以上</a:t>
            </a:r>
          </a:p>
        </p:txBody>
      </p:sp>
    </p:spTree>
    <p:extLst>
      <p:ext uri="{BB962C8B-B14F-4D97-AF65-F5344CB8AC3E}">
        <p14:creationId xmlns:p14="http://schemas.microsoft.com/office/powerpoint/2010/main" val="18721915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4635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</a:t>
            </a:r>
            <a:r>
              <a:rPr lang="en-US" altLang="zh-CN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YARN</a:t>
            </a:r>
            <a:r>
              <a:rPr lang="zh-CN" alt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调度与批处理计算，到云原生与</a:t>
            </a:r>
            <a:r>
              <a:rPr lang="en-US" altLang="zh-CN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Serverless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970221" y="1327150"/>
            <a:ext cx="7732528" cy="3352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ct val="150000"/>
              </a:lnSpc>
              <a:buNone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调度与计算模型演化：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Hadoop YARN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集群资源调度器，支撑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Spark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运行。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MapReduce / Spark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批处理计算的经典代表。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云原生时代：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容器化（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Docker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更轻量的运行环境，替代传统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JAR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Kubernetes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K8s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容器编排调度，类似于“云原生版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YARN”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Serverless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Function as a Service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FaaS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用户只需提交函数，底层调度和资源由平台负责。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代表平台如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AWS Lambda /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阿里云函数计算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，适合事件驱动、轻量计算场景。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-15712"/>
            <a:ext cx="9144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4038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Kubernetes与容器化调度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40386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709613" y="1911584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容器化革命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61877" y="2367290"/>
            <a:ext cx="1881187" cy="142585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容器技术如Docker简化应用部署，Kubernetes实现容器集群自动化管理，极大提升资源利用率与应用弹性伸缩能力。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3300413" y="1911584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K8s调度优势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300412" y="2367290"/>
            <a:ext cx="1881187" cy="12185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Kubernetes提供强大调度能力，支持微服务架构，实现快速迭代与故障恢复，成为现代云原生应用的基石。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222206" y="1911584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弹性扩缩容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143791" y="2372675"/>
            <a:ext cx="1881187" cy="1213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借助Kubernetes，大数据应用可根据负载动态调整资源，实现高效、低成本的运维，加速业务创新与响应速度。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641350"/>
            <a:ext cx="4038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云原生技术的深化应用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1098550"/>
            <a:ext cx="40386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755140" y="1553845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云原生重塑大数据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755140" y="1871662"/>
            <a:ext cx="233426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云原生技术，如Kubernetes与容器化，正深度融入大数据处理框架，实现资源的动态分配与优化，加速数据处理效率。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922328" y="1553845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弹性伸缩能力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922328" y="1791465"/>
            <a:ext cx="2327592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借助云原生的弹性伸缩机制，大数据系统能自动调整资源，应对突发数据流量，保障服务稳定性和响应速度。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755140" y="3316288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微服务架构优势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755140" y="3563938"/>
            <a:ext cx="225298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微服务化的大数据组件易于独立部署与升级，降低系统复杂度，提高运维效率，促进敏捷开发与迭代。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922328" y="3316288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智能化运维趋势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922328" y="3644135"/>
            <a:ext cx="2327592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AI与机器学习技术集成至云原生大数据平台，实现智能监控、预测性维护及自动化故障恢复，提升整体系统健壮性。</a:t>
            </a:r>
            <a:endParaRPr lang="en-US" sz="1100" dirty="0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1A7A40F8-F7CE-43DA-84BD-33363D3393AD}"/>
              </a:ext>
            </a:extLst>
          </p:cNvPr>
          <p:cNvSpPr/>
          <p:nvPr/>
        </p:nvSpPr>
        <p:spPr>
          <a:xfrm>
            <a:off x="635277" y="1745755"/>
            <a:ext cx="676911" cy="676911"/>
          </a:xfrm>
          <a:prstGeom prst="ellipse">
            <a:avLst/>
          </a:prstGeom>
          <a:solidFill>
            <a:srgbClr val="5BB1E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dirty="0"/>
          </a:p>
        </p:txBody>
      </p:sp>
      <p:sp>
        <p:nvSpPr>
          <p:cNvPr id="16" name="Freeform 21">
            <a:extLst>
              <a:ext uri="{FF2B5EF4-FFF2-40B4-BE49-F238E27FC236}">
                <a16:creationId xmlns:a16="http://schemas.microsoft.com/office/drawing/2014/main" id="{B0334DAE-92FD-BC58-481E-D1F94EA4BAE8}"/>
              </a:ext>
            </a:extLst>
          </p:cNvPr>
          <p:cNvSpPr>
            <a:spLocks noEditPoints="1"/>
          </p:cNvSpPr>
          <p:nvPr/>
        </p:nvSpPr>
        <p:spPr>
          <a:xfrm>
            <a:off x="783883" y="1895980"/>
            <a:ext cx="379697" cy="372835"/>
          </a:xfrm>
          <a:custGeom>
            <a:avLst/>
            <a:gdLst>
              <a:gd name="T0" fmla="*/ 179 w 208"/>
              <a:gd name="T1" fmla="*/ 79 h 204"/>
              <a:gd name="T2" fmla="*/ 174 w 208"/>
              <a:gd name="T3" fmla="*/ 66 h 204"/>
              <a:gd name="T4" fmla="*/ 185 w 208"/>
              <a:gd name="T5" fmla="*/ 38 h 204"/>
              <a:gd name="T6" fmla="*/ 169 w 208"/>
              <a:gd name="T7" fmla="*/ 22 h 204"/>
              <a:gd name="T8" fmla="*/ 140 w 208"/>
              <a:gd name="T9" fmla="*/ 33 h 204"/>
              <a:gd name="T10" fmla="*/ 128 w 208"/>
              <a:gd name="T11" fmla="*/ 28 h 204"/>
              <a:gd name="T12" fmla="*/ 115 w 208"/>
              <a:gd name="T13" fmla="*/ 0 h 204"/>
              <a:gd name="T14" fmla="*/ 92 w 208"/>
              <a:gd name="T15" fmla="*/ 0 h 204"/>
              <a:gd name="T16" fmla="*/ 80 w 208"/>
              <a:gd name="T17" fmla="*/ 28 h 204"/>
              <a:gd name="T18" fmla="*/ 67 w 208"/>
              <a:gd name="T19" fmla="*/ 33 h 204"/>
              <a:gd name="T20" fmla="*/ 38 w 208"/>
              <a:gd name="T21" fmla="*/ 22 h 204"/>
              <a:gd name="T22" fmla="*/ 22 w 208"/>
              <a:gd name="T23" fmla="*/ 38 h 204"/>
              <a:gd name="T24" fmla="*/ 34 w 208"/>
              <a:gd name="T25" fmla="*/ 66 h 204"/>
              <a:gd name="T26" fmla="*/ 28 w 208"/>
              <a:gd name="T27" fmla="*/ 79 h 204"/>
              <a:gd name="T28" fmla="*/ 0 w 208"/>
              <a:gd name="T29" fmla="*/ 91 h 204"/>
              <a:gd name="T30" fmla="*/ 0 w 208"/>
              <a:gd name="T31" fmla="*/ 114 h 204"/>
              <a:gd name="T32" fmla="*/ 28 w 208"/>
              <a:gd name="T33" fmla="*/ 126 h 204"/>
              <a:gd name="T34" fmla="*/ 34 w 208"/>
              <a:gd name="T35" fmla="*/ 138 h 204"/>
              <a:gd name="T36" fmla="*/ 23 w 208"/>
              <a:gd name="T37" fmla="*/ 167 h 204"/>
              <a:gd name="T38" fmla="*/ 39 w 208"/>
              <a:gd name="T39" fmla="*/ 182 h 204"/>
              <a:gd name="T40" fmla="*/ 67 w 208"/>
              <a:gd name="T41" fmla="*/ 171 h 204"/>
              <a:gd name="T42" fmla="*/ 80 w 208"/>
              <a:gd name="T43" fmla="*/ 176 h 204"/>
              <a:gd name="T44" fmla="*/ 93 w 208"/>
              <a:gd name="T45" fmla="*/ 204 h 204"/>
              <a:gd name="T46" fmla="*/ 116 w 208"/>
              <a:gd name="T47" fmla="*/ 204 h 204"/>
              <a:gd name="T48" fmla="*/ 128 w 208"/>
              <a:gd name="T49" fmla="*/ 176 h 204"/>
              <a:gd name="T50" fmla="*/ 141 w 208"/>
              <a:gd name="T51" fmla="*/ 171 h 204"/>
              <a:gd name="T52" fmla="*/ 170 w 208"/>
              <a:gd name="T53" fmla="*/ 182 h 204"/>
              <a:gd name="T54" fmla="*/ 186 w 208"/>
              <a:gd name="T55" fmla="*/ 166 h 204"/>
              <a:gd name="T56" fmla="*/ 174 w 208"/>
              <a:gd name="T57" fmla="*/ 138 h 204"/>
              <a:gd name="T58" fmla="*/ 179 w 208"/>
              <a:gd name="T59" fmla="*/ 125 h 204"/>
              <a:gd name="T60" fmla="*/ 208 w 208"/>
              <a:gd name="T61" fmla="*/ 113 h 204"/>
              <a:gd name="T62" fmla="*/ 208 w 208"/>
              <a:gd name="T63" fmla="*/ 90 h 204"/>
              <a:gd name="T64" fmla="*/ 179 w 208"/>
              <a:gd name="T65" fmla="*/ 79 h 204"/>
              <a:gd name="T66" fmla="*/ 137 w 208"/>
              <a:gd name="T67" fmla="*/ 102 h 204"/>
              <a:gd name="T68" fmla="*/ 104 w 208"/>
              <a:gd name="T69" fmla="*/ 135 h 204"/>
              <a:gd name="T70" fmla="*/ 71 w 208"/>
              <a:gd name="T71" fmla="*/ 102 h 204"/>
              <a:gd name="T72" fmla="*/ 104 w 208"/>
              <a:gd name="T73" fmla="*/ 69 h 204"/>
              <a:gd name="T74" fmla="*/ 137 w 208"/>
              <a:gd name="T75" fmla="*/ 102 h 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08" h="204">
                <a:moveTo>
                  <a:pt x="179" y="79"/>
                </a:moveTo>
                <a:cubicBezTo>
                  <a:pt x="174" y="66"/>
                  <a:pt x="174" y="66"/>
                  <a:pt x="174" y="66"/>
                </a:cubicBezTo>
                <a:cubicBezTo>
                  <a:pt x="174" y="66"/>
                  <a:pt x="186" y="39"/>
                  <a:pt x="185" y="38"/>
                </a:cubicBezTo>
                <a:cubicBezTo>
                  <a:pt x="169" y="22"/>
                  <a:pt x="169" y="22"/>
                  <a:pt x="169" y="22"/>
                </a:cubicBezTo>
                <a:cubicBezTo>
                  <a:pt x="168" y="21"/>
                  <a:pt x="140" y="33"/>
                  <a:pt x="140" y="33"/>
                </a:cubicBezTo>
                <a:cubicBezTo>
                  <a:pt x="128" y="28"/>
                  <a:pt x="128" y="28"/>
                  <a:pt x="128" y="28"/>
                </a:cubicBezTo>
                <a:cubicBezTo>
                  <a:pt x="128" y="28"/>
                  <a:pt x="116" y="0"/>
                  <a:pt x="115" y="0"/>
                </a:cubicBezTo>
                <a:cubicBezTo>
                  <a:pt x="92" y="0"/>
                  <a:pt x="92" y="0"/>
                  <a:pt x="92" y="0"/>
                </a:cubicBezTo>
                <a:cubicBezTo>
                  <a:pt x="90" y="0"/>
                  <a:pt x="80" y="28"/>
                  <a:pt x="80" y="28"/>
                </a:cubicBezTo>
                <a:cubicBezTo>
                  <a:pt x="67" y="33"/>
                  <a:pt x="67" y="33"/>
                  <a:pt x="67" y="33"/>
                </a:cubicBezTo>
                <a:cubicBezTo>
                  <a:pt x="67" y="33"/>
                  <a:pt x="39" y="21"/>
                  <a:pt x="38" y="22"/>
                </a:cubicBezTo>
                <a:cubicBezTo>
                  <a:pt x="22" y="38"/>
                  <a:pt x="22" y="38"/>
                  <a:pt x="22" y="38"/>
                </a:cubicBezTo>
                <a:cubicBezTo>
                  <a:pt x="21" y="39"/>
                  <a:pt x="34" y="66"/>
                  <a:pt x="34" y="66"/>
                </a:cubicBezTo>
                <a:cubicBezTo>
                  <a:pt x="28" y="79"/>
                  <a:pt x="28" y="79"/>
                  <a:pt x="28" y="79"/>
                </a:cubicBezTo>
                <a:cubicBezTo>
                  <a:pt x="28" y="79"/>
                  <a:pt x="0" y="90"/>
                  <a:pt x="0" y="91"/>
                </a:cubicBezTo>
                <a:cubicBezTo>
                  <a:pt x="0" y="114"/>
                  <a:pt x="0" y="114"/>
                  <a:pt x="0" y="114"/>
                </a:cubicBezTo>
                <a:cubicBezTo>
                  <a:pt x="0" y="115"/>
                  <a:pt x="28" y="126"/>
                  <a:pt x="28" y="126"/>
                </a:cubicBezTo>
                <a:cubicBezTo>
                  <a:pt x="34" y="138"/>
                  <a:pt x="34" y="138"/>
                  <a:pt x="34" y="138"/>
                </a:cubicBezTo>
                <a:cubicBezTo>
                  <a:pt x="34" y="138"/>
                  <a:pt x="21" y="166"/>
                  <a:pt x="23" y="167"/>
                </a:cubicBezTo>
                <a:cubicBezTo>
                  <a:pt x="39" y="182"/>
                  <a:pt x="39" y="182"/>
                  <a:pt x="39" y="182"/>
                </a:cubicBezTo>
                <a:cubicBezTo>
                  <a:pt x="40" y="184"/>
                  <a:pt x="67" y="171"/>
                  <a:pt x="67" y="171"/>
                </a:cubicBezTo>
                <a:cubicBezTo>
                  <a:pt x="80" y="176"/>
                  <a:pt x="80" y="176"/>
                  <a:pt x="80" y="176"/>
                </a:cubicBezTo>
                <a:cubicBezTo>
                  <a:pt x="80" y="176"/>
                  <a:pt x="91" y="204"/>
                  <a:pt x="93" y="204"/>
                </a:cubicBezTo>
                <a:cubicBezTo>
                  <a:pt x="116" y="204"/>
                  <a:pt x="116" y="204"/>
                  <a:pt x="116" y="204"/>
                </a:cubicBezTo>
                <a:cubicBezTo>
                  <a:pt x="117" y="204"/>
                  <a:pt x="128" y="176"/>
                  <a:pt x="128" y="176"/>
                </a:cubicBezTo>
                <a:cubicBezTo>
                  <a:pt x="141" y="171"/>
                  <a:pt x="141" y="171"/>
                  <a:pt x="141" y="171"/>
                </a:cubicBezTo>
                <a:cubicBezTo>
                  <a:pt x="141" y="171"/>
                  <a:pt x="169" y="183"/>
                  <a:pt x="170" y="182"/>
                </a:cubicBezTo>
                <a:cubicBezTo>
                  <a:pt x="186" y="166"/>
                  <a:pt x="186" y="166"/>
                  <a:pt x="186" y="166"/>
                </a:cubicBezTo>
                <a:cubicBezTo>
                  <a:pt x="187" y="165"/>
                  <a:pt x="174" y="138"/>
                  <a:pt x="174" y="138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5"/>
                  <a:pt x="208" y="114"/>
                  <a:pt x="208" y="113"/>
                </a:cubicBezTo>
                <a:cubicBezTo>
                  <a:pt x="208" y="90"/>
                  <a:pt x="208" y="90"/>
                  <a:pt x="208" y="90"/>
                </a:cubicBezTo>
                <a:cubicBezTo>
                  <a:pt x="208" y="89"/>
                  <a:pt x="179" y="79"/>
                  <a:pt x="179" y="79"/>
                </a:cubicBezTo>
                <a:close/>
                <a:moveTo>
                  <a:pt x="137" y="102"/>
                </a:moveTo>
                <a:cubicBezTo>
                  <a:pt x="137" y="120"/>
                  <a:pt x="122" y="135"/>
                  <a:pt x="104" y="135"/>
                </a:cubicBezTo>
                <a:cubicBezTo>
                  <a:pt x="86" y="135"/>
                  <a:pt x="71" y="120"/>
                  <a:pt x="71" y="102"/>
                </a:cubicBezTo>
                <a:cubicBezTo>
                  <a:pt x="71" y="84"/>
                  <a:pt x="86" y="69"/>
                  <a:pt x="104" y="69"/>
                </a:cubicBezTo>
                <a:cubicBezTo>
                  <a:pt x="122" y="69"/>
                  <a:pt x="137" y="84"/>
                  <a:pt x="137" y="10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E02235C-A308-45FB-3DE1-7C1265C9EFE3}"/>
              </a:ext>
            </a:extLst>
          </p:cNvPr>
          <p:cNvSpPr/>
          <p:nvPr/>
        </p:nvSpPr>
        <p:spPr>
          <a:xfrm>
            <a:off x="4800543" y="1744304"/>
            <a:ext cx="676911" cy="676911"/>
          </a:xfrm>
          <a:prstGeom prst="ellipse">
            <a:avLst/>
          </a:prstGeom>
          <a:solidFill>
            <a:srgbClr val="5BB1E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8" name="Freeform 21">
            <a:extLst>
              <a:ext uri="{FF2B5EF4-FFF2-40B4-BE49-F238E27FC236}">
                <a16:creationId xmlns:a16="http://schemas.microsoft.com/office/drawing/2014/main" id="{C34D82E1-7B9F-9ED8-ED12-31A0095AD158}"/>
              </a:ext>
            </a:extLst>
          </p:cNvPr>
          <p:cNvSpPr>
            <a:spLocks noEditPoints="1"/>
          </p:cNvSpPr>
          <p:nvPr/>
        </p:nvSpPr>
        <p:spPr>
          <a:xfrm>
            <a:off x="4949149" y="1894529"/>
            <a:ext cx="379697" cy="372835"/>
          </a:xfrm>
          <a:custGeom>
            <a:avLst/>
            <a:gdLst>
              <a:gd name="T0" fmla="*/ 179 w 208"/>
              <a:gd name="T1" fmla="*/ 79 h 204"/>
              <a:gd name="T2" fmla="*/ 174 w 208"/>
              <a:gd name="T3" fmla="*/ 66 h 204"/>
              <a:gd name="T4" fmla="*/ 185 w 208"/>
              <a:gd name="T5" fmla="*/ 38 h 204"/>
              <a:gd name="T6" fmla="*/ 169 w 208"/>
              <a:gd name="T7" fmla="*/ 22 h 204"/>
              <a:gd name="T8" fmla="*/ 140 w 208"/>
              <a:gd name="T9" fmla="*/ 33 h 204"/>
              <a:gd name="T10" fmla="*/ 128 w 208"/>
              <a:gd name="T11" fmla="*/ 28 h 204"/>
              <a:gd name="T12" fmla="*/ 115 w 208"/>
              <a:gd name="T13" fmla="*/ 0 h 204"/>
              <a:gd name="T14" fmla="*/ 92 w 208"/>
              <a:gd name="T15" fmla="*/ 0 h 204"/>
              <a:gd name="T16" fmla="*/ 80 w 208"/>
              <a:gd name="T17" fmla="*/ 28 h 204"/>
              <a:gd name="T18" fmla="*/ 67 w 208"/>
              <a:gd name="T19" fmla="*/ 33 h 204"/>
              <a:gd name="T20" fmla="*/ 38 w 208"/>
              <a:gd name="T21" fmla="*/ 22 h 204"/>
              <a:gd name="T22" fmla="*/ 22 w 208"/>
              <a:gd name="T23" fmla="*/ 38 h 204"/>
              <a:gd name="T24" fmla="*/ 34 w 208"/>
              <a:gd name="T25" fmla="*/ 66 h 204"/>
              <a:gd name="T26" fmla="*/ 28 w 208"/>
              <a:gd name="T27" fmla="*/ 79 h 204"/>
              <a:gd name="T28" fmla="*/ 0 w 208"/>
              <a:gd name="T29" fmla="*/ 91 h 204"/>
              <a:gd name="T30" fmla="*/ 0 w 208"/>
              <a:gd name="T31" fmla="*/ 114 h 204"/>
              <a:gd name="T32" fmla="*/ 28 w 208"/>
              <a:gd name="T33" fmla="*/ 126 h 204"/>
              <a:gd name="T34" fmla="*/ 34 w 208"/>
              <a:gd name="T35" fmla="*/ 138 h 204"/>
              <a:gd name="T36" fmla="*/ 23 w 208"/>
              <a:gd name="T37" fmla="*/ 167 h 204"/>
              <a:gd name="T38" fmla="*/ 39 w 208"/>
              <a:gd name="T39" fmla="*/ 182 h 204"/>
              <a:gd name="T40" fmla="*/ 67 w 208"/>
              <a:gd name="T41" fmla="*/ 171 h 204"/>
              <a:gd name="T42" fmla="*/ 80 w 208"/>
              <a:gd name="T43" fmla="*/ 176 h 204"/>
              <a:gd name="T44" fmla="*/ 93 w 208"/>
              <a:gd name="T45" fmla="*/ 204 h 204"/>
              <a:gd name="T46" fmla="*/ 116 w 208"/>
              <a:gd name="T47" fmla="*/ 204 h 204"/>
              <a:gd name="T48" fmla="*/ 128 w 208"/>
              <a:gd name="T49" fmla="*/ 176 h 204"/>
              <a:gd name="T50" fmla="*/ 141 w 208"/>
              <a:gd name="T51" fmla="*/ 171 h 204"/>
              <a:gd name="T52" fmla="*/ 170 w 208"/>
              <a:gd name="T53" fmla="*/ 182 h 204"/>
              <a:gd name="T54" fmla="*/ 186 w 208"/>
              <a:gd name="T55" fmla="*/ 166 h 204"/>
              <a:gd name="T56" fmla="*/ 174 w 208"/>
              <a:gd name="T57" fmla="*/ 138 h 204"/>
              <a:gd name="T58" fmla="*/ 179 w 208"/>
              <a:gd name="T59" fmla="*/ 125 h 204"/>
              <a:gd name="T60" fmla="*/ 208 w 208"/>
              <a:gd name="T61" fmla="*/ 113 h 204"/>
              <a:gd name="T62" fmla="*/ 208 w 208"/>
              <a:gd name="T63" fmla="*/ 90 h 204"/>
              <a:gd name="T64" fmla="*/ 179 w 208"/>
              <a:gd name="T65" fmla="*/ 79 h 204"/>
              <a:gd name="T66" fmla="*/ 137 w 208"/>
              <a:gd name="T67" fmla="*/ 102 h 204"/>
              <a:gd name="T68" fmla="*/ 104 w 208"/>
              <a:gd name="T69" fmla="*/ 135 h 204"/>
              <a:gd name="T70" fmla="*/ 71 w 208"/>
              <a:gd name="T71" fmla="*/ 102 h 204"/>
              <a:gd name="T72" fmla="*/ 104 w 208"/>
              <a:gd name="T73" fmla="*/ 69 h 204"/>
              <a:gd name="T74" fmla="*/ 137 w 208"/>
              <a:gd name="T75" fmla="*/ 102 h 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08" h="204">
                <a:moveTo>
                  <a:pt x="179" y="79"/>
                </a:moveTo>
                <a:cubicBezTo>
                  <a:pt x="174" y="66"/>
                  <a:pt x="174" y="66"/>
                  <a:pt x="174" y="66"/>
                </a:cubicBezTo>
                <a:cubicBezTo>
                  <a:pt x="174" y="66"/>
                  <a:pt x="186" y="39"/>
                  <a:pt x="185" y="38"/>
                </a:cubicBezTo>
                <a:cubicBezTo>
                  <a:pt x="169" y="22"/>
                  <a:pt x="169" y="22"/>
                  <a:pt x="169" y="22"/>
                </a:cubicBezTo>
                <a:cubicBezTo>
                  <a:pt x="168" y="21"/>
                  <a:pt x="140" y="33"/>
                  <a:pt x="140" y="33"/>
                </a:cubicBezTo>
                <a:cubicBezTo>
                  <a:pt x="128" y="28"/>
                  <a:pt x="128" y="28"/>
                  <a:pt x="128" y="28"/>
                </a:cubicBezTo>
                <a:cubicBezTo>
                  <a:pt x="128" y="28"/>
                  <a:pt x="116" y="0"/>
                  <a:pt x="115" y="0"/>
                </a:cubicBezTo>
                <a:cubicBezTo>
                  <a:pt x="92" y="0"/>
                  <a:pt x="92" y="0"/>
                  <a:pt x="92" y="0"/>
                </a:cubicBezTo>
                <a:cubicBezTo>
                  <a:pt x="90" y="0"/>
                  <a:pt x="80" y="28"/>
                  <a:pt x="80" y="28"/>
                </a:cubicBezTo>
                <a:cubicBezTo>
                  <a:pt x="67" y="33"/>
                  <a:pt x="67" y="33"/>
                  <a:pt x="67" y="33"/>
                </a:cubicBezTo>
                <a:cubicBezTo>
                  <a:pt x="67" y="33"/>
                  <a:pt x="39" y="21"/>
                  <a:pt x="38" y="22"/>
                </a:cubicBezTo>
                <a:cubicBezTo>
                  <a:pt x="22" y="38"/>
                  <a:pt x="22" y="38"/>
                  <a:pt x="22" y="38"/>
                </a:cubicBezTo>
                <a:cubicBezTo>
                  <a:pt x="21" y="39"/>
                  <a:pt x="34" y="66"/>
                  <a:pt x="34" y="66"/>
                </a:cubicBezTo>
                <a:cubicBezTo>
                  <a:pt x="28" y="79"/>
                  <a:pt x="28" y="79"/>
                  <a:pt x="28" y="79"/>
                </a:cubicBezTo>
                <a:cubicBezTo>
                  <a:pt x="28" y="79"/>
                  <a:pt x="0" y="90"/>
                  <a:pt x="0" y="91"/>
                </a:cubicBezTo>
                <a:cubicBezTo>
                  <a:pt x="0" y="114"/>
                  <a:pt x="0" y="114"/>
                  <a:pt x="0" y="114"/>
                </a:cubicBezTo>
                <a:cubicBezTo>
                  <a:pt x="0" y="115"/>
                  <a:pt x="28" y="126"/>
                  <a:pt x="28" y="126"/>
                </a:cubicBezTo>
                <a:cubicBezTo>
                  <a:pt x="34" y="138"/>
                  <a:pt x="34" y="138"/>
                  <a:pt x="34" y="138"/>
                </a:cubicBezTo>
                <a:cubicBezTo>
                  <a:pt x="34" y="138"/>
                  <a:pt x="21" y="166"/>
                  <a:pt x="23" y="167"/>
                </a:cubicBezTo>
                <a:cubicBezTo>
                  <a:pt x="39" y="182"/>
                  <a:pt x="39" y="182"/>
                  <a:pt x="39" y="182"/>
                </a:cubicBezTo>
                <a:cubicBezTo>
                  <a:pt x="40" y="184"/>
                  <a:pt x="67" y="171"/>
                  <a:pt x="67" y="171"/>
                </a:cubicBezTo>
                <a:cubicBezTo>
                  <a:pt x="80" y="176"/>
                  <a:pt x="80" y="176"/>
                  <a:pt x="80" y="176"/>
                </a:cubicBezTo>
                <a:cubicBezTo>
                  <a:pt x="80" y="176"/>
                  <a:pt x="91" y="204"/>
                  <a:pt x="93" y="204"/>
                </a:cubicBezTo>
                <a:cubicBezTo>
                  <a:pt x="116" y="204"/>
                  <a:pt x="116" y="204"/>
                  <a:pt x="116" y="204"/>
                </a:cubicBezTo>
                <a:cubicBezTo>
                  <a:pt x="117" y="204"/>
                  <a:pt x="128" y="176"/>
                  <a:pt x="128" y="176"/>
                </a:cubicBezTo>
                <a:cubicBezTo>
                  <a:pt x="141" y="171"/>
                  <a:pt x="141" y="171"/>
                  <a:pt x="141" y="171"/>
                </a:cubicBezTo>
                <a:cubicBezTo>
                  <a:pt x="141" y="171"/>
                  <a:pt x="169" y="183"/>
                  <a:pt x="170" y="182"/>
                </a:cubicBezTo>
                <a:cubicBezTo>
                  <a:pt x="186" y="166"/>
                  <a:pt x="186" y="166"/>
                  <a:pt x="186" y="166"/>
                </a:cubicBezTo>
                <a:cubicBezTo>
                  <a:pt x="187" y="165"/>
                  <a:pt x="174" y="138"/>
                  <a:pt x="174" y="138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5"/>
                  <a:pt x="208" y="114"/>
                  <a:pt x="208" y="113"/>
                </a:cubicBezTo>
                <a:cubicBezTo>
                  <a:pt x="208" y="90"/>
                  <a:pt x="208" y="90"/>
                  <a:pt x="208" y="90"/>
                </a:cubicBezTo>
                <a:cubicBezTo>
                  <a:pt x="208" y="89"/>
                  <a:pt x="179" y="79"/>
                  <a:pt x="179" y="79"/>
                </a:cubicBezTo>
                <a:close/>
                <a:moveTo>
                  <a:pt x="137" y="102"/>
                </a:moveTo>
                <a:cubicBezTo>
                  <a:pt x="137" y="120"/>
                  <a:pt x="122" y="135"/>
                  <a:pt x="104" y="135"/>
                </a:cubicBezTo>
                <a:cubicBezTo>
                  <a:pt x="86" y="135"/>
                  <a:pt x="71" y="120"/>
                  <a:pt x="71" y="102"/>
                </a:cubicBezTo>
                <a:cubicBezTo>
                  <a:pt x="71" y="84"/>
                  <a:pt x="86" y="69"/>
                  <a:pt x="104" y="69"/>
                </a:cubicBezTo>
                <a:cubicBezTo>
                  <a:pt x="122" y="69"/>
                  <a:pt x="137" y="84"/>
                  <a:pt x="137" y="10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9F461FA7-1AFB-7D16-C509-9CECFF294029}"/>
              </a:ext>
            </a:extLst>
          </p:cNvPr>
          <p:cNvSpPr/>
          <p:nvPr/>
        </p:nvSpPr>
        <p:spPr>
          <a:xfrm>
            <a:off x="639069" y="3500578"/>
            <a:ext cx="676911" cy="676911"/>
          </a:xfrm>
          <a:prstGeom prst="ellipse">
            <a:avLst/>
          </a:prstGeom>
          <a:solidFill>
            <a:srgbClr val="5BB1E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0" name="Freeform 21">
            <a:extLst>
              <a:ext uri="{FF2B5EF4-FFF2-40B4-BE49-F238E27FC236}">
                <a16:creationId xmlns:a16="http://schemas.microsoft.com/office/drawing/2014/main" id="{9141E425-86AE-B10E-533A-FBDD82223B27}"/>
              </a:ext>
            </a:extLst>
          </p:cNvPr>
          <p:cNvSpPr>
            <a:spLocks noEditPoints="1"/>
          </p:cNvSpPr>
          <p:nvPr/>
        </p:nvSpPr>
        <p:spPr>
          <a:xfrm>
            <a:off x="787675" y="3650803"/>
            <a:ext cx="379697" cy="372835"/>
          </a:xfrm>
          <a:custGeom>
            <a:avLst/>
            <a:gdLst>
              <a:gd name="T0" fmla="*/ 179 w 208"/>
              <a:gd name="T1" fmla="*/ 79 h 204"/>
              <a:gd name="T2" fmla="*/ 174 w 208"/>
              <a:gd name="T3" fmla="*/ 66 h 204"/>
              <a:gd name="T4" fmla="*/ 185 w 208"/>
              <a:gd name="T5" fmla="*/ 38 h 204"/>
              <a:gd name="T6" fmla="*/ 169 w 208"/>
              <a:gd name="T7" fmla="*/ 22 h 204"/>
              <a:gd name="T8" fmla="*/ 140 w 208"/>
              <a:gd name="T9" fmla="*/ 33 h 204"/>
              <a:gd name="T10" fmla="*/ 128 w 208"/>
              <a:gd name="T11" fmla="*/ 28 h 204"/>
              <a:gd name="T12" fmla="*/ 115 w 208"/>
              <a:gd name="T13" fmla="*/ 0 h 204"/>
              <a:gd name="T14" fmla="*/ 92 w 208"/>
              <a:gd name="T15" fmla="*/ 0 h 204"/>
              <a:gd name="T16" fmla="*/ 80 w 208"/>
              <a:gd name="T17" fmla="*/ 28 h 204"/>
              <a:gd name="T18" fmla="*/ 67 w 208"/>
              <a:gd name="T19" fmla="*/ 33 h 204"/>
              <a:gd name="T20" fmla="*/ 38 w 208"/>
              <a:gd name="T21" fmla="*/ 22 h 204"/>
              <a:gd name="T22" fmla="*/ 22 w 208"/>
              <a:gd name="T23" fmla="*/ 38 h 204"/>
              <a:gd name="T24" fmla="*/ 34 w 208"/>
              <a:gd name="T25" fmla="*/ 66 h 204"/>
              <a:gd name="T26" fmla="*/ 28 w 208"/>
              <a:gd name="T27" fmla="*/ 79 h 204"/>
              <a:gd name="T28" fmla="*/ 0 w 208"/>
              <a:gd name="T29" fmla="*/ 91 h 204"/>
              <a:gd name="T30" fmla="*/ 0 w 208"/>
              <a:gd name="T31" fmla="*/ 114 h 204"/>
              <a:gd name="T32" fmla="*/ 28 w 208"/>
              <a:gd name="T33" fmla="*/ 126 h 204"/>
              <a:gd name="T34" fmla="*/ 34 w 208"/>
              <a:gd name="T35" fmla="*/ 138 h 204"/>
              <a:gd name="T36" fmla="*/ 23 w 208"/>
              <a:gd name="T37" fmla="*/ 167 h 204"/>
              <a:gd name="T38" fmla="*/ 39 w 208"/>
              <a:gd name="T39" fmla="*/ 182 h 204"/>
              <a:gd name="T40" fmla="*/ 67 w 208"/>
              <a:gd name="T41" fmla="*/ 171 h 204"/>
              <a:gd name="T42" fmla="*/ 80 w 208"/>
              <a:gd name="T43" fmla="*/ 176 h 204"/>
              <a:gd name="T44" fmla="*/ 93 w 208"/>
              <a:gd name="T45" fmla="*/ 204 h 204"/>
              <a:gd name="T46" fmla="*/ 116 w 208"/>
              <a:gd name="T47" fmla="*/ 204 h 204"/>
              <a:gd name="T48" fmla="*/ 128 w 208"/>
              <a:gd name="T49" fmla="*/ 176 h 204"/>
              <a:gd name="T50" fmla="*/ 141 w 208"/>
              <a:gd name="T51" fmla="*/ 171 h 204"/>
              <a:gd name="T52" fmla="*/ 170 w 208"/>
              <a:gd name="T53" fmla="*/ 182 h 204"/>
              <a:gd name="T54" fmla="*/ 186 w 208"/>
              <a:gd name="T55" fmla="*/ 166 h 204"/>
              <a:gd name="T56" fmla="*/ 174 w 208"/>
              <a:gd name="T57" fmla="*/ 138 h 204"/>
              <a:gd name="T58" fmla="*/ 179 w 208"/>
              <a:gd name="T59" fmla="*/ 125 h 204"/>
              <a:gd name="T60" fmla="*/ 208 w 208"/>
              <a:gd name="T61" fmla="*/ 113 h 204"/>
              <a:gd name="T62" fmla="*/ 208 w 208"/>
              <a:gd name="T63" fmla="*/ 90 h 204"/>
              <a:gd name="T64" fmla="*/ 179 w 208"/>
              <a:gd name="T65" fmla="*/ 79 h 204"/>
              <a:gd name="T66" fmla="*/ 137 w 208"/>
              <a:gd name="T67" fmla="*/ 102 h 204"/>
              <a:gd name="T68" fmla="*/ 104 w 208"/>
              <a:gd name="T69" fmla="*/ 135 h 204"/>
              <a:gd name="T70" fmla="*/ 71 w 208"/>
              <a:gd name="T71" fmla="*/ 102 h 204"/>
              <a:gd name="T72" fmla="*/ 104 w 208"/>
              <a:gd name="T73" fmla="*/ 69 h 204"/>
              <a:gd name="T74" fmla="*/ 137 w 208"/>
              <a:gd name="T75" fmla="*/ 102 h 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08" h="204">
                <a:moveTo>
                  <a:pt x="179" y="79"/>
                </a:moveTo>
                <a:cubicBezTo>
                  <a:pt x="174" y="66"/>
                  <a:pt x="174" y="66"/>
                  <a:pt x="174" y="66"/>
                </a:cubicBezTo>
                <a:cubicBezTo>
                  <a:pt x="174" y="66"/>
                  <a:pt x="186" y="39"/>
                  <a:pt x="185" y="38"/>
                </a:cubicBezTo>
                <a:cubicBezTo>
                  <a:pt x="169" y="22"/>
                  <a:pt x="169" y="22"/>
                  <a:pt x="169" y="22"/>
                </a:cubicBezTo>
                <a:cubicBezTo>
                  <a:pt x="168" y="21"/>
                  <a:pt x="140" y="33"/>
                  <a:pt x="140" y="33"/>
                </a:cubicBezTo>
                <a:cubicBezTo>
                  <a:pt x="128" y="28"/>
                  <a:pt x="128" y="28"/>
                  <a:pt x="128" y="28"/>
                </a:cubicBezTo>
                <a:cubicBezTo>
                  <a:pt x="128" y="28"/>
                  <a:pt x="116" y="0"/>
                  <a:pt x="115" y="0"/>
                </a:cubicBezTo>
                <a:cubicBezTo>
                  <a:pt x="92" y="0"/>
                  <a:pt x="92" y="0"/>
                  <a:pt x="92" y="0"/>
                </a:cubicBezTo>
                <a:cubicBezTo>
                  <a:pt x="90" y="0"/>
                  <a:pt x="80" y="28"/>
                  <a:pt x="80" y="28"/>
                </a:cubicBezTo>
                <a:cubicBezTo>
                  <a:pt x="67" y="33"/>
                  <a:pt x="67" y="33"/>
                  <a:pt x="67" y="33"/>
                </a:cubicBezTo>
                <a:cubicBezTo>
                  <a:pt x="67" y="33"/>
                  <a:pt x="39" y="21"/>
                  <a:pt x="38" y="22"/>
                </a:cubicBezTo>
                <a:cubicBezTo>
                  <a:pt x="22" y="38"/>
                  <a:pt x="22" y="38"/>
                  <a:pt x="22" y="38"/>
                </a:cubicBezTo>
                <a:cubicBezTo>
                  <a:pt x="21" y="39"/>
                  <a:pt x="34" y="66"/>
                  <a:pt x="34" y="66"/>
                </a:cubicBezTo>
                <a:cubicBezTo>
                  <a:pt x="28" y="79"/>
                  <a:pt x="28" y="79"/>
                  <a:pt x="28" y="79"/>
                </a:cubicBezTo>
                <a:cubicBezTo>
                  <a:pt x="28" y="79"/>
                  <a:pt x="0" y="90"/>
                  <a:pt x="0" y="91"/>
                </a:cubicBezTo>
                <a:cubicBezTo>
                  <a:pt x="0" y="114"/>
                  <a:pt x="0" y="114"/>
                  <a:pt x="0" y="114"/>
                </a:cubicBezTo>
                <a:cubicBezTo>
                  <a:pt x="0" y="115"/>
                  <a:pt x="28" y="126"/>
                  <a:pt x="28" y="126"/>
                </a:cubicBezTo>
                <a:cubicBezTo>
                  <a:pt x="34" y="138"/>
                  <a:pt x="34" y="138"/>
                  <a:pt x="34" y="138"/>
                </a:cubicBezTo>
                <a:cubicBezTo>
                  <a:pt x="34" y="138"/>
                  <a:pt x="21" y="166"/>
                  <a:pt x="23" y="167"/>
                </a:cubicBezTo>
                <a:cubicBezTo>
                  <a:pt x="39" y="182"/>
                  <a:pt x="39" y="182"/>
                  <a:pt x="39" y="182"/>
                </a:cubicBezTo>
                <a:cubicBezTo>
                  <a:pt x="40" y="184"/>
                  <a:pt x="67" y="171"/>
                  <a:pt x="67" y="171"/>
                </a:cubicBezTo>
                <a:cubicBezTo>
                  <a:pt x="80" y="176"/>
                  <a:pt x="80" y="176"/>
                  <a:pt x="80" y="176"/>
                </a:cubicBezTo>
                <a:cubicBezTo>
                  <a:pt x="80" y="176"/>
                  <a:pt x="91" y="204"/>
                  <a:pt x="93" y="204"/>
                </a:cubicBezTo>
                <a:cubicBezTo>
                  <a:pt x="116" y="204"/>
                  <a:pt x="116" y="204"/>
                  <a:pt x="116" y="204"/>
                </a:cubicBezTo>
                <a:cubicBezTo>
                  <a:pt x="117" y="204"/>
                  <a:pt x="128" y="176"/>
                  <a:pt x="128" y="176"/>
                </a:cubicBezTo>
                <a:cubicBezTo>
                  <a:pt x="141" y="171"/>
                  <a:pt x="141" y="171"/>
                  <a:pt x="141" y="171"/>
                </a:cubicBezTo>
                <a:cubicBezTo>
                  <a:pt x="141" y="171"/>
                  <a:pt x="169" y="183"/>
                  <a:pt x="170" y="182"/>
                </a:cubicBezTo>
                <a:cubicBezTo>
                  <a:pt x="186" y="166"/>
                  <a:pt x="186" y="166"/>
                  <a:pt x="186" y="166"/>
                </a:cubicBezTo>
                <a:cubicBezTo>
                  <a:pt x="187" y="165"/>
                  <a:pt x="174" y="138"/>
                  <a:pt x="174" y="138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5"/>
                  <a:pt x="208" y="114"/>
                  <a:pt x="208" y="113"/>
                </a:cubicBezTo>
                <a:cubicBezTo>
                  <a:pt x="208" y="90"/>
                  <a:pt x="208" y="90"/>
                  <a:pt x="208" y="90"/>
                </a:cubicBezTo>
                <a:cubicBezTo>
                  <a:pt x="208" y="89"/>
                  <a:pt x="179" y="79"/>
                  <a:pt x="179" y="79"/>
                </a:cubicBezTo>
                <a:close/>
                <a:moveTo>
                  <a:pt x="137" y="102"/>
                </a:moveTo>
                <a:cubicBezTo>
                  <a:pt x="137" y="120"/>
                  <a:pt x="122" y="135"/>
                  <a:pt x="104" y="135"/>
                </a:cubicBezTo>
                <a:cubicBezTo>
                  <a:pt x="86" y="135"/>
                  <a:pt x="71" y="120"/>
                  <a:pt x="71" y="102"/>
                </a:cubicBezTo>
                <a:cubicBezTo>
                  <a:pt x="71" y="84"/>
                  <a:pt x="86" y="69"/>
                  <a:pt x="104" y="69"/>
                </a:cubicBezTo>
                <a:cubicBezTo>
                  <a:pt x="122" y="69"/>
                  <a:pt x="137" y="84"/>
                  <a:pt x="137" y="10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6EE12BB4-C6F3-0173-1E95-C11F420065F2}"/>
              </a:ext>
            </a:extLst>
          </p:cNvPr>
          <p:cNvSpPr/>
          <p:nvPr/>
        </p:nvSpPr>
        <p:spPr>
          <a:xfrm>
            <a:off x="4800543" y="3501459"/>
            <a:ext cx="676911" cy="676911"/>
          </a:xfrm>
          <a:prstGeom prst="ellipse">
            <a:avLst/>
          </a:prstGeom>
          <a:solidFill>
            <a:srgbClr val="5BB1E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0E19C986-DFAE-B07D-B5DA-CB6706A8D64D}"/>
              </a:ext>
            </a:extLst>
          </p:cNvPr>
          <p:cNvSpPr>
            <a:spLocks noEditPoints="1"/>
          </p:cNvSpPr>
          <p:nvPr/>
        </p:nvSpPr>
        <p:spPr>
          <a:xfrm>
            <a:off x="4949149" y="3651684"/>
            <a:ext cx="379697" cy="372835"/>
          </a:xfrm>
          <a:custGeom>
            <a:avLst/>
            <a:gdLst>
              <a:gd name="T0" fmla="*/ 179 w 208"/>
              <a:gd name="T1" fmla="*/ 79 h 204"/>
              <a:gd name="T2" fmla="*/ 174 w 208"/>
              <a:gd name="T3" fmla="*/ 66 h 204"/>
              <a:gd name="T4" fmla="*/ 185 w 208"/>
              <a:gd name="T5" fmla="*/ 38 h 204"/>
              <a:gd name="T6" fmla="*/ 169 w 208"/>
              <a:gd name="T7" fmla="*/ 22 h 204"/>
              <a:gd name="T8" fmla="*/ 140 w 208"/>
              <a:gd name="T9" fmla="*/ 33 h 204"/>
              <a:gd name="T10" fmla="*/ 128 w 208"/>
              <a:gd name="T11" fmla="*/ 28 h 204"/>
              <a:gd name="T12" fmla="*/ 115 w 208"/>
              <a:gd name="T13" fmla="*/ 0 h 204"/>
              <a:gd name="T14" fmla="*/ 92 w 208"/>
              <a:gd name="T15" fmla="*/ 0 h 204"/>
              <a:gd name="T16" fmla="*/ 80 w 208"/>
              <a:gd name="T17" fmla="*/ 28 h 204"/>
              <a:gd name="T18" fmla="*/ 67 w 208"/>
              <a:gd name="T19" fmla="*/ 33 h 204"/>
              <a:gd name="T20" fmla="*/ 38 w 208"/>
              <a:gd name="T21" fmla="*/ 22 h 204"/>
              <a:gd name="T22" fmla="*/ 22 w 208"/>
              <a:gd name="T23" fmla="*/ 38 h 204"/>
              <a:gd name="T24" fmla="*/ 34 w 208"/>
              <a:gd name="T25" fmla="*/ 66 h 204"/>
              <a:gd name="T26" fmla="*/ 28 w 208"/>
              <a:gd name="T27" fmla="*/ 79 h 204"/>
              <a:gd name="T28" fmla="*/ 0 w 208"/>
              <a:gd name="T29" fmla="*/ 91 h 204"/>
              <a:gd name="T30" fmla="*/ 0 w 208"/>
              <a:gd name="T31" fmla="*/ 114 h 204"/>
              <a:gd name="T32" fmla="*/ 28 w 208"/>
              <a:gd name="T33" fmla="*/ 126 h 204"/>
              <a:gd name="T34" fmla="*/ 34 w 208"/>
              <a:gd name="T35" fmla="*/ 138 h 204"/>
              <a:gd name="T36" fmla="*/ 23 w 208"/>
              <a:gd name="T37" fmla="*/ 167 h 204"/>
              <a:gd name="T38" fmla="*/ 39 w 208"/>
              <a:gd name="T39" fmla="*/ 182 h 204"/>
              <a:gd name="T40" fmla="*/ 67 w 208"/>
              <a:gd name="T41" fmla="*/ 171 h 204"/>
              <a:gd name="T42" fmla="*/ 80 w 208"/>
              <a:gd name="T43" fmla="*/ 176 h 204"/>
              <a:gd name="T44" fmla="*/ 93 w 208"/>
              <a:gd name="T45" fmla="*/ 204 h 204"/>
              <a:gd name="T46" fmla="*/ 116 w 208"/>
              <a:gd name="T47" fmla="*/ 204 h 204"/>
              <a:gd name="T48" fmla="*/ 128 w 208"/>
              <a:gd name="T49" fmla="*/ 176 h 204"/>
              <a:gd name="T50" fmla="*/ 141 w 208"/>
              <a:gd name="T51" fmla="*/ 171 h 204"/>
              <a:gd name="T52" fmla="*/ 170 w 208"/>
              <a:gd name="T53" fmla="*/ 182 h 204"/>
              <a:gd name="T54" fmla="*/ 186 w 208"/>
              <a:gd name="T55" fmla="*/ 166 h 204"/>
              <a:gd name="T56" fmla="*/ 174 w 208"/>
              <a:gd name="T57" fmla="*/ 138 h 204"/>
              <a:gd name="T58" fmla="*/ 179 w 208"/>
              <a:gd name="T59" fmla="*/ 125 h 204"/>
              <a:gd name="T60" fmla="*/ 208 w 208"/>
              <a:gd name="T61" fmla="*/ 113 h 204"/>
              <a:gd name="T62" fmla="*/ 208 w 208"/>
              <a:gd name="T63" fmla="*/ 90 h 204"/>
              <a:gd name="T64" fmla="*/ 179 w 208"/>
              <a:gd name="T65" fmla="*/ 79 h 204"/>
              <a:gd name="T66" fmla="*/ 137 w 208"/>
              <a:gd name="T67" fmla="*/ 102 h 204"/>
              <a:gd name="T68" fmla="*/ 104 w 208"/>
              <a:gd name="T69" fmla="*/ 135 h 204"/>
              <a:gd name="T70" fmla="*/ 71 w 208"/>
              <a:gd name="T71" fmla="*/ 102 h 204"/>
              <a:gd name="T72" fmla="*/ 104 w 208"/>
              <a:gd name="T73" fmla="*/ 69 h 204"/>
              <a:gd name="T74" fmla="*/ 137 w 208"/>
              <a:gd name="T75" fmla="*/ 102 h 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08" h="204">
                <a:moveTo>
                  <a:pt x="179" y="79"/>
                </a:moveTo>
                <a:cubicBezTo>
                  <a:pt x="174" y="66"/>
                  <a:pt x="174" y="66"/>
                  <a:pt x="174" y="66"/>
                </a:cubicBezTo>
                <a:cubicBezTo>
                  <a:pt x="174" y="66"/>
                  <a:pt x="186" y="39"/>
                  <a:pt x="185" y="38"/>
                </a:cubicBezTo>
                <a:cubicBezTo>
                  <a:pt x="169" y="22"/>
                  <a:pt x="169" y="22"/>
                  <a:pt x="169" y="22"/>
                </a:cubicBezTo>
                <a:cubicBezTo>
                  <a:pt x="168" y="21"/>
                  <a:pt x="140" y="33"/>
                  <a:pt x="140" y="33"/>
                </a:cubicBezTo>
                <a:cubicBezTo>
                  <a:pt x="128" y="28"/>
                  <a:pt x="128" y="28"/>
                  <a:pt x="128" y="28"/>
                </a:cubicBezTo>
                <a:cubicBezTo>
                  <a:pt x="128" y="28"/>
                  <a:pt x="116" y="0"/>
                  <a:pt x="115" y="0"/>
                </a:cubicBezTo>
                <a:cubicBezTo>
                  <a:pt x="92" y="0"/>
                  <a:pt x="92" y="0"/>
                  <a:pt x="92" y="0"/>
                </a:cubicBezTo>
                <a:cubicBezTo>
                  <a:pt x="90" y="0"/>
                  <a:pt x="80" y="28"/>
                  <a:pt x="80" y="28"/>
                </a:cubicBezTo>
                <a:cubicBezTo>
                  <a:pt x="67" y="33"/>
                  <a:pt x="67" y="33"/>
                  <a:pt x="67" y="33"/>
                </a:cubicBezTo>
                <a:cubicBezTo>
                  <a:pt x="67" y="33"/>
                  <a:pt x="39" y="21"/>
                  <a:pt x="38" y="22"/>
                </a:cubicBezTo>
                <a:cubicBezTo>
                  <a:pt x="22" y="38"/>
                  <a:pt x="22" y="38"/>
                  <a:pt x="22" y="38"/>
                </a:cubicBezTo>
                <a:cubicBezTo>
                  <a:pt x="21" y="39"/>
                  <a:pt x="34" y="66"/>
                  <a:pt x="34" y="66"/>
                </a:cubicBezTo>
                <a:cubicBezTo>
                  <a:pt x="28" y="79"/>
                  <a:pt x="28" y="79"/>
                  <a:pt x="28" y="79"/>
                </a:cubicBezTo>
                <a:cubicBezTo>
                  <a:pt x="28" y="79"/>
                  <a:pt x="0" y="90"/>
                  <a:pt x="0" y="91"/>
                </a:cubicBezTo>
                <a:cubicBezTo>
                  <a:pt x="0" y="114"/>
                  <a:pt x="0" y="114"/>
                  <a:pt x="0" y="114"/>
                </a:cubicBezTo>
                <a:cubicBezTo>
                  <a:pt x="0" y="115"/>
                  <a:pt x="28" y="126"/>
                  <a:pt x="28" y="126"/>
                </a:cubicBezTo>
                <a:cubicBezTo>
                  <a:pt x="34" y="138"/>
                  <a:pt x="34" y="138"/>
                  <a:pt x="34" y="138"/>
                </a:cubicBezTo>
                <a:cubicBezTo>
                  <a:pt x="34" y="138"/>
                  <a:pt x="21" y="166"/>
                  <a:pt x="23" y="167"/>
                </a:cubicBezTo>
                <a:cubicBezTo>
                  <a:pt x="39" y="182"/>
                  <a:pt x="39" y="182"/>
                  <a:pt x="39" y="182"/>
                </a:cubicBezTo>
                <a:cubicBezTo>
                  <a:pt x="40" y="184"/>
                  <a:pt x="67" y="171"/>
                  <a:pt x="67" y="171"/>
                </a:cubicBezTo>
                <a:cubicBezTo>
                  <a:pt x="80" y="176"/>
                  <a:pt x="80" y="176"/>
                  <a:pt x="80" y="176"/>
                </a:cubicBezTo>
                <a:cubicBezTo>
                  <a:pt x="80" y="176"/>
                  <a:pt x="91" y="204"/>
                  <a:pt x="93" y="204"/>
                </a:cubicBezTo>
                <a:cubicBezTo>
                  <a:pt x="116" y="204"/>
                  <a:pt x="116" y="204"/>
                  <a:pt x="116" y="204"/>
                </a:cubicBezTo>
                <a:cubicBezTo>
                  <a:pt x="117" y="204"/>
                  <a:pt x="128" y="176"/>
                  <a:pt x="128" y="176"/>
                </a:cubicBezTo>
                <a:cubicBezTo>
                  <a:pt x="141" y="171"/>
                  <a:pt x="141" y="171"/>
                  <a:pt x="141" y="171"/>
                </a:cubicBezTo>
                <a:cubicBezTo>
                  <a:pt x="141" y="171"/>
                  <a:pt x="169" y="183"/>
                  <a:pt x="170" y="182"/>
                </a:cubicBezTo>
                <a:cubicBezTo>
                  <a:pt x="186" y="166"/>
                  <a:pt x="186" y="166"/>
                  <a:pt x="186" y="166"/>
                </a:cubicBezTo>
                <a:cubicBezTo>
                  <a:pt x="187" y="165"/>
                  <a:pt x="174" y="138"/>
                  <a:pt x="174" y="138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5"/>
                  <a:pt x="208" y="114"/>
                  <a:pt x="208" y="113"/>
                </a:cubicBezTo>
                <a:cubicBezTo>
                  <a:pt x="208" y="90"/>
                  <a:pt x="208" y="90"/>
                  <a:pt x="208" y="90"/>
                </a:cubicBezTo>
                <a:cubicBezTo>
                  <a:pt x="208" y="89"/>
                  <a:pt x="179" y="79"/>
                  <a:pt x="179" y="79"/>
                </a:cubicBezTo>
                <a:close/>
                <a:moveTo>
                  <a:pt x="137" y="102"/>
                </a:moveTo>
                <a:cubicBezTo>
                  <a:pt x="137" y="120"/>
                  <a:pt x="122" y="135"/>
                  <a:pt x="104" y="135"/>
                </a:cubicBezTo>
                <a:cubicBezTo>
                  <a:pt x="86" y="135"/>
                  <a:pt x="71" y="120"/>
                  <a:pt x="71" y="102"/>
                </a:cubicBezTo>
                <a:cubicBezTo>
                  <a:pt x="71" y="84"/>
                  <a:pt x="86" y="69"/>
                  <a:pt x="104" y="69"/>
                </a:cubicBezTo>
                <a:cubicBezTo>
                  <a:pt x="122" y="69"/>
                  <a:pt x="137" y="84"/>
                  <a:pt x="137" y="10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63" y="2349466"/>
            <a:ext cx="4762500" cy="1333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数据湖与数仓的融合趋势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2625892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010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13315" r="13315"/>
          <a:stretch/>
        </p:blipFill>
        <p:spPr>
          <a:xfrm>
            <a:off x="0" y="5080"/>
            <a:ext cx="9144000" cy="7010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4038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湖仓一体架构的优势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40386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0050" y="1162050"/>
            <a:ext cx="4105275" cy="14097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800225" y="1369219"/>
            <a:ext cx="25050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统一数据视图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1800225" y="1659731"/>
            <a:ext cx="2505075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湖仓一体架构通过集成对象存储，实现结构化与非结构化数据的统一存储，简化数据管理，提供全面的数据访问视角。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674870" y="1162050"/>
            <a:ext cx="4105275" cy="14097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75045" y="1369219"/>
            <a:ext cx="25050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增强数据治理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6075045" y="1659731"/>
            <a:ext cx="2505075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引入元数据层，如Delta Lake或Iceberg，加强数据一致性与事务控制，提升数据质量，满足企业级数据治理需求。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0050" y="2800350"/>
            <a:ext cx="4105275" cy="14097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800225" y="3007519"/>
            <a:ext cx="25050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多引擎支持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1800225" y="3298031"/>
            <a:ext cx="2505075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兼容Spark、Flink、Presto等多种计算引擎，灵活应对批处理、流计算及交互式查询，加速数据洞察与业务决策。</a:t>
            </a:r>
            <a:endParaRPr lang="en-US" sz="10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638675" y="2778919"/>
            <a:ext cx="4105275" cy="14097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038850" y="2986088"/>
            <a:ext cx="25050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成本效益</a:t>
            </a:r>
            <a:endParaRPr lang="en-US" sz="1400" dirty="0"/>
          </a:p>
        </p:txBody>
      </p:sp>
      <p:sp>
        <p:nvSpPr>
          <p:cNvPr id="18" name="Text 10"/>
          <p:cNvSpPr/>
          <p:nvPr/>
        </p:nvSpPr>
        <p:spPr>
          <a:xfrm>
            <a:off x="6038850" y="3276600"/>
            <a:ext cx="2505075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基于低成本对象存储，减少数据冗余，优化存储成本；存算分离架构支持弹性伸缩，降低计算资源浪费，提高整体效率。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542925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湖仓一体的持续演进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0050" y="1564640"/>
            <a:ext cx="2781151" cy="2793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445543"/>
            <a:ext cx="2076301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统一数据治理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52474" y="2869406"/>
            <a:ext cx="2076301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湖仓一体架构促进数据治理标准化，简化数据访问与管理，实现跨结构化与非结构化数据的无缝集成</a:t>
            </a: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181201" y="1564640"/>
            <a:ext cx="2781151" cy="27930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33625" y="2468562"/>
            <a:ext cx="2076301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增强分析能力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3581251" y="2958147"/>
            <a:ext cx="2076301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通过集成高级分析工具与AI算法，湖仓一体架构提升数据洞察速度与精度，赋能业务决策。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62352" y="1564640"/>
            <a:ext cx="2781151" cy="279304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14777" y="2468086"/>
            <a:ext cx="2076301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自动化与智能化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6314777" y="2854325"/>
            <a:ext cx="2076301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自动化数据管道与智能元数据管理，减少人工干预，加速数据湖与数据仓库的融合进程。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014538"/>
            <a:ext cx="80010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3014663"/>
            <a:ext cx="604838" cy="1143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</TotalTime>
  <Words>964</Words>
  <Application>Microsoft Office PowerPoint</Application>
  <PresentationFormat>全屏显示(16:9)</PresentationFormat>
  <Paragraphs>165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5" baseType="lpstr">
      <vt:lpstr>Microsoft YaHei</vt:lpstr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beijiamiao@gmail.com</cp:lastModifiedBy>
  <cp:revision>9</cp:revision>
  <dcterms:created xsi:type="dcterms:W3CDTF">2025-04-27T12:55:41Z</dcterms:created>
  <dcterms:modified xsi:type="dcterms:W3CDTF">2025-05-05T14:16:39Z</dcterms:modified>
</cp:coreProperties>
</file>